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8"/>
  </p:notesMasterIdLst>
  <p:sldIdLst>
    <p:sldId id="314" r:id="rId4"/>
    <p:sldId id="329" r:id="rId5"/>
    <p:sldId id="330" r:id="rId6"/>
    <p:sldId id="364" r:id="rId74"/>
    <p:sldId id="365" r:id="rId75"/>
    <p:sldId id="366" r:id="rId76"/>
    <p:sldId id="367" r:id="rId77"/>
    <p:sldId id="368" r:id="rId78"/>
    <p:sldId id="369" r:id="rId79"/>
    <p:sldId id="363" r:id="rId7"/>
  </p:sldIdLst>
  <p:sldSz cx="12192000" cy="6858000"/>
  <p:notesSz cx="6858000" cy="9144000"/>
  <p:embeddedFontLst>
    <p:embeddedFont>
      <p:font typeface="Inter Tight" panose="020B0604020202020204" charset="0"/>
      <p:regular r:id="rId9"/>
      <p:bold r:id="rId10"/>
      <p:italic r:id="rId11"/>
      <p:boldItalic r:id="rId12"/>
    </p:embeddedFont>
    <p:embeddedFont>
      <p:font typeface="Inter Tigh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font" Target="fonts/font4.fntdata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69" Type="http://customschemas.google.com/relationships/presentationmetadata" Target="metadata"/><Relationship Id="rId74" Type="http://schemas.openxmlformats.org/officeDocument/2006/relationships/slide" Target="slides/slide5.xml"/><Relationship Id="rId75" Type="http://schemas.openxmlformats.org/officeDocument/2006/relationships/slide" Target="slides/slide6.xml"/><Relationship Id="rId76" Type="http://schemas.openxmlformats.org/officeDocument/2006/relationships/slide" Target="slides/slide7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 xml:space="preserve"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 Thesis Kick-off: Evaluating the Open-Source Market Model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 xml:space="preserve"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14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Thesis Plan &amp; Approach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Background &amp; Objective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need: </a:t>
            </a:r>
            <a:r>
              <a:rPr lang="en-US" sz="1600" dirty="0"/>
              <a:t xml:space="preserve">the department’s Thuringia energy model requires hourly wholesale electricity price time series (8,760 prices/year, German bidding zone).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Status quo: </a:t>
            </a:r>
            <a:r>
              <a:rPr lang="en-US" sz="1600" dirty="0"/>
              <a:t xml:space="preserve">these series are purchased from Energy Brainpool (Power2Sim scenario data).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candidate: </a:t>
            </a:r>
            <a:r>
              <a:rPr lang="en-US" sz="1600" dirty="0"/>
              <a:t xml:space="preserve">AMIRIS – DLR’s open-source, agent-based electricity market model – generates the same kind of hourly price series at no cost.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Thesis objective: </a:t>
            </a:r>
            <a:r>
              <a:rPr lang="en-US" sz="1600" dirty="0"/>
              <a:t xml:space="preserve">understand AMIRIS in depth (inputs, internal process, outputs) and evaluate whether its output can credibly substitute the purchased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Research question: </a:t>
            </a:r>
            <a:r>
              <a:rPr lang="en-US" sz="1600" dirty="0"/>
              <a:t xml:space="preserve">To what extent can AMIRIS reproduce German day-ahead price time series, and how does its accuracy compare with the commercially procured scenarios?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Next Steps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6" y="1873722"/>
            <a:ext cx="83672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 xml:space="preserve">Requested today:  </a:t>
            </a:r>
            <a:r>
              <a:rPr lang="en-US" sz="1600" dirty="0"/>
              <a:t>sign-off on the scoped plan, choice of comparison year, and access to the Brainpool deliverables.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Starting immediately:  </a:t>
            </a:r>
            <a:r>
              <a:rPr lang="en-US" sz="1600" dirty="0"/>
              <a:t>toolchain setup and reproduction of the Germany2019 baseline (Weeks 1–2).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Proposed cadence:  </a:t>
            </a:r>
            <a:r>
              <a:rPr lang="en-US" sz="1600" dirty="0"/>
              <a:t>short bi-weekly progress check-ins; model description chapter as first written deliverable (end of Week 4).</a:t>
            </a:r>
          </a:p>
        </p:txBody>
      </p: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AMIRIS in a Nutshell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Inputs (per year): </a:t>
            </a:r>
            <a:r>
              <a:rPr lang="en-US" sz="1600" dirty="0"/>
              <a:t xml:space="preserve">hourly load, renewable feed-in profiles, power plant fleet (capacities, efficiencies, availabilities), fuel and CO2 prices, policy instruments.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Process: </a:t>
            </a:r>
            <a:r>
              <a:rPr lang="en-US" sz="1600" dirty="0"/>
              <a:t xml:space="preserve">prototypical agents (plant operators, traders, storage, demand, exchange) bid into a simulated day-ahead auction; hourly merit-order clearing sets the price.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Outputs: </a:t>
            </a:r>
            <a:r>
              <a:rPr lang="en-US" sz="1600" dirty="0"/>
              <a:t xml:space="preserve">hourly electricity prices, dispatch, technology market values, emissions, system costs.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Toolchain: </a:t>
            </a:r>
            <a:r>
              <a:rPr lang="en-US" sz="1600" dirty="0"/>
              <a:t xml:space="preserve">Java/FAME engine configured via scenario.yaml, driven from Python (amirispy); one model year runs in under a minute.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Head start: </a:t>
            </a:r>
            <a:r>
              <a:rPr lang="en-US" sz="1600" dirty="0"/>
              <a:t xml:space="preserve">a complete Germany2019 example ships with the model; DLR backtests reproduce the 2019 mean price closely (39.20 vs. 38.70 EUR/MWh).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Methodology: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1 – Backtesting: </a:t>
            </a:r>
            <a:r>
              <a:rPr lang="en-US" sz="1600" dirty="0"/>
              <a:t xml:space="preserve">AMIRIS vs. real EPEX/SMARD prices for historical years. Establishes whether the model is trustworthy; follows DLR’s published backtesting approach.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2 – Benchmarking: </a:t>
            </a:r>
            <a:r>
              <a:rPr lang="en-US" sz="1600" dirty="0"/>
              <a:t xml:space="preserve">AMIRIS vs. Energy Brainpool for a year covered by the department’s data – plus actual prices where the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Metrics: </a:t>
            </a:r>
            <a:r>
              <a:rPr lang="en-US" sz="1600" dirty="0"/>
              <a:t xml:space="preserve">annual/monthly mean price, MAE, RMSE, correlation, price duration curves, daily and seasonal profiles, wind and PV capture prices, extreme hours (peaks, negative prices).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Key principle: </a:t>
            </a:r>
            <a:r>
              <a:rPr lang="en-US" sz="1600" dirty="0"/>
              <a:t xml:space="preserve">both models compute conditional scenarios, not forecasts – the comparison targets price structure under given assumptions.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Data &amp; Tools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SMARD.de / ENTSO-E Transparency: </a:t>
            </a:r>
            <a:r>
              <a:rPr lang="en-US" sz="1600" dirty="0"/>
              <a:t xml:space="preserve">real historical prices, load and feed-in data (free, official).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AMIRIS repository + amirispy: </a:t>
            </a:r>
            <a:r>
              <a:rPr lang="en-US" sz="1600" dirty="0"/>
              <a:t xml:space="preserve">model code, Germany2019 example, documentation and wiki.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Energy Brainpool deliverables: </a:t>
            </a:r>
            <a:r>
              <a:rPr lang="en-US" sz="1600" dirty="0"/>
              <a:t xml:space="preserve">the department’s purchased benchmark series (specification to be confirmed).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Python / pandas: </a:t>
            </a:r>
            <a:r>
              <a:rPr lang="en-US" sz="1600" dirty="0"/>
              <a:t xml:space="preserve">one reusable comparison script (plots, error metrics, duration curves) applied to every model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Core literature: </a:t>
            </a:r>
            <a:r>
              <a:rPr lang="en-US" sz="1600" dirty="0"/>
              <a:t xml:space="preserve">Schimeczek et al. 2023 (JOSS); Nitsch et al. backtesting studies for Germany and Austria 2019.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Plan: 10 Weeks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1–2  </a:t>
            </a:r>
            <a:r>
              <a:rPr lang="en-US" sz="1600" dirty="0"/>
              <a:t xml:space="preserve">Toolchain setup; run and reproduce Germany2019; download real 2019 prices; build the pandas comparison script.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3–4  </a:t>
            </a:r>
            <a:r>
              <a:rPr lang="en-US" sz="1600" dirty="0"/>
              <a:t xml:space="preserve">Write the model description chapter while knowledge is fresh; obtain Brainpool data and confirm its specification.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5–6  </a:t>
            </a:r>
            <a:r>
              <a:rPr lang="en-US" sz="1600" dirty="0"/>
              <a:t xml:space="preserve">Parameterise one additional year (chosen by Brainpool coverage); backtest against actuals.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7–8  </a:t>
            </a:r>
            <a:r>
              <a:rPr lang="en-US" sz="1600" dirty="0"/>
              <a:t xml:space="preserve">Three-way analysis (AMIRIS vs. Brainpool vs. actuals); write methodology and results chapters.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9–10  </a:t>
            </a:r>
            <a:r>
              <a:rPr lang="en-US" sz="1600" dirty="0"/>
              <a:t xml:space="preserve">Discussion, introduction, conclusion, formatting; final 3–4 days reserved as buffer.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 rule: </a:t>
            </a:r>
            <a:r>
              <a:rPr lang="en-US" sz="1600" dirty="0"/>
              <a:t xml:space="preserve">~40% of total time on writing, distributed across all phases.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Scope Decisions &amp; Risk Management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In scope: </a:t>
            </a:r>
            <a:r>
              <a:rPr lang="en-US" sz="1600" dirty="0"/>
              <a:t xml:space="preserve">Germany2019 baseline + one additional comparison year; deep three-way comparison.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Out of scope: </a:t>
            </a:r>
            <a:r>
              <a:rPr lang="en-US" sz="1600" dirty="0"/>
              <a:t xml:space="preserve">gas-crisis years 2021/22 as main cases (discussion only); long-horizon (2030+) scenario comparisons; multi-country modelling.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Main risk: </a:t>
            </a:r>
            <a:r>
              <a:rPr lang="en-US" sz="1600" dirty="0"/>
              <a:t xml:space="preserve">parameterising the additional year takes longer than planned (data gaps, fleet changes).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Mitigation: </a:t>
            </a:r>
            <a:r>
              <a:rPr lang="en-US" sz="1600" dirty="0"/>
              <a:t xml:space="preserve">two-week timebox; fallback = keep 2019 as the single backtest year and deepen the Brainpool comparison instead.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Why this works: </a:t>
            </a:r>
            <a:r>
              <a:rPr lang="en-US" sz="1600" dirty="0"/>
              <a:t xml:space="preserve">a clean, well-validated comparison on 1–2 years answers the department’s question better than a shallow one on many.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Open Questions: Brainpool Data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1. </a:t>
            </a:r>
            <a:r>
              <a:rPr lang="en-US" sz="1500" dirty="0"/>
              <a:t xml:space="preserve">Which years and delivery vintages does our Brainpool data cover?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2. </a:t>
            </a:r>
            <a:r>
              <a:rPr lang="en-US" sz="1500" dirty="0"/>
              <a:t xml:space="preserve">Is it hourly (8,760 values/year) or aggregated?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3. </a:t>
            </a:r>
            <a:r>
              <a:rPr lang="en-US" sz="1500" dirty="0"/>
              <a:t xml:space="preserve">Which scenario(s) were purchased (e.g. Central / Tensions / GoHydrogen)?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4. </a:t>
            </a:r>
            <a:r>
              <a:rPr lang="en-US" sz="1500" dirty="0"/>
              <a:t xml:space="preserve">Exact price definition: German day-ahead, EUR/MWh, real or nominal terms?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5. </a:t>
            </a:r>
            <a:r>
              <a:rPr lang="en-US" sz="1500" dirty="0"/>
              <a:t xml:space="preserve">File format, access, and any licensing limits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6. </a:t>
            </a:r>
            <a:r>
              <a:rPr lang="en-US" sz="1500" dirty="0"/>
              <a:t xml:space="preserve">Does the Thuringia model consume the full hourly series or derived values (annual means, capture prices)?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Side note – Open-TYNDP: </a:t>
            </a:r>
            <a:r>
              <a:rPr lang="en-US" sz="1500" dirty="0"/>
              <a:t xml:space="preserve">reviewed; it is a grid planning model (PyPSA-based), not a price model – useful as context and a source of scenario assumptions, not as a thesis tool.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28</Words>
  <Application>Microsoft Office PowerPoint</Application>
  <PresentationFormat>Widescreen</PresentationFormat>
  <Paragraphs>22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Inter Tight SemiBold</vt:lpstr>
      <vt:lpstr>Calibri Light</vt:lpstr>
      <vt:lpstr>Wingdings</vt:lpstr>
      <vt:lpstr>Inter Tight</vt:lpstr>
      <vt:lpstr>Inter Tight Medium</vt:lpstr>
      <vt:lpstr>Office Theme</vt:lpstr>
      <vt:lpstr>Lesson 1</vt:lpstr>
      <vt:lpstr>Office Theme</vt:lpstr>
      <vt:lpstr>SDG NAME</vt:lpstr>
      <vt:lpstr>Indicator</vt:lpstr>
      <vt:lpstr>heading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Syed Hussain Danish</cp:lastModifiedBy>
  <cp:revision>765</cp:revision>
  <dcterms:created xsi:type="dcterms:W3CDTF">2025-05-17T19:08:11Z</dcterms:created>
  <dcterms:modified xsi:type="dcterms:W3CDTF">2026-06-19T14:56:58Z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