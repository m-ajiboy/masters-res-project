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8"/>
  </p:notesMasterIdLst>
  <p:sldIdLst>
    <p:sldId id="314" r:id="rId4"/>
    <p:sldId id="329" r:id="rId5"/>
    <p:sldId id="330" r:id="rId6"/>
    <p:sldId id="364" r:id="rId74"/>
    <p:sldId id="365" r:id="rId75"/>
    <p:sldId id="372" r:id="rId30"/>
    <p:sldId id="373" r:id="rId31"/>
    <p:sldId id="374" r:id="rId32"/>
    <p:sldId id="366" r:id="rId76"/>
    <p:sldId id="375" r:id="rId33"/>
    <p:sldId id="371" r:id="rId29"/>
    <p:sldId id="367" r:id="rId77"/>
    <p:sldId id="376" r:id="rId34"/>
    <p:sldId id="377" r:id="rId35"/>
    <p:sldId id="368" r:id="rId78"/>
    <p:sldId id="369" r:id="rId79"/>
    <p:sldId id="370" r:id="rId80"/>
    <p:sldId id="363" r:id="rId7"/>
  </p:sldIdLst>
  <p:sldSz cx="12192000" cy="6858000"/>
  <p:notesSz cx="6858000" cy="9144000"/>
  <p:embeddedFontLst>
    <p:embeddedFont>
      <p:font typeface="Inter Tight" panose="020B0604020202020204" charset="0"/>
      <p:regular r:id="rId9"/>
      <p:bold r:id="rId10"/>
      <p:italic r:id="rId11"/>
      <p:boldItalic r:id="rId12"/>
    </p:embeddedFont>
    <p:embeddedFont>
      <p:font typeface="Inter Tigh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1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29" Type="http://schemas.openxmlformats.org/officeDocument/2006/relationships/slide" Target="slides/slide11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10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69" Type="http://customschemas.google.com/relationships/presentationmetadata" Target="metadata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Relationship Id="rId74" Type="http://schemas.openxmlformats.org/officeDocument/2006/relationships/slide" Target="slides/slide4.xml"/><Relationship Id="rId75" Type="http://schemas.openxmlformats.org/officeDocument/2006/relationships/slide" Target="slides/slide5.xml"/><Relationship Id="rId76" Type="http://schemas.openxmlformats.org/officeDocument/2006/relationships/slide" Target="slides/slide9.xml"/><Relationship Id="rId77" Type="http://schemas.openxmlformats.org/officeDocument/2006/relationships/slide" Target="slides/slide12.xml"/><Relationship Id="rId78" Type="http://schemas.openxmlformats.org/officeDocument/2006/relationships/slide" Target="slides/slide13.xml"/><Relationship Id="rId79" Type="http://schemas.openxmlformats.org/officeDocument/2006/relationships/slide" Target="slides/slide14.xml"/><Relationship Id="rId8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 xml:space="preserve"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Res18" Type="http://schemas.openxmlformats.org/officeDocument/2006/relationships/image" Target="../media/image_results2018.png"/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Relationship Id="rId3" Type="http://schemas.openxmlformats.org/officeDocument/2006/relationships/image" Target="../media/image_results2018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 &amp; Thesis Plan: Evaluating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 xml:space="preserve"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20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Progress &amp; Plan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Motivation &amp; Research Question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need: </a:t>
            </a:r>
            <a:r>
              <a:rPr lang="en-US" sz="1600" dirty="0"/>
              <a:t xml:space="preserve">the department’s Thuringia energy model requires hourly day-ahead electricity price time series (8,760 prices per year, German bidding zone) as an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Status quo: </a:t>
            </a:r>
            <a:r>
              <a:rPr lang="en-US" sz="1600" dirty="0"/>
              <a:t xml:space="preserve">these series are purchased from Energy Brainpool (Power2Sim scenario data).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candidate: </a:t>
            </a:r>
            <a:r>
              <a:rPr lang="en-US" sz="1600" dirty="0"/>
              <a:t xml:space="preserve">AMIRIS – DLR’s open-source, agent-based electricity market model – produces the same kind of series at no cost, with full transparency.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Research question: </a:t>
            </a:r>
            <a:r>
              <a:rPr lang="en-US" sz="1600" dirty="0"/>
              <a:t xml:space="preserve">To what extent can AMIRIS reproduce German day-ahead price time series, and how does its accuracy compare with the commercially procured scenarios?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Proposed working title (for approval): </a:t>
            </a:r>
            <a:r>
              <a:rPr lang="en-US" sz="1600" dirty="0"/>
              <a:t xml:space="preserve">“Can Open-Source Market Simulation Substitute Purchased Electricity Price Time Series? Backtesting and Benchmarking AMIRIS for a Regional Energy Model”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Approach: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1 – Backtesting: </a:t>
            </a:r>
            <a:r>
              <a:rPr lang="en-US" sz="1600" dirty="0"/>
              <a:t xml:space="preserve">AMIRIS vs. real EPEX/SMARD prices for historical years – establishes model credibility against known ground truth.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2 – Benchmarking: </a:t>
            </a:r>
            <a:r>
              <a:rPr lang="en-US" sz="1600" dirty="0"/>
              <a:t xml:space="preserve">AMIRIS vs. Energy Brainpool for a year covered by the department’s data, plus actual prices where that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Metrics: </a:t>
            </a:r>
            <a:r>
              <a:rPr lang="en-US" sz="1600" dirty="0"/>
              <a:t xml:space="preserve">mean/baseload price, MAE, RMSE, correlation, price duration curves, daily and seasonal profiles, negative-price and peak hours, wind/PV capture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Key principle: </a:t>
            </a:r>
            <a:r>
              <a:rPr lang="en-US" sz="1600" dirty="0"/>
              <a:t xml:space="preserve">both models compute conditional scenarios, not forecasts – the comparison targets how faithfully each translates assumptions into realistic hourly price structure.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Completed: Pipeline Operational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Environment: </a:t>
            </a:r>
            <a:r>
              <a:rPr lang="en-US" sz="1600" dirty="0"/>
              <a:t xml:space="preserve">AMIRIS 4.1.2 (Java) with amirispy/fameio toolchain set up and working locally.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Simulation: </a:t>
            </a:r>
            <a:r>
              <a:rPr lang="en-US" sz="1600" dirty="0"/>
              <a:t xml:space="preserve">Germany2018 backtest scenario executed successfully – full year, 8,760 hours, all agent outputs (market price, dispatch, storage, traders).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Real data: </a:t>
            </a:r>
            <a:r>
              <a:rPr lang="en-US" sz="1600" dirty="0"/>
              <a:t xml:space="preserve">SMARD day-ahead prices obtained and merged across the 1 Oct 2018 bidding-zone split (DE-AT-LU → DE-LU); complete series with one negligible DST artifact.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Analysis tooling: </a:t>
            </a:r>
            <a:r>
              <a:rPr lang="en-US" sz="1600" dirty="0"/>
              <a:t xml:space="preserve">reusable Python scripts (merge + compare) reporting MAE, RMSE, correlation, split-period metrics, and overlay plots – applicable to every future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Multi-year validation: </a:t>
            </a:r>
            <a:r>
              <a:rPr lang="en-US" sz="1600" dirty="0"/>
              <a:t xml:space="preserve">completed for Germany 2015–2019 (5 of 5 available years) – all runs and comparisons executed, not merely feasible.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2015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33.06 vs. real 31.84 EUR/MWh – bias +1.22 EUR/MWh (≈3.8%).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6.64, RMSE 8.67 EUR/MWh, correlation 0.774.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Weakest correlation of the non-2018 years – a candidate for the same root-cause treatment applied to 2018 (see Next Steps). Real series starts 5 Jan (SMARD export gap).</a:t>
            </a:r>
          </a:p>
        </p:txBody>
      </p:sp>
      <p:pic>
        <p:nvPicPr>
          <p:cNvPr id="736" name="Picture 735" descr="price_comparison_2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2016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29.16 vs. real 28.96 EUR/MWh – bias +0.19 EUR/MWh (≈0.7%).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4.96, RMSE 6.92 EUR/MWh, correlation 0.833.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Best absolute-error fit of all five years – a clean, single-zone, no-split year.</a:t>
            </a:r>
          </a:p>
        </p:txBody>
      </p:sp>
      <p:pic>
        <p:nvPicPr>
          <p:cNvPr id="736" name="Picture 735" descr="price_comparison_2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2017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35.32 vs. real 34.20 EUR/MWh – bias +1.12 EUR/MWh (≈3.3%).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5.70, RMSE 8.76 EUR/MWh, correlation 0.871.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Highest correlation of all five years, despite this scenario covering the Jan 2017 'Kalte Dunkelflaute' cold-and-calm event.</a:t>
            </a:r>
          </a:p>
        </p:txBody>
      </p:sp>
      <p:pic>
        <p:nvPicPr>
          <p:cNvPr id="736" name="Picture 735" descr="price_comparison_2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2018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45.1 vs. real 44.5 EUR/MWh – bias only +0.6 EUR/MWh (≈1.4%).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8.84, RMSE 11.72 EUR/MWh, correlation 0.773. </a:t>
            </a:r>
            <a:r>
              <a:rPr lang="en-US" sz="1500" b="1" dirty="0"/>
              <a:t xml:space="preserve">After the Oct zone split (like-for-like DE-LU): </a:t>
            </a:r>
            <a:r>
              <a:rPr lang="en-US" sz="1500" dirty="0"/>
              <a:t xml:space="preserve">correlation 0.847, MAE 8.25.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dirty="0"/>
              <a:t xml:space="preserve">Quality is comparable to DLR’s own published backtests – level, seasonal shape and spike timing match; spike magnitude is damped.</a:t>
            </a:r>
          </a:p>
        </p:txBody>
      </p:sp>
      <p:pic>
        <p:nvPicPr>
          <p:cNvPr id="900" name="Results chart 2018" descr="AMIRIS simulated vs real day-ahead price, Germany 2018"/>
          <p:cNvPicPr preferRelativeResize="0"/>
          <p:nvPr/>
        </p:nvPicPr>
        <p:blipFill rotWithShape="1">
          <a:blip r:embed="rIdRes18">
            <a:alphaModFix/>
          </a:blip>
          <a:srcRect/>
          <a:stretch/>
        </p:blipFill>
        <p:spPr>
          <a:xfrm>
            <a:off x="2396000" y="3400000"/>
            <a:ext cx="7400000" cy="2642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2019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37.98 vs. real 37.67 EUR/MWh – bias +0.31 EUR/MWh (≈0.8%).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5.37, RMSE 8.01 EUR/MWh, correlation 0.857.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Note: </a:t>
            </a:r>
            <a:r>
              <a:rPr lang="en-US" sz="1500" dirty="0"/>
              <a:t xml:space="preserve">Most structurally complex scenario (18 competing storage units, split must-run/outage inputs) – yet fits nearly as well as 2016/2017.</a:t>
            </a:r>
          </a:p>
        </p:txBody>
      </p:sp>
      <p:pic>
        <p:nvPicPr>
          <p:cNvPr id="736" name="Picture 735" descr="price_comparison_2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Multi-Year Backtest Results (2015–2019)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All five years now backtested: </a:t>
            </a:r>
            <a:r>
              <a:rPr lang="en-US" sz="1500" dirty="0"/>
              <a:t xml:space="preserve">identical run → extract → compare workflow repeated for Germany 2015–2017 and 2019, using amirispy and SMARD.de real prices for each year.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Best fit: </a:t>
            </a:r>
            <a:r>
              <a:rPr lang="en-US" sz="1500" dirty="0"/>
              <a:t xml:space="preserve">2016 and 2017 (MAE 4.96 / 5.70 EUR/MWh, correlation 0.83 / 0.87) – both clean single-zone years with no bidding-zone split.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Worst fit: </a:t>
            </a:r>
            <a:r>
              <a:rPr lang="en-US" sz="1500" dirty="0"/>
              <a:t xml:space="preserve">2018 (MAE 8.84, correlation 0.77) – the one year straddling the Oct 2018 DE-AT-LU → DE-LU zone split, confirming it as a genuine structural driver of error.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2019 holds up well: </a:t>
            </a:r>
            <a:r>
              <a:rPr lang="en-US" sz="1500" dirty="0"/>
              <a:t xml:space="preserve">MAE 5.37, correlation 0.857, despite being the most complex scenario (18 competing storage units) – added detail does not hurt the fit.</a:t>
            </a:r>
          </a:p>
        </p:txBody>
      </p:sp>
      <p:pic>
        <p:nvPicPr>
          <p:cNvPr id="736" name="Picture 735" descr="multiyea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794760"/>
            <a:ext cx="8686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Root-Cause Analysis: Two Confirmed Model Gaps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Holiday zero-price floor (confirmed): </a:t>
            </a:r>
            <a:r>
              <a:rPr lang="en-US" sz="1500" dirty="0"/>
              <a:t xml:space="preserve">on 1 Jan/1 May, renewable traders are genuinely curtailed yet still clear at exactly 0 EUR/MWh (real: −49 to −76) – their bid is fixed at zero variable cost, not negative, unlike nuclear/lignite which do have negative bid bands.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Feb cold-snap overshoot (confirmed): </a:t>
            </a:r>
            <a:r>
              <a:rPr lang="en-US" sz="1500" dirty="0"/>
              <a:t xml:space="preserve">checked CO2 price (–47% vs. annual avg), fuel prices (~normal) and outages (better than average) for 5–19 Feb – none explain the overshoot; the real driver is demand +14% above average with no cross-border import relief in this single-zone model.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Damped spikes: </a:t>
            </a:r>
            <a:r>
              <a:rPr lang="en-US" sz="1500" dirty="0"/>
              <a:t xml:space="preserve">spike timing correct but peak height undershot (e.g. 9 Oct 19:00: 62 vs. 110 EUR/MWh) – consistent with the same no-import-relief limitation.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Two distinct, independent model limitations, not one bug – both point to concrete, testable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Immediate Next Steps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Finish Germany2023: </a:t>
            </a:r>
            <a:r>
              <a:rPr lang="en-US" sz="1600" dirty="0"/>
              <a:t xml:space="preserve">source CO2 price, assemble the scenario config, run it, and backtest against real 2023 SMARD prices - the immediate priority.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Negative-bid experiment: </a:t>
            </a:r>
            <a:r>
              <a:rPr lang="en-US" sz="1600" dirty="0"/>
              <a:t xml:space="preserve">extend RenewableTrader/NoSupportTrader bidding to allow negative markups on curtailment hours; re-run Germany2018 and re-check the holiday duration-curve tail.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Cross-border sensitivity test: </a:t>
            </a:r>
            <a:r>
              <a:rPr lang="en-US" sz="1600" dirty="0"/>
              <a:t xml:space="preserve">add a simple net import/export adjustment to load for high-demand periods; re-test the Feb 2018 window to see if the overshoot shrinks.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Writing: </a:t>
            </a:r>
            <a:r>
              <a:rPr lang="en-US" sz="1600" dirty="0"/>
              <a:t xml:space="preserve">draft the model description and methodology chapters now, using the five-year backtest and the 2023 build as the evidence base.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Remaining Timeline (~9 Weeks)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1–2  </a:t>
            </a:r>
            <a:r>
              <a:rPr lang="en-US" sz="1600" dirty="0"/>
              <a:t xml:space="preserve">Finish and backtest Germany2023 (CO2 price, scenario assembly, run); negative-price and cross-border experiments; model description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3–4  </a:t>
            </a:r>
            <a:r>
              <a:rPr lang="en-US" sz="1600" dirty="0"/>
              <a:t xml:space="preserve">Consolidate backtesting results; methodology chapter; obtain and verify Brainpool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5–6  </a:t>
            </a:r>
            <a:r>
              <a:rPr lang="en-US" sz="1600" dirty="0"/>
              <a:t xml:space="preserve">Benchmarking: AMIRIS vs. Brainpool vs. actuals for the agreed comparison year; results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7–8  </a:t>
            </a:r>
            <a:r>
              <a:rPr lang="en-US" sz="1600" dirty="0"/>
              <a:t xml:space="preserve">Discussion (substitution verdict), introduction, conclusion.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 9  </a:t>
            </a:r>
            <a:r>
              <a:rPr lang="en-US" sz="1600" dirty="0"/>
              <a:t xml:space="preserve">Formatting, references, final buffer (3–4 days reserved).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 rule: </a:t>
            </a:r>
            <a:r>
              <a:rPr lang="en-US" sz="1600" dirty="0"/>
              <a:t xml:space="preserve">~40% of total time on writing, distributed across all phases.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Inputs Needed Today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1. Approval of the working title and the scoped plan </a:t>
            </a:r>
            <a:r>
              <a:rPr lang="en-US" sz="1600" dirty="0"/>
              <a:t xml:space="preserve">(backtesting + one benchmarking year).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2. Brainpool data (still pending): </a:t>
            </a:r>
            <a:r>
              <a:rPr lang="en-US" sz="1600" dirty="0"/>
              <a:t xml:space="preserve">which years/vintages do we hold? Hourly or aggregated? Which scenario(s)? Real or nominal EUR? Format, access, licensing for thesis use?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3. CO2 (EU ETS) price data access: </a:t>
            </a:r>
            <a:r>
              <a:rPr lang="en-US" sz="1600" dirty="0"/>
              <a:t xml:space="preserve">does the department have Bloomberg/Refinitiv/S&amp;P Platts access? No free bulk source was found for this one input, needed to finish the Germany2023 build.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4. Which quantities does the Thuringia model actually consume </a:t>
            </a:r>
            <a:r>
              <a:rPr lang="en-US" sz="1600" dirty="0"/>
              <a:t xml:space="preserve">- full hourly series or derived values (annual means, capture prices)? This selects the decisive metrics.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5. Preferred comparison year </a:t>
            </a:r>
            <a:r>
              <a:rPr lang="en-US" sz="1600" dirty="0"/>
              <a:t xml:space="preserve">- ideally a projected year that has since become the past, enabling the three-way test (AMIRIS vs. Brainpool vs. actuals).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Summary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6" y="1873722"/>
            <a:ext cx="83672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 xml:space="preserve">Five-year backtest complete: </a:t>
            </a:r>
            <a:r>
              <a:rPr lang="en-US" sz="1600" dirty="0"/>
              <a:t xml:space="preserve">correlation 0.77-0.87, best in 2016/2017, weakest in 2018 (confirmed: zone-split year) - quality comparable to DLR's published backtests.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Two confirmed root causes: </a:t>
            </a:r>
            <a:r>
              <a:rPr lang="en-US" sz="1600" dirty="0"/>
              <a:t xml:space="preserve">renewable bidding cannot go negative (holiday events); no cross-border trade modelled (cold-snap overshoot) - concrete, testable fixes identified.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2023 data pipeline built: </a:t>
            </a:r>
            <a:r>
              <a:rPr lang="en-US" sz="1600" dirty="0"/>
              <a:t xml:space="preserve">capacity, load, generation, outages and fuel prices gathered and validated against known trends; only CO2 price and final scenario assembly remain.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Requested today: </a:t>
            </a:r>
            <a:r>
              <a:rPr lang="en-US" sz="1600" dirty="0"/>
              <a:t xml:space="preserve">Brainpool year (still pending), CO2 price data access, title approval.</a:t>
            </a:r>
          </a:p>
        </p:txBody>
      </p: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Building Germany2023 - Data Pipeline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API access secured: </a:t>
            </a:r>
            <a:r>
              <a:rPr lang="en-US" sz="1500" dirty="0"/>
              <a:t xml:space="preserve">ENTSO-E RESTful API token obtained (after a support request, since it was not self-service) and verified live before any data pipeline was built on top of 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data pipeline built and run: </a:t>
            </a:r>
            <a:r>
              <a:rPr lang="en-US" sz="1500" dirty="0"/>
              <a:t xml:space="preserve">installed capacity, hourly load, 6 renewable generation profiles, 3 conventional outage series (nuclear/lignite/hard coal) and 3 fuel prices (oil/gas/coal) - all fetched, cleaned, and saved in AMIRIS's native scenario format.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Capacity check confirms real-world trends: </a:t>
            </a:r>
            <a:r>
              <a:rPr lang="en-US" sz="1500" dirty="0"/>
              <a:t xml:space="preserve">e.g. nuclear -57% (down to the last 3 reactors), solar +44%, hard coal -28% vs. the 2019 scenario - matching well-known German energy-transition data, a strong sanity check on the whole pipeline.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Nuclear phase-out handled without restructuring the scenario: </a:t>
            </a:r>
            <a:r>
              <a:rPr lang="en-US" sz="1500" dirty="0"/>
              <a:t xml:space="preserve">modelled as an hourly outage-factor step function (0% unavailable before 15 April 2023, 100% after) rather than splitting the year into two separate sub-scenarios.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Data Limitations Found, and What's Left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Outage data limitation (confirmed, documented): </a:t>
            </a:r>
            <a:r>
              <a:rPr lang="en-US" sz="1500" dirty="0"/>
              <a:t xml:space="preserve">Germany's ENTSO-E outage reports for conventional plants cover only planned maintenance, not forced outages - 2023 coal/lignite unavailability is likely understated, a disclosed caveat rather than a hidden gap.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CO2 price: </a:t>
            </a:r>
            <a:r>
              <a:rPr lang="en-US" sz="1500" dirty="0"/>
              <a:t xml:space="preserve">no free bulk-download source found for EU ETS allowance prices; handed off as an open item rather than guessed at for a thesis-grade input (see Inputs Needed).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Remaining before Germany2023 can run: </a:t>
            </a:r>
            <a:r>
              <a:rPr lang="en-US" sz="1500" dirty="0"/>
              <a:t xml:space="preserve">source CO2 price, assemble the scenario.yaml/agents/contracts files by adapting Germany2019's structure with the 2023 data gathered, then run and validate.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Every problem hit this phase was caught and fixed before affecting a result: </a:t>
            </a:r>
            <a:r>
              <a:rPr lang="en-US" sz="1500" dirty="0"/>
              <a:t xml:space="preserve">11 additional obstacles logged this phase (18 total project-wide) in the technical report, same discipline as the 2015-2019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28</Words>
  <Application>Microsoft Office PowerPoint</Application>
  <PresentationFormat>Widescreen</PresentationFormat>
  <Paragraphs>22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Inter Tight SemiBold</vt:lpstr>
      <vt:lpstr>Calibri Light</vt:lpstr>
      <vt:lpstr>Wingdings</vt:lpstr>
      <vt:lpstr>Inter Tight</vt:lpstr>
      <vt:lpstr>Inter Tight Medium</vt:lpstr>
      <vt:lpstr>Office Theme</vt:lpstr>
      <vt:lpstr>Lesson 1</vt:lpstr>
      <vt:lpstr>Office Theme</vt:lpstr>
      <vt:lpstr>SDG NAME</vt:lpstr>
      <vt:lpstr>Indicator</vt:lpstr>
      <vt:lpstr>heading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Syed Hussain Danish</cp:lastModifiedBy>
  <cp:revision>765</cp:revision>
  <dcterms:created xsi:type="dcterms:W3CDTF">2025-05-17T19:08:11Z</dcterms:created>
  <dcterms:modified xsi:type="dcterms:W3CDTF">2026-06-19T14:56:58Z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