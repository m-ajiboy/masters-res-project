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3" r:id="rId1"/>
    <p:sldMasterId id="2147483661" r:id="rId2"/>
    <p:sldMasterId id="2147483725" r:id="rId3"/>
  </p:sldMasterIdLst>
  <p:notesMasterIdLst>
    <p:notesMasterId r:id="rId8"/>
  </p:notesMasterIdLst>
  <p:sldIdLst>
    <p:sldId id="314" r:id="rId4"/>
    <p:sldId id="329" r:id="rId5"/>
    <p:sldId id="330" r:id="rId6"/>
    <p:sldId id="364" r:id="rId74"/>
    <p:sldId id="365" r:id="rId75"/>
    <p:sldId id="372" r:id="rId30"/>
    <p:sldId id="373" r:id="rId31"/>
    <p:sldId id="374" r:id="rId32"/>
    <p:sldId id="366" r:id="rId76"/>
    <p:sldId id="375" r:id="rId33"/>
    <p:sldId id="371" r:id="rId29"/>
    <p:sldId id="367" r:id="rId77"/>
    <p:sldId id="368" r:id="rId78"/>
    <p:sldId id="369" r:id="rId79"/>
    <p:sldId id="370" r:id="rId80"/>
    <p:sldId id="363" r:id="rId7"/>
  </p:sldIdLst>
  <p:sldSz cx="12192000" cy="6858000"/>
  <p:notesSz cx="6858000" cy="9144000"/>
  <p:embeddedFontLst>
    <p:embeddedFont>
      <p:font typeface="Inter Tight" panose="020B0604020202020204" charset="0"/>
      <p:regular r:id="rId9"/>
      <p:bold r:id="rId10"/>
      <p:italic r:id="rId11"/>
      <p:boldItalic r:id="rId12"/>
    </p:embeddedFont>
    <p:embeddedFont>
      <p:font typeface="Inter Tight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tf0F+41Kl612nkVUgLkpcbtgx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AD7D49-C064-424F-92F3-4E2EBC6DFEB3}">
  <a:tblStyle styleId="{07AD7D49-C064-424F-92F3-4E2EBC6DFE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0EF580-F2A9-45B6-A663-F4C5D8FDB2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12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29" Type="http://schemas.openxmlformats.org/officeDocument/2006/relationships/slide" Target="slides/slide7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69" Type="http://customschemas.google.com/relationships/presentationmetadata" Target="metadata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Relationship Id="rId74" Type="http://schemas.openxmlformats.org/officeDocument/2006/relationships/slide" Target="slides/slide4.xml"/><Relationship Id="rId75" Type="http://schemas.openxmlformats.org/officeDocument/2006/relationships/slide" Target="slides/slide5.xml"/><Relationship Id="rId76" Type="http://schemas.openxmlformats.org/officeDocument/2006/relationships/slide" Target="slides/slide6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Relationship Id="rId8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>
          <a:extLst>
            <a:ext uri="{FF2B5EF4-FFF2-40B4-BE49-F238E27FC236}">
              <a16:creationId xmlns:a16="http://schemas.microsoft.com/office/drawing/2014/main" id="{A1734258-795A-6B28-EC29-B2779F6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>
            <a:extLst>
              <a:ext uri="{FF2B5EF4-FFF2-40B4-BE49-F238E27FC236}">
                <a16:creationId xmlns:a16="http://schemas.microsoft.com/office/drawing/2014/main" id="{490F2E55-EAF3-1DAD-1514-48F864CE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9:notes">
            <a:extLst>
              <a:ext uri="{FF2B5EF4-FFF2-40B4-BE49-F238E27FC236}">
                <a16:creationId xmlns:a16="http://schemas.microsoft.com/office/drawing/2014/main" id="{30A67E56-671E-6571-8E78-DA449851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4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5E74DF5D-3489-3D19-B60B-3F8B4F0F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AF9C44A1-54D8-BC51-5E4C-514D03A75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05FD0817-4276-DC6F-BF88-E1E1E23F2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10FD2CAA-D497-BC2D-54A8-F2A6340D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E231CFF2-555B-4326-3D77-317505788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71A1D26D-30A8-403F-C18C-2D3499C1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8548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6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6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6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>
            <a:spLocks noGrp="1"/>
          </p:cNvSpPr>
          <p:nvPr>
            <p:ph type="pic" idx="2"/>
          </p:nvPr>
        </p:nvSpPr>
        <p:spPr>
          <a:xfrm rot="-300071">
            <a:off x="713847" y="1200402"/>
            <a:ext cx="4356686" cy="4389523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1" name="Google Shape;101;p50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0"/>
          <p:cNvSpPr txBox="1">
            <a:spLocks noGrp="1"/>
          </p:cNvSpPr>
          <p:nvPr>
            <p:ph type="title"/>
          </p:nvPr>
        </p:nvSpPr>
        <p:spPr>
          <a:xfrm>
            <a:off x="6939500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1"/>
          </p:nvPr>
        </p:nvSpPr>
        <p:spPr>
          <a:xfrm>
            <a:off x="6939500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50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1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5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13" name="Google Shape;113;p5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 rot="300178">
            <a:off x="6537643" y="1127807"/>
            <a:ext cx="5266765" cy="4609786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6" name="Google Shape;116;p5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title"/>
          </p:nvPr>
        </p:nvSpPr>
        <p:spPr>
          <a:xfrm>
            <a:off x="445233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body" idx="1"/>
          </p:nvPr>
        </p:nvSpPr>
        <p:spPr>
          <a:xfrm>
            <a:off x="445233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52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6"/>
          <p:cNvGrpSpPr/>
          <p:nvPr/>
        </p:nvGrpSpPr>
        <p:grpSpPr>
          <a:xfrm rot="299971">
            <a:off x="164311" y="-736636"/>
            <a:ext cx="11869956" cy="8325992"/>
            <a:chOff x="123132" y="-551300"/>
            <a:chExt cx="8902204" cy="6242265"/>
          </a:xfrm>
        </p:grpSpPr>
        <p:grpSp>
          <p:nvGrpSpPr>
            <p:cNvPr id="132" name="Google Shape;132;p76"/>
            <p:cNvGrpSpPr/>
            <p:nvPr/>
          </p:nvGrpSpPr>
          <p:grpSpPr>
            <a:xfrm>
              <a:off x="123733" y="-78561"/>
              <a:ext cx="8901003" cy="5296801"/>
              <a:chOff x="123733" y="-78561"/>
              <a:chExt cx="8901003" cy="5296801"/>
            </a:xfrm>
          </p:grpSpPr>
          <p:sp>
            <p:nvSpPr>
              <p:cNvPr id="133" name="Google Shape;133;p76"/>
              <p:cNvSpPr/>
              <p:nvPr/>
            </p:nvSpPr>
            <p:spPr>
              <a:xfrm rot="-1623">
                <a:off x="7117078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76"/>
              <p:cNvSpPr/>
              <p:nvPr/>
            </p:nvSpPr>
            <p:spPr>
              <a:xfrm rot="-1487" flipH="1">
                <a:off x="124878" y="-77211"/>
                <a:ext cx="6242101" cy="5294101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5" name="Google Shape;135;p76"/>
              <p:cNvSpPr/>
              <p:nvPr/>
            </p:nvSpPr>
            <p:spPr>
              <a:xfrm rot="10798513" flipH="1">
                <a:off x="2781192" y="-76291"/>
                <a:ext cx="6242401" cy="5289901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6" name="Google Shape;136;p76"/>
              <p:cNvSpPr/>
              <p:nvPr/>
            </p:nvSpPr>
            <p:spPr>
              <a:xfrm rot="-1623">
                <a:off x="125125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37" name="Google Shape;137;p76"/>
            <p:cNvSpPr/>
            <p:nvPr/>
          </p:nvSpPr>
          <p:spPr>
            <a:xfrm rot="-4516116">
              <a:off x="314234" y="-331781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38" name="Google Shape;138;p76"/>
            <p:cNvSpPr/>
            <p:nvPr/>
          </p:nvSpPr>
          <p:spPr>
            <a:xfrm rot="6283884">
              <a:off x="6963128" y="3633522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39" name="Google Shape;139;p76"/>
          <p:cNvSpPr txBox="1">
            <a:spLocks noGrp="1"/>
          </p:cNvSpPr>
          <p:nvPr>
            <p:ph type="ctrTitle"/>
          </p:nvPr>
        </p:nvSpPr>
        <p:spPr>
          <a:xfrm>
            <a:off x="2435100" y="2079433"/>
            <a:ext cx="7326300" cy="20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0" name="Google Shape;140;p76"/>
          <p:cNvSpPr txBox="1">
            <a:spLocks noGrp="1"/>
          </p:cNvSpPr>
          <p:nvPr>
            <p:ph type="subTitle" idx="1"/>
          </p:nvPr>
        </p:nvSpPr>
        <p:spPr>
          <a:xfrm>
            <a:off x="2435100" y="4336633"/>
            <a:ext cx="7326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9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body" idx="2"/>
          </p:nvPr>
        </p:nvSpPr>
        <p:spPr>
          <a:xfrm>
            <a:off x="64432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8" name="Google Shape;158;p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9" name="Google Shape;159;p8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66" name="Google Shape;166;p83"/>
          <p:cNvSpPr txBox="1">
            <a:spLocks noGrp="1"/>
          </p:cNvSpPr>
          <p:nvPr>
            <p:ph type="subTitle" idx="1"/>
          </p:nvPr>
        </p:nvSpPr>
        <p:spPr>
          <a:xfrm>
            <a:off x="354000" y="3737434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167" name="Google Shape;167;p83"/>
          <p:cNvSpPr txBox="1">
            <a:spLocks noGrp="1"/>
          </p:cNvSpPr>
          <p:nvPr>
            <p:ph type="body" idx="2"/>
          </p:nvPr>
        </p:nvSpPr>
        <p:spPr>
          <a:xfrm>
            <a:off x="6586000" y="965434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8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 txBox="1">
            <a:spLocks noGrp="1"/>
          </p:cNvSpPr>
          <p:nvPr>
            <p:ph type="title"/>
          </p:nvPr>
        </p:nvSpPr>
        <p:spPr>
          <a:xfrm>
            <a:off x="415600" y="1474834"/>
            <a:ext cx="11360700" cy="26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9pPr>
          </a:lstStyle>
          <a:p>
            <a:endParaRPr/>
          </a:p>
        </p:txBody>
      </p:sp>
      <p:sp>
        <p:nvSpPr>
          <p:cNvPr id="174" name="Google Shape;174;p85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8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6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6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9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8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4608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8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87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4" name="Google Shape;184;p8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8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8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7" name="Google Shape;187;p8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8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2" name="Google Shape;192;p88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88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94" name="Google Shape;194;p88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5" name="Google Shape;195;p88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8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8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89"/>
          <p:cNvSpPr txBox="1">
            <a:spLocks noGrp="1"/>
          </p:cNvSpPr>
          <p:nvPr>
            <p:ph type="body" idx="3"/>
          </p:nvPr>
        </p:nvSpPr>
        <p:spPr>
          <a:xfrm>
            <a:off x="489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89"/>
          <p:cNvSpPr txBox="1">
            <a:spLocks noGrp="1"/>
          </p:cNvSpPr>
          <p:nvPr>
            <p:ph type="body" idx="4"/>
          </p:nvPr>
        </p:nvSpPr>
        <p:spPr>
          <a:xfrm>
            <a:off x="6585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89"/>
          <p:cNvSpPr txBox="1">
            <a:spLocks noGrp="1"/>
          </p:cNvSpPr>
          <p:nvPr>
            <p:ph type="title"/>
          </p:nvPr>
        </p:nvSpPr>
        <p:spPr>
          <a:xfrm>
            <a:off x="489000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204" name="Google Shape;204;p8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5" name="Google Shape;205;p89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6" name="Google Shape;206;p89"/>
          <p:cNvSpPr txBox="1">
            <a:spLocks noGrp="1"/>
          </p:cNvSpPr>
          <p:nvPr>
            <p:ph type="subTitle" idx="7"/>
          </p:nvPr>
        </p:nvSpPr>
        <p:spPr>
          <a:xfrm>
            <a:off x="6585015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7" name="Google Shape;207;p8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0"/>
          <p:cNvSpPr>
            <a:spLocks noGrp="1"/>
          </p:cNvSpPr>
          <p:nvPr>
            <p:ph type="pic" idx="2"/>
          </p:nvPr>
        </p:nvSpPr>
        <p:spPr>
          <a:xfrm>
            <a:off x="415600" y="1560566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4" name="Google Shape;214;p91"/>
          <p:cNvSpPr>
            <a:spLocks noGrp="1"/>
          </p:cNvSpPr>
          <p:nvPr>
            <p:ph type="pic" idx="2"/>
          </p:nvPr>
        </p:nvSpPr>
        <p:spPr>
          <a:xfrm>
            <a:off x="64064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91"/>
          <p:cNvSpPr>
            <a:spLocks noGrp="1"/>
          </p:cNvSpPr>
          <p:nvPr>
            <p:ph type="pic" idx="3"/>
          </p:nvPr>
        </p:nvSpPr>
        <p:spPr>
          <a:xfrm>
            <a:off x="4156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9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7" name="Google Shape;217;p9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0" name="Google Shape;220;p9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3" name="Google Shape;223;p9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9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9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6" name="Google Shape;226;p9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9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8" name="Google Shape;228;p9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92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1" name="Google Shape;231;p9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2" name="Google Shape;232;p9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3"/>
          <p:cNvSpPr>
            <a:spLocks noGrp="1"/>
          </p:cNvSpPr>
          <p:nvPr>
            <p:ph type="pic" idx="2"/>
          </p:nvPr>
        </p:nvSpPr>
        <p:spPr>
          <a:xfrm>
            <a:off x="415600" y="593366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9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9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9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94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94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94"/>
          <p:cNvSpPr txBox="1">
            <a:spLocks noGrp="1"/>
          </p:cNvSpPr>
          <p:nvPr>
            <p:ph type="title"/>
          </p:nvPr>
        </p:nvSpPr>
        <p:spPr>
          <a:xfrm>
            <a:off x="468733" y="593366"/>
            <a:ext cx="34623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4"/>
          <p:cNvSpPr>
            <a:spLocks noGrp="1"/>
          </p:cNvSpPr>
          <p:nvPr>
            <p:ph type="pic" idx="8"/>
          </p:nvPr>
        </p:nvSpPr>
        <p:spPr>
          <a:xfrm>
            <a:off x="4519451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94"/>
          <p:cNvSpPr>
            <a:spLocks noGrp="1"/>
          </p:cNvSpPr>
          <p:nvPr>
            <p:ph type="pic" idx="9"/>
          </p:nvPr>
        </p:nvSpPr>
        <p:spPr>
          <a:xfrm>
            <a:off x="6927896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94"/>
          <p:cNvSpPr>
            <a:spLocks noGrp="1"/>
          </p:cNvSpPr>
          <p:nvPr>
            <p:ph type="pic" idx="13"/>
          </p:nvPr>
        </p:nvSpPr>
        <p:spPr>
          <a:xfrm>
            <a:off x="9336343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5"/>
          <p:cNvGrpSpPr/>
          <p:nvPr/>
        </p:nvGrpSpPr>
        <p:grpSpPr>
          <a:xfrm>
            <a:off x="100" y="342225"/>
            <a:ext cx="5064461" cy="1587259"/>
            <a:chOff x="75" y="256675"/>
            <a:chExt cx="3798441" cy="1190474"/>
          </a:xfrm>
        </p:grpSpPr>
        <p:sp>
          <p:nvSpPr>
            <p:cNvPr id="250" name="Google Shape;250;p95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" name="Google Shape;251;p95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" name="Google Shape;252;p95"/>
          <p:cNvSpPr txBox="1">
            <a:spLocks noGrp="1"/>
          </p:cNvSpPr>
          <p:nvPr>
            <p:ph type="title"/>
          </p:nvPr>
        </p:nvSpPr>
        <p:spPr>
          <a:xfrm>
            <a:off x="445233" y="725666"/>
            <a:ext cx="40533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subTitle" idx="1"/>
          </p:nvPr>
        </p:nvSpPr>
        <p:spPr>
          <a:xfrm>
            <a:off x="1532168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2"/>
          </p:nvPr>
        </p:nvSpPr>
        <p:spPr>
          <a:xfrm>
            <a:off x="1532168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subTitle" idx="3"/>
          </p:nvPr>
        </p:nvSpPr>
        <p:spPr>
          <a:xfrm>
            <a:off x="1532168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4"/>
          </p:nvPr>
        </p:nvSpPr>
        <p:spPr>
          <a:xfrm>
            <a:off x="1532168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subTitle" idx="5"/>
          </p:nvPr>
        </p:nvSpPr>
        <p:spPr>
          <a:xfrm>
            <a:off x="1532168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6"/>
          </p:nvPr>
        </p:nvSpPr>
        <p:spPr>
          <a:xfrm>
            <a:off x="7103801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5"/>
          <p:cNvSpPr txBox="1">
            <a:spLocks noGrp="1"/>
          </p:cNvSpPr>
          <p:nvPr>
            <p:ph type="subTitle" idx="7"/>
          </p:nvPr>
        </p:nvSpPr>
        <p:spPr>
          <a:xfrm>
            <a:off x="7103801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95"/>
          <p:cNvSpPr txBox="1">
            <a:spLocks noGrp="1"/>
          </p:cNvSpPr>
          <p:nvPr>
            <p:ph type="subTitle" idx="8"/>
          </p:nvPr>
        </p:nvSpPr>
        <p:spPr>
          <a:xfrm>
            <a:off x="7103801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5"/>
          <p:cNvSpPr txBox="1">
            <a:spLocks noGrp="1"/>
          </p:cNvSpPr>
          <p:nvPr>
            <p:ph type="subTitle" idx="9"/>
          </p:nvPr>
        </p:nvSpPr>
        <p:spPr>
          <a:xfrm>
            <a:off x="7103801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5"/>
          <p:cNvSpPr txBox="1">
            <a:spLocks noGrp="1"/>
          </p:cNvSpPr>
          <p:nvPr>
            <p:ph type="subTitle" idx="13"/>
          </p:nvPr>
        </p:nvSpPr>
        <p:spPr>
          <a:xfrm>
            <a:off x="7103801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6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5" name="Google Shape;265;p96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6" name="Google Shape;266;p96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508109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body" idx="4"/>
          </p:nvPr>
        </p:nvSpPr>
        <p:spPr>
          <a:xfrm>
            <a:off x="508109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subTitle" idx="5"/>
          </p:nvPr>
        </p:nvSpPr>
        <p:spPr>
          <a:xfrm>
            <a:off x="6089243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body" idx="6"/>
          </p:nvPr>
        </p:nvSpPr>
        <p:spPr>
          <a:xfrm>
            <a:off x="6089243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97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276" name="Google Shape;276;p97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7" name="Google Shape;277;p97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8" name="Google Shape;278;p97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9" name="Google Shape;279;p97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0" name="Google Shape;280;p9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>
            <a:spLocks noGrp="1"/>
          </p:cNvSpPr>
          <p:nvPr>
            <p:ph type="pic" idx="2"/>
          </p:nvPr>
        </p:nvSpPr>
        <p:spPr>
          <a:xfrm rot="300028">
            <a:off x="1030998" y="3562331"/>
            <a:ext cx="2326655" cy="232665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98"/>
          <p:cNvSpPr>
            <a:spLocks noGrp="1"/>
          </p:cNvSpPr>
          <p:nvPr>
            <p:ph type="pic" idx="3"/>
          </p:nvPr>
        </p:nvSpPr>
        <p:spPr>
          <a:xfrm rot="-300105">
            <a:off x="4793073" y="3506121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98"/>
          <p:cNvSpPr>
            <a:spLocks noGrp="1"/>
          </p:cNvSpPr>
          <p:nvPr>
            <p:ph type="pic" idx="4"/>
          </p:nvPr>
        </p:nvSpPr>
        <p:spPr>
          <a:xfrm rot="300105">
            <a:off x="8599541" y="3562548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9" name="Google Shape;289;p9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98"/>
          <p:cNvSpPr txBox="1">
            <a:spLocks noGrp="1"/>
          </p:cNvSpPr>
          <p:nvPr>
            <p:ph type="subTitle" idx="1"/>
          </p:nvPr>
        </p:nvSpPr>
        <p:spPr>
          <a:xfrm>
            <a:off x="508084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1" name="Google Shape;291;p98"/>
          <p:cNvSpPr txBox="1">
            <a:spLocks noGrp="1"/>
          </p:cNvSpPr>
          <p:nvPr>
            <p:ph type="body" idx="5"/>
          </p:nvPr>
        </p:nvSpPr>
        <p:spPr>
          <a:xfrm>
            <a:off x="508084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subTitle" idx="6"/>
          </p:nvPr>
        </p:nvSpPr>
        <p:spPr>
          <a:xfrm>
            <a:off x="4292400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7"/>
          </p:nvPr>
        </p:nvSpPr>
        <p:spPr>
          <a:xfrm>
            <a:off x="4292400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subTitle" idx="8"/>
          </p:nvPr>
        </p:nvSpPr>
        <p:spPr>
          <a:xfrm>
            <a:off x="8076717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body" idx="9"/>
          </p:nvPr>
        </p:nvSpPr>
        <p:spPr>
          <a:xfrm>
            <a:off x="8076717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98"/>
          <p:cNvSpPr txBox="1">
            <a:spLocks noGrp="1"/>
          </p:cNvSpPr>
          <p:nvPr>
            <p:ph type="subTitle" idx="1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8" name="Google Shape;298;p98"/>
          <p:cNvSpPr txBox="1">
            <a:spLocks noGrp="1"/>
          </p:cNvSpPr>
          <p:nvPr>
            <p:ph type="subTitle" idx="1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01" name="Google Shape;301;p99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05" name="Google Shape;305;p99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578370" y="1602904"/>
            <a:ext cx="3510843" cy="1206125"/>
            <a:chOff x="433788" y="1202208"/>
            <a:chExt cx="2633198" cy="904617"/>
          </a:xfrm>
        </p:grpSpPr>
        <p:sp>
          <p:nvSpPr>
            <p:cNvPr id="308" name="Google Shape;308;p100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 rot="-6523">
              <a:off x="2750484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10" name="Google Shape;310;p100"/>
          <p:cNvSpPr txBox="1">
            <a:spLocks noGrp="1"/>
          </p:cNvSpPr>
          <p:nvPr>
            <p:ph type="subTitle" idx="1"/>
          </p:nvPr>
        </p:nvSpPr>
        <p:spPr>
          <a:xfrm>
            <a:off x="582667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11" name="Google Shape;311;p100"/>
          <p:cNvSpPr txBox="1">
            <a:spLocks noGrp="1"/>
          </p:cNvSpPr>
          <p:nvPr>
            <p:ph type="body" idx="2"/>
          </p:nvPr>
        </p:nvSpPr>
        <p:spPr>
          <a:xfrm>
            <a:off x="582667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00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13" name="Google Shape;313;p100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00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0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6" name="Google Shape;316;p100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01"/>
          <p:cNvGrpSpPr/>
          <p:nvPr/>
        </p:nvGrpSpPr>
        <p:grpSpPr>
          <a:xfrm>
            <a:off x="4338492" y="1602904"/>
            <a:ext cx="3510844" cy="1206125"/>
            <a:chOff x="3253950" y="1202208"/>
            <a:chExt cx="2633199" cy="904617"/>
          </a:xfrm>
        </p:grpSpPr>
        <p:sp>
          <p:nvSpPr>
            <p:cNvPr id="319" name="Google Shape;319;p101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101"/>
            <p:cNvSpPr/>
            <p:nvPr/>
          </p:nvSpPr>
          <p:spPr>
            <a:xfrm rot="-6523">
              <a:off x="5570647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21" name="Google Shape;321;p101"/>
          <p:cNvSpPr txBox="1">
            <a:spLocks noGrp="1"/>
          </p:cNvSpPr>
          <p:nvPr>
            <p:ph type="subTitle" idx="1"/>
          </p:nvPr>
        </p:nvSpPr>
        <p:spPr>
          <a:xfrm>
            <a:off x="4342884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2" name="Google Shape;322;p101"/>
          <p:cNvSpPr txBox="1">
            <a:spLocks noGrp="1"/>
          </p:cNvSpPr>
          <p:nvPr>
            <p:ph type="body" idx="2"/>
          </p:nvPr>
        </p:nvSpPr>
        <p:spPr>
          <a:xfrm>
            <a:off x="4342884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01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24" name="Google Shape;324;p10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0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27" name="Google Shape;327;p10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"/>
          <p:cNvSpPr/>
          <p:nvPr/>
        </p:nvSpPr>
        <p:spPr>
          <a:xfrm>
            <a:off x="4338433" y="1603100"/>
            <a:ext cx="7270800" cy="12060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0" name="Google Shape;330;p102"/>
          <p:cNvSpPr txBox="1">
            <a:spLocks noGrp="1"/>
          </p:cNvSpPr>
          <p:nvPr>
            <p:ph type="subTitle" idx="1"/>
          </p:nvPr>
        </p:nvSpPr>
        <p:spPr>
          <a:xfrm>
            <a:off x="4338600" y="1602934"/>
            <a:ext cx="6849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31" name="Google Shape;331;p102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32" name="Google Shape;332;p102"/>
          <p:cNvSpPr txBox="1">
            <a:spLocks noGrp="1"/>
          </p:cNvSpPr>
          <p:nvPr>
            <p:ph type="body" idx="3"/>
          </p:nvPr>
        </p:nvSpPr>
        <p:spPr>
          <a:xfrm>
            <a:off x="4338600" y="1947100"/>
            <a:ext cx="7270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10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02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02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6" name="Google Shape;336;p102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7" name="Google Shape;337;p102"/>
          <p:cNvSpPr/>
          <p:nvPr/>
        </p:nvSpPr>
        <p:spPr>
          <a:xfrm rot="-4894">
            <a:off x="11187751" y="1603443"/>
            <a:ext cx="421500" cy="424201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 xml:space="preserve"> </a:t>
            </a: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03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40" name="Google Shape;340;p103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41" name="Google Shape;341;p103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2" name="Google Shape;342;p103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43" name="Google Shape;343;p103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44" name="Google Shape;344;p103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03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03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103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48" name="Google Shape;348;p103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4"/>
          <p:cNvSpPr>
            <a:spLocks noGrp="1"/>
          </p:cNvSpPr>
          <p:nvPr>
            <p:ph type="pic" idx="2"/>
          </p:nvPr>
        </p:nvSpPr>
        <p:spPr>
          <a:xfrm>
            <a:off x="4726484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1" name="Google Shape;351;p104"/>
          <p:cNvSpPr>
            <a:spLocks noGrp="1"/>
          </p:cNvSpPr>
          <p:nvPr>
            <p:ph type="pic" idx="3"/>
          </p:nvPr>
        </p:nvSpPr>
        <p:spPr>
          <a:xfrm>
            <a:off x="8878051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2" name="Google Shape;352;p104"/>
          <p:cNvSpPr>
            <a:spLocks noGrp="1"/>
          </p:cNvSpPr>
          <p:nvPr>
            <p:ph type="pic" idx="4"/>
          </p:nvPr>
        </p:nvSpPr>
        <p:spPr>
          <a:xfrm>
            <a:off x="574933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3" name="Google Shape;353;p104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04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4"/>
          <p:cNvSpPr txBox="1">
            <a:spLocks noGrp="1"/>
          </p:cNvSpPr>
          <p:nvPr>
            <p:ph type="subTitle" idx="1"/>
          </p:nvPr>
        </p:nvSpPr>
        <p:spPr>
          <a:xfrm>
            <a:off x="508133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6" name="Google Shape;356;p104"/>
          <p:cNvSpPr txBox="1">
            <a:spLocks noGrp="1"/>
          </p:cNvSpPr>
          <p:nvPr>
            <p:ph type="subTitle" idx="5"/>
          </p:nvPr>
        </p:nvSpPr>
        <p:spPr>
          <a:xfrm>
            <a:off x="4659700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subTitle" idx="6"/>
          </p:nvPr>
        </p:nvSpPr>
        <p:spPr>
          <a:xfrm>
            <a:off x="8811251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05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62" name="Google Shape;362;p105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63" name="Google Shape;363;p105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4" name="Google Shape;364;p105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5" name="Google Shape;365;p105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5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05"/>
          <p:cNvSpPr txBox="1">
            <a:spLocks noGrp="1"/>
          </p:cNvSpPr>
          <p:nvPr>
            <p:ph type="body" idx="1"/>
          </p:nvPr>
        </p:nvSpPr>
        <p:spPr>
          <a:xfrm>
            <a:off x="445233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69" name="Google Shape;369;p105"/>
          <p:cNvSpPr txBox="1">
            <a:spLocks noGrp="1"/>
          </p:cNvSpPr>
          <p:nvPr>
            <p:ph type="body" idx="2"/>
          </p:nvPr>
        </p:nvSpPr>
        <p:spPr>
          <a:xfrm>
            <a:off x="6126768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70" name="Google Shape;370;p105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71" name="Google Shape;371;p105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06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sp>
          <p:nvSpPr>
            <p:cNvPr id="374" name="Google Shape;374;p106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106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106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77" name="Google Shape;377;p106"/>
          <p:cNvSpPr txBox="1">
            <a:spLocks noGrp="1"/>
          </p:cNvSpPr>
          <p:nvPr>
            <p:ph type="body" idx="1"/>
          </p:nvPr>
        </p:nvSpPr>
        <p:spPr>
          <a:xfrm>
            <a:off x="445233" y="4840766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0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06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06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1" name="Google Shape;381;p106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2" name="Google Shape;382;p106"/>
          <p:cNvSpPr txBox="1">
            <a:spLocks noGrp="1"/>
          </p:cNvSpPr>
          <p:nvPr>
            <p:ph type="body" idx="4"/>
          </p:nvPr>
        </p:nvSpPr>
        <p:spPr>
          <a:xfrm>
            <a:off x="445233" y="4245568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06"/>
          <p:cNvSpPr txBox="1">
            <a:spLocks noGrp="1"/>
          </p:cNvSpPr>
          <p:nvPr>
            <p:ph type="body" idx="5"/>
          </p:nvPr>
        </p:nvSpPr>
        <p:spPr>
          <a:xfrm>
            <a:off x="445233" y="3650369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6"/>
          </p:nvPr>
        </p:nvSpPr>
        <p:spPr>
          <a:xfrm>
            <a:off x="445233" y="3055170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7"/>
          <p:cNvSpPr txBox="1"/>
          <p:nvPr/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3600" b="0" i="0" u="none" strike="noStrike" cap="none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88" name="Google Shape;388;p107"/>
          <p:cNvGrpSpPr/>
          <p:nvPr/>
        </p:nvGrpSpPr>
        <p:grpSpPr>
          <a:xfrm rot="300228">
            <a:off x="1700980" y="722882"/>
            <a:ext cx="8797516" cy="5410206"/>
            <a:chOff x="1275767" y="542608"/>
            <a:chExt cx="6597898" cy="4056173"/>
          </a:xfrm>
        </p:grpSpPr>
        <p:grpSp>
          <p:nvGrpSpPr>
            <p:cNvPr id="389" name="Google Shape;389;p107"/>
            <p:cNvGrpSpPr/>
            <p:nvPr/>
          </p:nvGrpSpPr>
          <p:grpSpPr>
            <a:xfrm>
              <a:off x="1276090" y="891661"/>
              <a:ext cx="6596464" cy="3357717"/>
              <a:chOff x="1276090" y="891661"/>
              <a:chExt cx="6596464" cy="3357717"/>
            </a:xfrm>
          </p:grpSpPr>
          <p:sp>
            <p:nvSpPr>
              <p:cNvPr id="390" name="Google Shape;390;p107"/>
              <p:cNvSpPr/>
              <p:nvPr/>
            </p:nvSpPr>
            <p:spPr>
              <a:xfrm rot="-2190">
                <a:off x="6458573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91" name="Google Shape;391;p107"/>
              <p:cNvSpPr/>
              <p:nvPr/>
            </p:nvSpPr>
            <p:spPr>
              <a:xfrm rot="-2453" flipH="1">
                <a:off x="1277286" y="893727"/>
                <a:ext cx="4625401" cy="3354001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2" name="Google Shape;392;p107"/>
              <p:cNvSpPr/>
              <p:nvPr/>
            </p:nvSpPr>
            <p:spPr>
              <a:xfrm rot="10797547" flipH="1">
                <a:off x="3245657" y="893311"/>
                <a:ext cx="4625701" cy="3354001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3" name="Google Shape;393;p107"/>
              <p:cNvSpPr/>
              <p:nvPr/>
            </p:nvSpPr>
            <p:spPr>
              <a:xfrm rot="-2190">
                <a:off x="1277402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94" name="Google Shape;394;p107"/>
            <p:cNvSpPr/>
            <p:nvPr/>
          </p:nvSpPr>
          <p:spPr>
            <a:xfrm rot="-4517241">
              <a:off x="1416992" y="705337"/>
              <a:ext cx="1386770" cy="136166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95" name="Google Shape;395;p107"/>
            <p:cNvSpPr/>
            <p:nvPr/>
          </p:nvSpPr>
          <p:spPr>
            <a:xfrm rot="6281922">
              <a:off x="6346506" y="3074687"/>
              <a:ext cx="1384510" cy="136311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96" name="Google Shape;396;p107"/>
          <p:cNvSpPr txBox="1">
            <a:spLocks noGrp="1"/>
          </p:cNvSpPr>
          <p:nvPr>
            <p:ph type="title"/>
          </p:nvPr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07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98" name="Google Shape;398;p107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8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08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402" name="Google Shape;402;p108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60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032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8EF8-A476-47CE-8DE0-2F49C539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6223-3D62-4898-A14F-C0BC3F9C3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68A-1185-4DE4-AE80-8A12A148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D7BF-A836-4ADF-A441-BE8AB80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1FCE-22FE-4738-B7F1-D1F5663C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69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5AA-79DE-4BFE-B251-4B4F64FF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B7B9-B6B7-4B34-91E2-CAE7445F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342-7C6B-4DA7-ADE8-ABE9C192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7BDA-3AD8-42AD-9087-64686D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4B0D-D3CD-42D1-83E6-2B74E85B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98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FCE3-44B5-4206-B2C4-46422DC3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8AD2-AE27-4F40-BDC8-6A3F74DB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A34C-BAC0-47BF-A73F-2FB6543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0A40-CCA4-4070-9C1D-E0F808F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25E4C-D9E5-4636-BB57-C2925D6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64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006A-682B-4295-AF69-B8151941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3EDC-7C98-4743-A7E3-B49C71A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95F7-4589-47BA-9085-69279354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9EC6A-FDFC-4CDB-900B-EB812685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1981-A864-4101-BACF-FEBEE86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3F707-88F1-4D8D-8C82-C0C2CED7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21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65C-8C90-4342-9965-322AEB9A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984D-FAE8-493C-8C8E-C436B0F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3F33A-A6A7-4B67-B571-D6D60EF1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CF45E-4F7E-4D5C-B8FD-CD4D5FA45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C852E-2FA3-4B44-BA95-00E4C4272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9C959-A91D-4D73-81C8-FFBA02D5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4B896-7444-404A-8D68-BFB2E5E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3DCB7-FA06-4CBA-A9A2-AF0F173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08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5BD-5925-49DB-9D5D-2751784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7A07-1F76-4B9C-80E6-7430117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7ADA-81D6-4B44-A02A-E7158C36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BFC7-B26C-436C-93A8-E1D1E42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67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65607-07DC-4802-840E-790B6B5C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9FCBB-A604-448A-A126-C930FD42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7C4D-2D43-4A7C-8E28-C3CF3963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67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753-665E-4EFB-B587-8FBE8E62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F80-B4AA-409A-8C1D-B29CCE8B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4A319-FB6F-4B95-80CF-1759C67AB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BBC4-7FA7-4D03-AABD-DF2EAE55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896D1-FFF4-4BBF-B58C-66813B9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39FC-17B2-4D78-8DA5-F6DA03C9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45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8A61-2906-46BC-AF42-929A5824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8D4A2-6F71-4CB4-879F-70A9FEEEC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C8DE-FA4E-4E9A-B1B7-54330648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BC98-AD9C-425E-940D-9B1A7DF9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046-3CAC-40CD-9217-ECF1CA6A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4B41-78B3-4F60-A9F3-8BEC56B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48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01A-863A-4012-8AFF-B1F5BD9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FECE-F59B-436E-8BC5-77A57D477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BB9-165D-4A02-9C9C-28B7D69B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7F77C-5E2B-4E82-8D54-9E19B76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7B89-8746-41A0-9C7F-F33F1FC5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454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83AA-2DE6-42FF-A41E-0F2AE01E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52AB3-F746-4876-965B-A21304B5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DB7-9AB3-4054-848E-9098E0FE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EA99-2ADA-4FCC-A87A-80D604B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9F16-FE61-4BAD-AA5B-5A08B20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67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0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12" r:id="rId39"/>
    <p:sldLayoutId id="214748373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3B80B-EE57-4A58-A23B-31A91D9A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DE4-DCB8-4EDB-BACA-38FB86A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5812-7DBA-4A8E-93A1-518E2AC0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997D-E6D3-4BB0-A633-981581A90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163-1BCC-4AA1-8E6A-C0CDDEBF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Res18" Type="http://schemas.openxmlformats.org/officeDocument/2006/relationships/image" Target="../media/image_results2018.png"/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>
          <a:extLst>
            <a:ext uri="{FF2B5EF4-FFF2-40B4-BE49-F238E27FC236}">
              <a16:creationId xmlns:a16="http://schemas.microsoft.com/office/drawing/2014/main" id="{4191D11E-2ADA-34BC-E609-CB7BA6EC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">
            <a:extLst>
              <a:ext uri="{FF2B5EF4-FFF2-40B4-BE49-F238E27FC236}">
                <a16:creationId xmlns:a16="http://schemas.microsoft.com/office/drawing/2014/main" id="{9053C572-F437-E3FE-3A2F-14DB19FAD3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58238" y="564453"/>
            <a:ext cx="9560987" cy="111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algn="ctr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</a:pP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Report &amp; Thesis Plan: Evaluating AMIRIS as a Substitute for Purchased Electricity Price Time Series</a:t>
            </a:r>
          </a:p>
        </p:txBody>
      </p:sp>
      <p:pic>
        <p:nvPicPr>
          <p:cNvPr id="657" name="Google Shape;657;p19" descr="Untitled">
            <a:extLst>
              <a:ext uri="{FF2B5EF4-FFF2-40B4-BE49-F238E27FC236}">
                <a16:creationId xmlns:a16="http://schemas.microsoft.com/office/drawing/2014/main" id="{850DFBB0-AE83-A8B3-E179-C567C0690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41" y="6218838"/>
            <a:ext cx="2741675" cy="4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>
            <a:extLst>
              <a:ext uri="{FF2B5EF4-FFF2-40B4-BE49-F238E27FC236}">
                <a16:creationId xmlns:a16="http://schemas.microsoft.com/office/drawing/2014/main" id="{02C0FD23-07B1-DA35-D2BE-4F3C30258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Google Shape;656;p19">
            <a:extLst>
              <a:ext uri="{FF2B5EF4-FFF2-40B4-BE49-F238E27FC236}">
                <a16:creationId xmlns:a16="http://schemas.microsoft.com/office/drawing/2014/main" id="{E8BBA39E-01E7-78A0-C4D4-4B5D4644E988}"/>
              </a:ext>
            </a:extLst>
          </p:cNvPr>
          <p:cNvSpPr txBox="1">
            <a:spLocks/>
          </p:cNvSpPr>
          <p:nvPr/>
        </p:nvSpPr>
        <p:spPr>
          <a:xfrm>
            <a:off x="5735873" y="3991286"/>
            <a:ext cx="6241465" cy="18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 xml:space="preserve">	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500"/>
              </a:spcAft>
              <a:buClr>
                <a:schemeClr val="accent1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 Rohith Krishnan Bala Krishnan</a:t>
            </a:r>
            <a:endParaRPr lang="en-US" sz="20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Presented by: 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Muideen Oladayo Ajiboye (471583)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13 July 2026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Wingdings"/>
              <a:buChar char="Ø"/>
            </a:pPr>
            <a:endParaRPr lang="en-US" sz="4000" b="1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50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D2-DF58-C389-8593-B3C0C26C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2766150"/>
            <a:ext cx="10515600" cy="1325700"/>
          </a:xfrm>
        </p:spPr>
        <p:txBody>
          <a:bodyPr/>
          <a:lstStyle/>
          <a:p>
            <a:pPr algn="ctr"/>
            <a:r>
              <a:rPr lang="en-US" dirty="0"/>
              <a:t>Progress &amp; Plan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3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Motivation &amp; Research Question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need: </a:t>
            </a:r>
            <a:r>
              <a:rPr lang="en-US" sz="1600" dirty="0"/>
              <a:t xml:space="preserve">the department’s Thuringia energy model requires hourly day-ahead electricity price time series (8,760 prices per year, German bidding zone) as an input.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Status quo: </a:t>
            </a:r>
            <a:r>
              <a:rPr lang="en-US" sz="1600" dirty="0"/>
              <a:t xml:space="preserve">these series are purchased from Energy Brainpool (Power2Sim scenario data).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candidate: </a:t>
            </a:r>
            <a:r>
              <a:rPr lang="en-US" sz="1600" dirty="0"/>
              <a:t xml:space="preserve">AMIRIS – DLR’s open-source, agent-based electricity market model – produces the same kind of series at no cost, with full transparency.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Research question: </a:t>
            </a:r>
            <a:r>
              <a:rPr lang="en-US" sz="1600" dirty="0"/>
              <a:t xml:space="preserve">To what extent can AMIRIS reproduce German day-ahead price time series, and how does its accuracy compare with the commercially procured scenarios?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Proposed working title (for approval): </a:t>
            </a:r>
            <a:r>
              <a:rPr lang="en-US" sz="1600" dirty="0"/>
              <a:t xml:space="preserve">“Can Open-Source Market Simulation Substitute Purchased Electricity Price Time Series? Backtesting and Benchmarking AMIRIS for a Regional Energy Model”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Approach: Two Comparisons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1 – Backtesting: </a:t>
            </a:r>
            <a:r>
              <a:rPr lang="en-US" sz="1600" dirty="0"/>
              <a:t xml:space="preserve">AMIRIS vs. real EPEX/SMARD prices for historical years – establishes model credibility against known ground truth.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2 – Benchmarking: </a:t>
            </a:r>
            <a:r>
              <a:rPr lang="en-US" sz="1600" dirty="0"/>
              <a:t xml:space="preserve">AMIRIS vs. Energy Brainpool for a year covered by the department’s data, plus actual prices where that year already lies in the past.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Metrics: </a:t>
            </a:r>
            <a:r>
              <a:rPr lang="en-US" sz="1600" dirty="0"/>
              <a:t xml:space="preserve">mean/baseload price, MAE, RMSE, correlation, price duration curves, daily and seasonal profiles, negative-price and peak hours, wind/PV capture prices.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Key principle: </a:t>
            </a:r>
            <a:r>
              <a:rPr lang="en-US" sz="1600" dirty="0"/>
              <a:t xml:space="preserve">both models compute conditional scenarios, not forecasts – the comparison targets how faithfully each translates assumptions into realistic hourly price structure.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Work Completed: Pipeline Operational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Environment: </a:t>
            </a:r>
            <a:r>
              <a:rPr lang="en-US" sz="1600" dirty="0"/>
              <a:t xml:space="preserve">AMIRIS 4.1.2 (Java) with amirispy/fameio toolchain set up and working locally.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Simulation: </a:t>
            </a:r>
            <a:r>
              <a:rPr lang="en-US" sz="1600" dirty="0"/>
              <a:t xml:space="preserve">Germany2018 backtest scenario executed successfully – full year, 8,760 hours, all agent outputs (market price, dispatch, storage, traders).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Real data: </a:t>
            </a:r>
            <a:r>
              <a:rPr lang="en-US" sz="1600" dirty="0"/>
              <a:t xml:space="preserve">SMARD day-ahead prices obtained and merged across the 1 Oct 2018 bidding-zone split (DE-AT-LU → DE-LU); complete series with one negligible DST artifact.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Analysis tooling: </a:t>
            </a:r>
            <a:r>
              <a:rPr lang="en-US" sz="1600" dirty="0"/>
              <a:t xml:space="preserve">reusable Python scripts (merge + compare) reporting MAE, RMSE, correlation, split-period metrics, and overlay plots – applicable to every future run.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Multi-year validation: </a:t>
            </a:r>
            <a:r>
              <a:rPr lang="en-US" sz="1600" dirty="0"/>
              <a:t xml:space="preserve">completed for Germany 2015–2019 (5 of 5 available years) – all runs and comparisons executed, not merely feasible.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2018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45.1 vs. real 44.5 EUR/MWh – bias only +0.6 EUR/MWh (≈1.4%).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8.84, RMSE 11.72 EUR/MWh, correlation 0.773. </a:t>
            </a:r>
            <a:r>
              <a:rPr lang="en-US" sz="1500" b="1" dirty="0"/>
              <a:t xml:space="preserve">After the Oct zone split (like-for-like DE-LU): </a:t>
            </a:r>
            <a:r>
              <a:rPr lang="en-US" sz="1500" dirty="0"/>
              <a:t xml:space="preserve">correlation 0.847, MAE 8.25.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dirty="0"/>
              <a:t xml:space="preserve">Quality is comparable to DLR’s own published backtests – level, seasonal shape and spike timing match; spike magnitude is damped.</a:t>
            </a:r>
          </a:p>
        </p:txBody>
      </p:sp>
      <p:pic>
        <p:nvPicPr>
          <p:cNvPr id="900" name="Results chart 2018" descr="AMIRIS simulated vs real day-ahead price, Germany 2018"/>
          <p:cNvPicPr preferRelativeResize="0"/>
          <p:nvPr/>
        </p:nvPicPr>
        <p:blipFill rotWithShape="1">
          <a:blip r:embed="rIdRes18">
            <a:alphaModFix/>
          </a:blip>
          <a:srcRect/>
          <a:stretch/>
        </p:blipFill>
        <p:spPr>
          <a:xfrm>
            <a:off x="2396000" y="3400000"/>
            <a:ext cx="7400000" cy="2642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Multi-Year Backtest Results (2015–2019)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All five years now backtested: </a:t>
            </a:r>
            <a:r>
              <a:rPr lang="en-US" sz="1500" dirty="0"/>
              <a:t xml:space="preserve">identical run → extract → compare workflow repeated for Germany 2015–2017 and 2019, using amirispy and SMARD.de real prices for each year.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Best fit: </a:t>
            </a:r>
            <a:r>
              <a:rPr lang="en-US" sz="1500" dirty="0"/>
              <a:t xml:space="preserve">2016 and 2017 (MAE 4.96 / 5.70 EUR/MWh, correlation 0.83 / 0.87) – both clean single-zone years with no bidding-zone split.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Worst fit: </a:t>
            </a:r>
            <a:r>
              <a:rPr lang="en-US" sz="1500" dirty="0"/>
              <a:t xml:space="preserve">2018 (MAE 8.84, correlation 0.77) – the one year straddling the Oct 2018 DE-AT-LU → DE-LU zone split, confirming it as a genuine structural driver of error.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2019 holds up well: </a:t>
            </a:r>
            <a:r>
              <a:rPr lang="en-US" sz="1500" dirty="0"/>
              <a:t xml:space="preserve">MAE 5.37, correlation 0.857, despite being the most complex scenario (18 competing storage units) – added detail does not hurt the fit.</a:t>
            </a:r>
          </a:p>
        </p:txBody>
      </p:sp>
      <p:pic>
        <p:nvPicPr>
          <p:cNvPr id="736" name="Picture 735" descr="multiyea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794760"/>
            <a:ext cx="86868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Root-Cause Analysis: Two Confirmed Model Gaps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Holiday zero-price floor (confirmed): </a:t>
            </a:r>
            <a:r>
              <a:rPr lang="en-US" sz="1500" dirty="0"/>
              <a:t xml:space="preserve">on 1 Jan/1 May, renewable traders are genuinely curtailed yet still clear at exactly 0 EUR/MWh (real: −49 to −76) – their bid is fixed at zero variable cost, not negative, unlike nuclear/lignite which do have negative bid bands.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Feb cold-snap overshoot (confirmed): </a:t>
            </a:r>
            <a:r>
              <a:rPr lang="en-US" sz="1500" dirty="0"/>
              <a:t xml:space="preserve">checked CO2 price (–47% vs. annual avg), fuel prices (~normal) and outages (better than average) for 5–19 Feb – none explain the overshoot; the real driver is demand +14% above average with no cross-border import relief in this single-zone model.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Damped spikes: </a:t>
            </a:r>
            <a:r>
              <a:rPr lang="en-US" sz="1500" dirty="0"/>
              <a:t xml:space="preserve">spike timing correct but peak height undershot (e.g. 9 Oct 19:00: 62 vs. 110 EUR/MWh) – consistent with the same no-import-relief limitation.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Two distinct, independent model limitations, not one bug – both point to concrete, testable model changes.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Immediate Next Steps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Implement negative-bid experiment: </a:t>
            </a:r>
            <a:r>
              <a:rPr lang="en-US" sz="1600" dirty="0"/>
              <a:t xml:space="preserve">extend RenewableTrader/NoSupportTrader bidding to allow negative markups on curtailment hours; re-run Germany2018 and re-check the holiday duration-curve tail.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Cross-border sensitivity test: </a:t>
            </a:r>
            <a:r>
              <a:rPr lang="en-US" sz="1600" dirty="0"/>
              <a:t xml:space="preserve">add a simple net import/export adjustment to load for high-demand periods; re-test the Feb 2018 window to see if the overshoot shrinks.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Investigate 2015: </a:t>
            </a:r>
            <a:r>
              <a:rPr lang="en-US" sz="1600" dirty="0"/>
              <a:t xml:space="preserve">apply the same root-cause approach to its weaker (0.774) correlation, once a complete Jan 1–4 real-price series is available.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Writing: </a:t>
            </a:r>
            <a:r>
              <a:rPr lang="en-US" sz="1600" dirty="0"/>
              <a:t xml:space="preserve">draft the model description and methodology chapters now, using the five-year backtest as the core evidence base.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Remaining Timeline (~9 Weeks)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1–2  </a:t>
            </a:r>
            <a:r>
              <a:rPr lang="en-US" sz="1600" dirty="0"/>
              <a:t xml:space="preserve">Negative-price and cross-border experiments (multi-year backtests 2015–2019 completed ahead of schedule); model description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3–4  </a:t>
            </a:r>
            <a:r>
              <a:rPr lang="en-US" sz="1600" dirty="0"/>
              <a:t xml:space="preserve">Consolidate backtesting results; methodology chapter; obtain and verify Brainpool data.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5–6  </a:t>
            </a:r>
            <a:r>
              <a:rPr lang="en-US" sz="1600" dirty="0"/>
              <a:t xml:space="preserve">Benchmarking: AMIRIS vs. Brainpool vs. actuals for the agreed comparison year; results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7–8  </a:t>
            </a:r>
            <a:r>
              <a:rPr lang="en-US" sz="1600" dirty="0"/>
              <a:t xml:space="preserve">Discussion (substitution verdict), introduction, conclusion.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 9  </a:t>
            </a:r>
            <a:r>
              <a:rPr lang="en-US" sz="1600" dirty="0"/>
              <a:t xml:space="preserve">Formatting, references, final buffer (3–4 days reserved).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Writing rule: </a:t>
            </a:r>
            <a:r>
              <a:rPr lang="en-US" sz="1600" dirty="0"/>
              <a:t xml:space="preserve">~40% of total time on writing, distributed across all phases.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Inputs Needed Today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1. </a:t>
            </a:r>
            <a:r>
              <a:rPr lang="en-US" sz="1600" dirty="0"/>
              <a:t xml:space="preserve">Approval of the working title and the scoped plan (backtesting + one benchmarking year).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2. </a:t>
            </a:r>
            <a:r>
              <a:rPr lang="en-US" sz="1600" dirty="0"/>
              <a:t xml:space="preserve">Brainpool data: which years/vintages do we hold? Hourly or aggregated? Which scenario(s)? Real or nominal EUR? Format, access, licensing for thesis use?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3. </a:t>
            </a:r>
            <a:r>
              <a:rPr lang="en-US" sz="1600" dirty="0"/>
              <a:t xml:space="preserve">Which quantities does the Thuringia model actually consume – full hourly series or derived values (annual means, capture prices)? This selects the decisive metrics.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4. </a:t>
            </a:r>
            <a:r>
              <a:rPr lang="en-US" sz="1600" dirty="0"/>
              <a:t xml:space="preserve">Preferred comparison year – ideally a projected year that has since become the past, enabling the three-way test (AMIRIS vs. Brainpool vs. actuals).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5. </a:t>
            </a:r>
            <a:r>
              <a:rPr lang="en-US" sz="1600" dirty="0"/>
              <a:t xml:space="preserve">Check-in cadence – proposal: short bi-weekly progress updates.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4554746B-D50B-DA01-2F0C-00982D9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9CFAF782-B919-5199-03A6-6513C02AC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93472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b="1" dirty="0"/>
              <a:t>Summary &amp; Requests</a:t>
            </a: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D75122A6-3B79-1388-72E9-6E4FEDC7E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91263D3-DC0C-B93D-1088-FAA437FA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A3998-4944-D891-19F3-0A6BE866B853}"/>
              </a:ext>
            </a:extLst>
          </p:cNvPr>
          <p:cNvSpPr txBox="1"/>
          <p:nvPr/>
        </p:nvSpPr>
        <p:spPr>
          <a:xfrm>
            <a:off x="1160206" y="1873722"/>
            <a:ext cx="83672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/>
              <a:t xml:space="preserve">Working pipeline: </a:t>
            </a:r>
            <a:r>
              <a:rPr lang="en-US" sz="1600" dirty="0"/>
              <a:t xml:space="preserve">AMIRIS runs, real data merged, comparison tooling built and reusable – now validated across all five available years.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Five-year backtest complete: </a:t>
            </a:r>
            <a:r>
              <a:rPr lang="en-US" sz="1600" dirty="0"/>
              <a:t xml:space="preserve">correlation 0.77–0.87, best in 2016/2017, weakest in 2018 (confirmed: zone-split year) – quality comparable to DLR’s published backtests.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Two confirmed root causes: </a:t>
            </a:r>
            <a:r>
              <a:rPr lang="en-US" sz="1600" dirty="0"/>
              <a:t xml:space="preserve">renewable bidding cannot go negative (holiday events); no cross-border trade modelled (cold-snap overshoot) – concrete, testable fixes identified.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Requested today: </a:t>
            </a:r>
            <a:r>
              <a:rPr lang="en-US" sz="1600" dirty="0"/>
              <a:t xml:space="preserve">title approval, Brainpool data access and specification, choice of comparison year.</a:t>
            </a:r>
          </a:p>
        </p:txBody>
      </p:sp>
    </p:spTree>
    <p:extLst>
      <p:ext uri="{BB962C8B-B14F-4D97-AF65-F5344CB8AC3E}">
        <p14:creationId xmlns:p14="http://schemas.microsoft.com/office/powerpoint/2010/main" val="350387098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2015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33.06 vs. real 31.84 EUR/MWh – bias +1.22 EUR/MWh (≈3.8%).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6.64, RMSE 8.67 EUR/MWh, correlation 0.774.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Note: </a:t>
            </a:r>
            <a:r>
              <a:rPr lang="en-US" sz="1500" dirty="0"/>
              <a:t xml:space="preserve">Weakest correlation of the non-2018 years – a candidate for the same root-cause treatment applied to 2018 (see Next Steps). Real series starts 5 Jan (SMARD export gap).</a:t>
            </a:r>
          </a:p>
        </p:txBody>
      </p:sp>
      <p:pic>
        <p:nvPicPr>
          <p:cNvPr id="736" name="Picture 735" descr="price_comparison_2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2016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29.16 vs. real 28.96 EUR/MWh – bias +0.19 EUR/MWh (≈0.7%).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4.96, RMSE 6.92 EUR/MWh, correlation 0.833.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Note: </a:t>
            </a:r>
            <a:r>
              <a:rPr lang="en-US" sz="1500" dirty="0"/>
              <a:t xml:space="preserve">Best absolute-error fit of all five years – a clean, single-zone, no-split year.</a:t>
            </a:r>
          </a:p>
        </p:txBody>
      </p:sp>
      <p:pic>
        <p:nvPicPr>
          <p:cNvPr id="736" name="Picture 735" descr="price_comparison_2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2017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35.32 vs. real 34.20 EUR/MWh – bias +1.12 EUR/MWh (≈3.3%).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5.70, RMSE 8.76 EUR/MWh, correlation 0.871.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Note: </a:t>
            </a:r>
            <a:r>
              <a:rPr lang="en-US" sz="1500" dirty="0"/>
              <a:t xml:space="preserve">Highest correlation of all five years, despite this scenario covering the Jan 2017 'Kalte Dunkelflaute' cold-and-calm event.</a:t>
            </a:r>
          </a:p>
        </p:txBody>
      </p:sp>
      <p:pic>
        <p:nvPicPr>
          <p:cNvPr id="736" name="Picture 735" descr="price_comparison_2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2019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37.98 vs. real 37.67 EUR/MWh – bias +0.31 EUR/MWh (≈0.8%).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5.37, RMSE 8.01 EUR/MWh, correlation 0.857.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Note: </a:t>
            </a:r>
            <a:r>
              <a:rPr lang="en-US" sz="1500" dirty="0"/>
              <a:t xml:space="preserve">Most structurally complex scenario (18 competing storage units, split must-run/outage inputs) – yet fits nearly as well as 2016/2017.</a:t>
            </a:r>
          </a:p>
        </p:txBody>
      </p:sp>
      <p:pic>
        <p:nvPicPr>
          <p:cNvPr id="736" name="Picture 735" descr="price_comparison_2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28</Words>
  <Application>Microsoft Office PowerPoint</Application>
  <PresentationFormat>Widescreen</PresentationFormat>
  <Paragraphs>22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Inter Tight SemiBold</vt:lpstr>
      <vt:lpstr>Calibri Light</vt:lpstr>
      <vt:lpstr>Wingdings</vt:lpstr>
      <vt:lpstr>Inter Tight</vt:lpstr>
      <vt:lpstr>Inter Tight Medium</vt:lpstr>
      <vt:lpstr>Office Theme</vt:lpstr>
      <vt:lpstr>Lesson 1</vt:lpstr>
      <vt:lpstr>Office Theme</vt:lpstr>
      <vt:lpstr>SDG NAME</vt:lpstr>
      <vt:lpstr>Indicator</vt:lpstr>
      <vt:lpstr>heading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Assessment(LCA) Impact Categories</dc:title>
  <dc:creator>Shubham Brahmkshatriy</dc:creator>
  <cp:lastModifiedBy>Syed Hussain Danish</cp:lastModifiedBy>
  <cp:revision>765</cp:revision>
  <dcterms:created xsi:type="dcterms:W3CDTF">2025-05-17T19:08:11Z</dcterms:created>
  <dcterms:modified xsi:type="dcterms:W3CDTF">2026-06-19T14:56:58Z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77A5A772DBAE41BDA729E1F1C6215462_12</vt:lpwstr>
  </property>
  <property fmtid="{D5CDD505-2E9C-101B-9397-08002B2CF9AE}" pid="3" name="KSOProductBuildVer">
    <vt:lpwstr>2057-12.2.0.20796</vt:lpwstr>
  </property>
</Properties>
</file>