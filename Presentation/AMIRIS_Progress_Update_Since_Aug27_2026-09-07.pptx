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306" r:id="rId56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  <p:sldId id="295" r:id="rId45"/>
    <p:sldId id="296" r:id="rId46"/>
    <p:sldId id="297" r:id="rId47"/>
    <p:sldId id="298" r:id="rId48"/>
    <p:sldId id="299" r:id="rId49"/>
    <p:sldId id="300" r:id="rId50"/>
    <p:sldId id="301" r:id="rId51"/>
    <p:sldId id="302" r:id="rId52"/>
    <p:sldId id="303" r:id="rId53"/>
    <p:sldId id="304" r:id="rId54"/>
    <p:sldId id="305" r:id="rId55"/>
    <p:sldId id="274" r:id="rId20"/>
    <p:sldId id="275" r:id="rId21"/>
    <p:sldId id="276" r:id="rId22"/>
    <p:sldId id="277" r:id="rId2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850" y="6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20" Type="http://schemas.openxmlformats.org/officeDocument/2006/relationships/slide" Target="slides/slide47.xml"/><Relationship Id="rId21" Type="http://schemas.openxmlformats.org/officeDocument/2006/relationships/slide" Target="slides/slide48.xml"/><Relationship Id="rId22" Type="http://schemas.openxmlformats.org/officeDocument/2006/relationships/slide" Target="slides/slide49.xml"/><Relationship Id="rId23" Type="http://schemas.openxmlformats.org/officeDocument/2006/relationships/slide" Target="slides/slide50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Relationship Id="rId28" Type="http://schemas.openxmlformats.org/officeDocument/2006/relationships/slide" Target="slides/slide19.xml"/><Relationship Id="rId29" Type="http://schemas.openxmlformats.org/officeDocument/2006/relationships/slide" Target="slides/slide20.xml"/><Relationship Id="rId30" Type="http://schemas.openxmlformats.org/officeDocument/2006/relationships/slide" Target="slides/slide21.xml"/><Relationship Id="rId31" Type="http://schemas.openxmlformats.org/officeDocument/2006/relationships/slide" Target="slides/slide22.xml"/><Relationship Id="rId32" Type="http://schemas.openxmlformats.org/officeDocument/2006/relationships/slide" Target="slides/slide23.xml"/><Relationship Id="rId33" Type="http://schemas.openxmlformats.org/officeDocument/2006/relationships/slide" Target="slides/slide24.xml"/><Relationship Id="rId34" Type="http://schemas.openxmlformats.org/officeDocument/2006/relationships/slide" Target="slides/slide25.xml"/><Relationship Id="rId35" Type="http://schemas.openxmlformats.org/officeDocument/2006/relationships/slide" Target="slides/slide26.xml"/><Relationship Id="rId36" Type="http://schemas.openxmlformats.org/officeDocument/2006/relationships/slide" Target="slides/slide27.xml"/><Relationship Id="rId37" Type="http://schemas.openxmlformats.org/officeDocument/2006/relationships/slide" Target="slides/slide28.xml"/><Relationship Id="rId38" Type="http://schemas.openxmlformats.org/officeDocument/2006/relationships/slide" Target="slides/slide29.xml"/><Relationship Id="rId39" Type="http://schemas.openxmlformats.org/officeDocument/2006/relationships/slide" Target="slides/slide30.xml"/><Relationship Id="rId40" Type="http://schemas.openxmlformats.org/officeDocument/2006/relationships/slide" Target="slides/slide31.xml"/><Relationship Id="rId41" Type="http://schemas.openxmlformats.org/officeDocument/2006/relationships/slide" Target="slides/slide32.xml"/><Relationship Id="rId42" Type="http://schemas.openxmlformats.org/officeDocument/2006/relationships/slide" Target="slides/slide33.xml"/><Relationship Id="rId43" Type="http://schemas.openxmlformats.org/officeDocument/2006/relationships/slide" Target="slides/slide34.xml"/><Relationship Id="rId44" Type="http://schemas.openxmlformats.org/officeDocument/2006/relationships/slide" Target="slides/slide35.xml"/><Relationship Id="rId45" Type="http://schemas.openxmlformats.org/officeDocument/2006/relationships/slide" Target="slides/slide36.xml"/><Relationship Id="rId46" Type="http://schemas.openxmlformats.org/officeDocument/2006/relationships/slide" Target="slides/slide37.xml"/><Relationship Id="rId47" Type="http://schemas.openxmlformats.org/officeDocument/2006/relationships/slide" Target="slides/slide38.xml"/><Relationship Id="rId48" Type="http://schemas.openxmlformats.org/officeDocument/2006/relationships/slide" Target="slides/slide39.xml"/><Relationship Id="rId49" Type="http://schemas.openxmlformats.org/officeDocument/2006/relationships/slide" Target="slides/slide40.xml"/><Relationship Id="rId50" Type="http://schemas.openxmlformats.org/officeDocument/2006/relationships/slide" Target="slides/slide41.xml"/><Relationship Id="rId51" Type="http://schemas.openxmlformats.org/officeDocument/2006/relationships/slide" Target="slides/slide42.xml"/><Relationship Id="rId52" Type="http://schemas.openxmlformats.org/officeDocument/2006/relationships/slide" Target="slides/slide43.xml"/><Relationship Id="rId53" Type="http://schemas.openxmlformats.org/officeDocument/2006/relationships/slide" Target="slides/slide44.xml"/><Relationship Id="rId54" Type="http://schemas.openxmlformats.org/officeDocument/2006/relationships/slide" Target="slides/slide45.xml"/><Relationship Id="rId55" Type="http://schemas.openxmlformats.org/officeDocument/2006/relationships/slide" Target="slides/slide46.xml"/><Relationship Id="rId56" Type="http://schemas.openxmlformats.org/officeDocument/2006/relationships/slide" Target="slides/slide5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A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31346" y="1139559"/>
            <a:ext cx="11192059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1F3A4D"/>
                </a:solidFill>
              </a:defRPr>
            </a:pPr>
            <a:r>
              <a:t>AMIRIS Progress Update</a:t>
            </a:r>
            <a:endParaRPr dirty="0"/>
          </a:p>
          <a:p>
            <a:pPr>
              <a:defRPr sz="2000" i="1">
                <a:solidFill>
                  <a:srgbClr val="5A605C"/>
                </a:solidFill>
              </a:defRPr>
            </a:pPr>
            <a:r>
              <a:t>What's Changed Since the 27 August Supervisor Meeting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429768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D2D9DF"/>
                </a:solidFill>
              </a:defRPr>
            </a:pPr>
            <a:r>
              <a:t>Supervisor: Rohith Krishnan Bala Krishnan</a:t>
            </a:r>
          </a:p>
          <a:p>
            <a:pPr>
              <a:spcAft>
                <a:spcPts val="600"/>
              </a:spcAft>
              <a:defRPr sz="1600">
                <a:solidFill>
                  <a:srgbClr val="D2D9DF"/>
                </a:solidFill>
              </a:defRPr>
            </a:pPr>
            <a:r>
              <a:t>Presented by: Muideen Oladayo Ajiboye (471583)</a:t>
            </a:r>
          </a:p>
          <a:p>
            <a:pPr>
              <a:spcAft>
                <a:spcPts val="600"/>
              </a:spcAft>
              <a:defRPr sz="1600">
                <a:solidFill>
                  <a:srgbClr val="D2D9DF"/>
                </a:solidFill>
              </a:defRPr>
            </a:pPr>
            <a:r>
              <a:t>Date: 27 August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3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73152" rtlCol="0" anchor="ctr"/>
          <a:lstStyle/>
          <a:p>
            <a:pPr algn="ctr">
              <a:defRPr sz="2800" b="1">
                <a:solidFill>
                  <a:srgbClr val="1F3A4D"/>
                </a:solidFill>
              </a:defRPr>
            </a:pPr>
            <a:r>
              <a:t>Agenda - Since 27 August</a:t>
            </a:r>
          </a:p>
          <a:p>
            <a:pPr>
              <a:spcAft>
                <a:spcPts val="1000"/>
              </a:spcAft>
              <a:defRPr sz="2000">
                <a:solidFill>
                  <a:srgbClr val="1E2220"/>
                </a:solidFill>
              </a:defRPr>
            </a:pPr>
            <a:r>
              <a:t>•  Quick recap: where we left off</a:t>
            </a:r>
          </a:p>
          <a:p>
            <a:pPr>
              <a:spcAft>
                <a:spcPts val="1000"/>
              </a:spcAft>
              <a:defRPr sz="2000">
                <a:solidFill>
                  <a:srgbClr val="1E2220"/>
                </a:solidFill>
              </a:defRPr>
            </a:pPr>
            <a:r>
              <a:t>•  Out-of-sample testing and a genuine bug fix</a:t>
            </a:r>
          </a:p>
          <a:p>
            <a:pPr>
              <a:spcAft>
                <a:spcPts val="1000"/>
              </a:spcAft>
              <a:defRPr sz="2000">
                <a:solidFill>
                  <a:srgbClr val="1E2220"/>
                </a:solidFill>
              </a:defRPr>
            </a:pPr>
            <a:r>
              <a:t>•  Three more ideas tested (price floor, cycling cost, lignite markup)</a:t>
            </a:r>
          </a:p>
          <a:p>
            <a:pPr>
              <a:spcAft>
                <a:spcPts val="1000"/>
              </a:spcAft>
              <a:defRPr sz="2000">
                <a:solidFill>
                  <a:srgbClr val="1E2220"/>
                </a:solidFill>
              </a:defRPr>
            </a:pPr>
            <a:r>
              <a:t>•  The big build: real cross-border market coupling</a:t>
            </a:r>
          </a:p>
          <a:p>
            <a:pPr>
              <a:spcAft>
                <a:spcPts val="1000"/>
              </a:spcAft>
              <a:defRPr sz="2000">
                <a:solidFill>
                  <a:srgbClr val="1E2220"/>
                </a:solidFill>
              </a:defRPr>
            </a:pPr>
            <a:r>
              <a:t>•  Extending to 2028 and 2029</a:t>
            </a:r>
          </a:p>
          <a:p>
            <a:pPr>
              <a:spcAft>
                <a:spcPts val="1000"/>
              </a:spcAft>
              <a:defRPr sz="2000">
                <a:solidFill>
                  <a:srgbClr val="1E2220"/>
                </a:solidFill>
              </a:defRPr>
            </a:pPr>
            <a:r>
              <a:t>•  Chasing the last gap: four more real tests</a:t>
            </a:r>
          </a:p>
          <a:p>
            <a:pPr>
              <a:spcAft>
                <a:spcPts val="1000"/>
              </a:spcAft>
              <a:defRPr sz="2000">
                <a:solidFill>
                  <a:srgbClr val="1E2220"/>
                </a:solidFill>
              </a:defRPr>
            </a:pPr>
            <a:r>
              <a:t>•  Where we stand now, and 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551615" y="6446520"/>
            <a:ext cx="457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A605C"/>
                </a:solidFill>
              </a:defRPr>
            </a:pPr>
            <a: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1115568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t>•  Tasks from the last meeting - status update</a:t>
            </a:r>
          </a:p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t>•  What we've done since: building, testing, and validating the Germany 2027 model</a:t>
            </a:r>
          </a:p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t>•  Where things stand now</a:t>
            </a:r>
          </a:p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t>•  Next steps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60120"/>
          </a:xfrm>
          <a:prstGeom prst="rect">
            <a:avLst/>
          </a:prstGeom>
          <a:solidFill>
            <a:srgbClr val="1F3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73152" wrap="square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Out-of-Sample Testing: What We Found</a:t>
            </a:r>
          </a:p>
          <a:p>
            <a:pPr>
              <a:defRPr sz="1400">
                <a:solidFill>
                  <a:srgbClr val="C8D2DA"/>
                </a:solidFill>
              </a:defRPr>
            </a:pPr>
            <a:r>
              <a:t>Using Brainpool's newly-supplied 2027-2029 data file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551920" y="6446520"/>
            <a:ext cx="457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A605C"/>
                </a:solidFill>
              </a:defRPr>
            </a:pPr>
            <a:r>
              <a:t>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1115568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t>•  Built Germany 2028 and 2029 the exact same way as 2027 - zero re-tuning of any setting</a:t>
            </a:r>
          </a:p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t>•  Goal: does the model still work on years it wasn't built for?</a:t>
            </a:r>
          </a:p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t>•  Price LEVEL held up well in both new years (average price, average error stayed close)</a:t>
            </a:r>
          </a:p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t>•  But hour-to-hour matching quality dropped the further from 2027:</a:t>
            </a:r>
          </a:p>
          <a:p>
            <a:pPr>
              <a:spcAft>
                <a:spcPts val="600"/>
              </a:spcAft>
              <a:defRPr sz="1600" b="0">
                <a:solidFill>
                  <a:srgbClr val="5A605C"/>
                </a:solidFill>
              </a:defRPr>
            </a:pPr>
            <a:r>
              <a:t>‒  2027 (tuned for): r = 0.647</a:t>
            </a:r>
          </a:p>
          <a:p>
            <a:pPr>
              <a:spcAft>
                <a:spcPts val="600"/>
              </a:spcAft>
              <a:defRPr sz="1600" b="0">
                <a:solidFill>
                  <a:srgbClr val="5A605C"/>
                </a:solidFill>
              </a:defRPr>
            </a:pPr>
            <a:r>
              <a:t>‒  2028 (never tuned for): r = 0.446</a:t>
            </a:r>
          </a:p>
          <a:p>
            <a:pPr>
              <a:spcAft>
                <a:spcPts val="600"/>
              </a:spcAft>
              <a:defRPr sz="1600" b="0">
                <a:solidFill>
                  <a:srgbClr val="5A605C"/>
                </a:solidFill>
              </a:defRPr>
            </a:pPr>
            <a:r>
              <a:t>‒  2029 (never tuned for): r = 0.349</a:t>
            </a:r>
          </a:p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t>•  This gap became the focus of the next round of investigation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60120"/>
          </a:xfrm>
          <a:prstGeom prst="rect">
            <a:avLst/>
          </a:prstGeom>
          <a:solidFill>
            <a:srgbClr val="1F3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73152" wrap="square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How We Found the Cause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551920" y="6446520"/>
            <a:ext cx="457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A605C"/>
                </a:solidFill>
              </a:defRPr>
            </a:pPr>
            <a:r>
              <a:t>5</a:t>
            </a:r>
          </a:p>
        </p:txBody>
      </p:sp>
      <p:pic>
        <p:nvPicPr>
          <p:cNvPr id="4" name="Picture 3" descr="chart_weekday_bu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62721" y="1188720"/>
            <a:ext cx="8436077" cy="47548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61722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i="1">
                <a:solidFill>
                  <a:srgbClr val="5A605C"/>
                </a:solidFill>
              </a:defRPr>
            </a:pPr>
            <a:r>
              <a:t>Real electricity demand should be highest on weekdays, lowest on Sunday - our model's 2029 demand had this backwards on two days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60120"/>
          </a:xfrm>
          <a:prstGeom prst="rect">
            <a:avLst/>
          </a:prstGeom>
          <a:solidFill>
            <a:srgbClr val="1F3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73152" wrap="square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The Root Cause: A Hidden Calendar Bug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551920" y="6446520"/>
            <a:ext cx="457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A605C"/>
                </a:solidFill>
              </a:defRPr>
            </a:pPr>
            <a:r>
              <a:t>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1115568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t>•  Our demand shape borrows a real year's usage pattern (2016) and trims it to fit the target year</a:t>
            </a:r>
          </a:p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t>•  2016 has one extra day (leap year) that must be removed to fit a normal year</a:t>
            </a:r>
          </a:p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t>•  The extra day removed was February 29th - sitting in the MIDDLE of the year</a:t>
            </a:r>
          </a:p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t>•  Removing a day from the middle silently shifts every day after it by one weekday, for the rest of the year (10 of 12 months)</a:t>
            </a:r>
          </a:p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t>•  This bug had been present in our main 2027 model since it was first built - only found now</a:t>
            </a:r>
          </a:p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t>•  The fix: remove December 31st instead - it sits at the END of the year, so nothing after it is disturbed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60120"/>
          </a:xfrm>
          <a:prstGeom prst="rect">
            <a:avLst/>
          </a:prstGeom>
          <a:solidFill>
            <a:srgbClr val="1F3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73152" wrap="square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Result: A Clean, Genuine Improvement</a:t>
            </a:r>
          </a:p>
          <a:p>
            <a:pPr>
              <a:defRPr sz="1400">
                <a:solidFill>
                  <a:srgbClr val="C8D2DA"/>
                </a:solidFill>
              </a:defRPr>
            </a:pPr>
            <a:r>
              <a:t>Both accuracy AND average error improved together, with almost no downside - a genuine bug fix, not a trade-off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551920" y="6446520"/>
            <a:ext cx="457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A605C"/>
                </a:solidFill>
              </a:defRPr>
            </a:pPr>
            <a:r>
              <a:t>7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463040"/>
          <a:ext cx="10789920" cy="32918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0"/>
                <a:gridCol w="3108960"/>
                <a:gridCol w="3108960"/>
              </a:tblGrid>
              <a:tr h="548639">
                <a:tc>
                  <a:txBody>
                    <a:bodyPr/>
                    <a:lstStyle/>
                    <a:p>
                      <a:pPr algn="ctr">
                        <a:defRPr b="1" sz="1500">
                          <a:solidFill>
                            <a:srgbClr val="FFFFFF"/>
                          </a:solidFill>
                        </a:defRPr>
                      </a:pPr>
                    </a:p>
                  </a:txBody>
                  <a:tcPr>
                    <a:solidFill>
                      <a:srgbClr val="1F3A4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500">
                          <a:solidFill>
                            <a:srgbClr val="FFFFFF"/>
                          </a:solidFill>
                        </a:defRPr>
                      </a:pPr>
                      <a:r>
                        <a:t>2027</a:t>
                      </a:r>
                    </a:p>
                  </a:txBody>
                  <a:tcPr>
                    <a:solidFill>
                      <a:srgbClr val="1F3A4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500">
                          <a:solidFill>
                            <a:srgbClr val="FFFFFF"/>
                          </a:solidFill>
                        </a:defRPr>
                      </a:pPr>
                      <a:r>
                        <a:t>2029</a:t>
                      </a:r>
                    </a:p>
                  </a:txBody>
                  <a:tcPr>
                    <a:solidFill>
                      <a:srgbClr val="1F3A4D"/>
                    </a:solidFill>
                  </a:tcPr>
                </a:tc>
              </a:tr>
              <a:tr h="548639"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1E2220"/>
                          </a:solidFill>
                        </a:defRPr>
                      </a:pPr>
                      <a:r>
                        <a:t>Correlation - before fix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1E2220"/>
                          </a:solidFill>
                        </a:defRPr>
                      </a:pPr>
                      <a:r>
                        <a:t>0.647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1E2220"/>
                          </a:solidFill>
                        </a:defRPr>
                      </a:pPr>
                      <a:r>
                        <a:t>0.349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8639"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1E2220"/>
                          </a:solidFill>
                        </a:defRPr>
                      </a:pPr>
                      <a:r>
                        <a:t>Correlation - after fix</a:t>
                      </a:r>
                    </a:p>
                  </a:txBody>
                  <a:tcPr>
                    <a:solidFill>
                      <a:srgbClr val="EEF0E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1E2220"/>
                          </a:solidFill>
                        </a:defRPr>
                      </a:pPr>
                      <a:r>
                        <a:t>0.675</a:t>
                      </a:r>
                    </a:p>
                  </a:txBody>
                  <a:tcPr>
                    <a:solidFill>
                      <a:srgbClr val="EEF0E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1E2220"/>
                          </a:solidFill>
                        </a:defRPr>
                      </a:pPr>
                      <a:r>
                        <a:t>0.446</a:t>
                      </a:r>
                    </a:p>
                  </a:txBody>
                  <a:tcPr>
                    <a:solidFill>
                      <a:srgbClr val="EEF0E9"/>
                    </a:solidFill>
                  </a:tcPr>
                </a:tc>
              </a:tr>
              <a:tr h="548639"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1E2220"/>
                          </a:solidFill>
                        </a:defRPr>
                      </a:pPr>
                      <a:r>
                        <a:t>Average error - before fix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1E2220"/>
                          </a:solidFill>
                        </a:defRPr>
                      </a:pPr>
                      <a:r>
                        <a:t>28.19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1E2220"/>
                          </a:solidFill>
                        </a:defRPr>
                      </a:pPr>
                      <a:r>
                        <a:t>29.59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8639"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1E2220"/>
                          </a:solidFill>
                        </a:defRPr>
                      </a:pPr>
                      <a:r>
                        <a:t>Average error - after fix</a:t>
                      </a:r>
                    </a:p>
                  </a:txBody>
                  <a:tcPr>
                    <a:solidFill>
                      <a:srgbClr val="EEF0E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1E2220"/>
                          </a:solidFill>
                        </a:defRPr>
                      </a:pPr>
                      <a:r>
                        <a:t>26.91</a:t>
                      </a:r>
                    </a:p>
                  </a:txBody>
                  <a:tcPr>
                    <a:solidFill>
                      <a:srgbClr val="EEF0E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1E2220"/>
                          </a:solidFill>
                        </a:defRPr>
                      </a:pPr>
                      <a:r>
                        <a:t>29.14</a:t>
                      </a:r>
                    </a:p>
                  </a:txBody>
                  <a:tcPr>
                    <a:solidFill>
                      <a:srgbClr val="EEF0E9"/>
                    </a:solidFill>
                  </a:tcPr>
                </a:tc>
              </a:tr>
              <a:tr h="548644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1E2220"/>
                          </a:solidFill>
                        </a:defRPr>
                      </a:pPr>
                      <a:r>
                        <a:t>Improvement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3A6B47"/>
                          </a:solidFill>
                        </a:defRPr>
                      </a:pPr>
                      <a:r>
                        <a:t>Both up together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3A6B47"/>
                          </a:solidFill>
                        </a:defRPr>
                      </a:pPr>
                      <a:r>
                        <a:t>Both up together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60120"/>
          </a:xfrm>
          <a:prstGeom prst="rect">
            <a:avLst/>
          </a:prstGeom>
          <a:solidFill>
            <a:srgbClr val="1F3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73152" wrap="square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A Cheaper Idea First: Can We Just Cap How Negative Price Goes?</a:t>
            </a:r>
          </a:p>
          <a:p>
            <a:pPr>
              <a:defRPr sz="1400">
                <a:solidFill>
                  <a:srgbClr val="C8D2DA"/>
                </a:solidFill>
              </a:defRPr>
            </a:pPr>
            <a:r>
              <a:t>A supervisor-suggested quick test, before the bigger investment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551920" y="6446520"/>
            <a:ext cx="457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A605C"/>
                </a:solidFill>
              </a:defRPr>
            </a:pPr>
            <a:r>
              <a:t>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1115568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t>•  Before committing to the much bigger cross-border export/market-coupling build, tested a smaller idea first</a:t>
            </a:r>
          </a:p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t>•  Our model reports very negative prices in summer (too much solar/wind) far more often than Brainpool's real forecast does</a:t>
            </a:r>
          </a:p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t>•  Question: what if we simply limited how negative AMIRIS is allowed to report a price - would that alone close some of the correlation gap?</a:t>
            </a:r>
          </a:p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t>•  First step: check whether this is even something we can configure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60120"/>
          </a:xfrm>
          <a:prstGeom prst="rect">
            <a:avLst/>
          </a:prstGeom>
          <a:solidFill>
            <a:srgbClr val="1F3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73152" wrap="square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What We Found: The Floor Already Exists - Inside AMIRIS Itself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551920" y="6446520"/>
            <a:ext cx="457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A605C"/>
                </a:solidFill>
              </a:defRPr>
            </a:pPr>
            <a:r>
              <a:t>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1115568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t>•  Opened up AMIRIS's actual underlying program (not just our settings file) to check</a:t>
            </a:r>
          </a:p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t>•  Found AMIRIS already has a hard limit: -500 EUR/MWh, built directly into the program's core</a:t>
            </a:r>
          </a:p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t>•  This isn't arbitrary - it matches the real limit used by Europe's actual electricity exchanges</a:t>
            </a:r>
          </a:p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t>•  It is NOT something we can change from our scenario settings - changing it means editing and rebuilding AMIRIS's own program, a much bigger step</a:t>
            </a:r>
          </a:p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t>•  So a smaller, faster test was run first: adjust the REPORTED price after the fact, purely to see if a different limit was even worth the bigger effort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60120"/>
          </a:xfrm>
          <a:prstGeom prst="rect">
            <a:avLst/>
          </a:prstGeom>
          <a:solidFill>
            <a:srgbClr val="1F3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73152" wrap="square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Testing Every Floor From -500 to +100 EUR/MWh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551920" y="6446520"/>
            <a:ext cx="457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A605C"/>
                </a:solidFill>
              </a:defRPr>
            </a:pPr>
            <a:r>
              <a:t>10</a:t>
            </a:r>
          </a:p>
        </p:txBody>
      </p:sp>
      <p:pic>
        <p:nvPicPr>
          <p:cNvPr id="4" name="Picture 3" descr="floor_sweep_correl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4460" y="1188720"/>
            <a:ext cx="8352598" cy="47548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61722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i="1">
                <a:solidFill>
                  <a:srgbClr val="5A605C"/>
                </a:solidFill>
              </a:defRPr>
            </a:pPr>
            <a:r>
              <a:t>Top: match quality (correlation) barely moves across most of the range, then gets worse. Bottom: average price gap improves toward the floor, then overshoots badly past about +30.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60120"/>
          </a:xfrm>
          <a:prstGeom prst="rect">
            <a:avLst/>
          </a:prstGeom>
          <a:solidFill>
            <a:srgbClr val="1F3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73152" wrap="square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Result: Confirmed Dead End - Including the Suggested +10 EUR/MWh</a:t>
            </a:r>
          </a:p>
          <a:p>
            <a:pPr>
              <a:defRPr sz="1400">
                <a:solidFill>
                  <a:srgbClr val="C8D2DA"/>
                </a:solidFill>
              </a:defRPr>
            </a:pPr>
            <a:r>
              <a:t>Match-quality score (correlation) for each cap tested - higher is better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551920" y="6446520"/>
            <a:ext cx="457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A605C"/>
                </a:solidFill>
              </a:defRPr>
            </a:pPr>
            <a:r>
              <a:t>11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371600"/>
          <a:ext cx="12984480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754880"/>
                <a:gridCol w="2743200"/>
                <a:gridCol w="2743200"/>
                <a:gridCol w="2743200"/>
              </a:tblGrid>
              <a:tr h="502920"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FFFFF"/>
                          </a:solidFill>
                        </a:defRPr>
                      </a:pPr>
                    </a:p>
                  </a:txBody>
                  <a:tcPr>
                    <a:solidFill>
                      <a:srgbClr val="1F3A4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2027</a:t>
                      </a:r>
                    </a:p>
                  </a:txBody>
                  <a:tcPr>
                    <a:solidFill>
                      <a:srgbClr val="1F3A4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2028</a:t>
                      </a:r>
                    </a:p>
                  </a:txBody>
                  <a:tcPr>
                    <a:solidFill>
                      <a:srgbClr val="1F3A4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2029</a:t>
                      </a:r>
                    </a:p>
                  </a:txBody>
                  <a:tcPr>
                    <a:solidFill>
                      <a:srgbClr val="1F3A4D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E2220"/>
                          </a:solidFill>
                        </a:defRPr>
                      </a:pPr>
                      <a:r>
                        <a:t>Current model (no cap)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E2220"/>
                          </a:solidFill>
                        </a:defRPr>
                      </a:pPr>
                      <a:r>
                        <a:t>0.515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E2220"/>
                          </a:solidFill>
                        </a:defRPr>
                      </a:pPr>
                      <a:r>
                        <a:t>0.394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E2220"/>
                          </a:solidFill>
                        </a:defRPr>
                      </a:pPr>
                      <a:r>
                        <a:t>0.475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E2220"/>
                          </a:solidFill>
                        </a:defRPr>
                      </a:pPr>
                      <a:r>
                        <a:t>Best negative cap found (-50)</a:t>
                      </a:r>
                    </a:p>
                  </a:txBody>
                  <a:tcPr>
                    <a:solidFill>
                      <a:srgbClr val="EEF0E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E2220"/>
                          </a:solidFill>
                        </a:defRPr>
                      </a:pPr>
                      <a:r>
                        <a:t>0.515</a:t>
                      </a:r>
                    </a:p>
                  </a:txBody>
                  <a:tcPr>
                    <a:solidFill>
                      <a:srgbClr val="EEF0E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E2220"/>
                          </a:solidFill>
                        </a:defRPr>
                      </a:pPr>
                      <a:r>
                        <a:t>0.396</a:t>
                      </a:r>
                    </a:p>
                  </a:txBody>
                  <a:tcPr>
                    <a:solidFill>
                      <a:srgbClr val="EEF0E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E2220"/>
                          </a:solidFill>
                        </a:defRPr>
                      </a:pPr>
                      <a:r>
                        <a:t>0.475</a:t>
                      </a:r>
                    </a:p>
                  </a:txBody>
                  <a:tcPr>
                    <a:solidFill>
                      <a:srgbClr val="EEF0E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E2220"/>
                          </a:solidFill>
                        </a:defRPr>
                      </a:pPr>
                      <a:r>
                        <a:t>Cap at +10 EUR/MWh (tested directly)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E2220"/>
                          </a:solidFill>
                        </a:defRPr>
                      </a:pPr>
                      <a:r>
                        <a:t>0.444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E2220"/>
                          </a:solidFill>
                        </a:defRPr>
                      </a:pPr>
                      <a:r>
                        <a:t>0.354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E2220"/>
                          </a:solidFill>
                        </a:defRPr>
                      </a:pPr>
                      <a:r>
                        <a:t>0.461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1E2220"/>
                          </a:solidFill>
                        </a:defRPr>
                      </a:pPr>
                      <a:r>
                        <a:t>Cap at +100 EUR/MWh</a:t>
                      </a:r>
                    </a:p>
                  </a:txBody>
                  <a:tcPr>
                    <a:solidFill>
                      <a:srgbClr val="EEF0E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963C28"/>
                          </a:solidFill>
                        </a:defRPr>
                      </a:pPr>
                      <a:r>
                        <a:t>0.096</a:t>
                      </a:r>
                    </a:p>
                  </a:txBody>
                  <a:tcPr>
                    <a:solidFill>
                      <a:srgbClr val="EEF0E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963C28"/>
                          </a:solidFill>
                        </a:defRPr>
                      </a:pPr>
                      <a:r>
                        <a:t>0.100</a:t>
                      </a:r>
                    </a:p>
                  </a:txBody>
                  <a:tcPr>
                    <a:solidFill>
                      <a:srgbClr val="EEF0E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963C28"/>
                          </a:solidFill>
                        </a:defRPr>
                      </a:pPr>
                      <a:r>
                        <a:t>0.396</a:t>
                      </a:r>
                    </a:p>
                  </a:txBody>
                  <a:tcPr>
                    <a:solidFill>
                      <a:srgbClr val="EEF0E9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069080"/>
            <a:ext cx="1088136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i="1">
                <a:solidFill>
                  <a:srgbClr val="5A605C"/>
                </a:solidFill>
              </a:defRPr>
            </a:pPr>
            <a:r>
              <a:t>No cap value, in either direction, improves match quality - a real, capped result at +10 makes it clearly worse. Confirmed: the bigger cross-border export/market-coupling build remains the most promising next step.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60120"/>
          </a:xfrm>
          <a:prstGeom prst="rect">
            <a:avLst/>
          </a:prstGeom>
          <a:solidFill>
            <a:srgbClr val="1F3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73152" wrap="square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A Follow-Up Idea: Give Power Plants a Real Start-Up Cost</a:t>
            </a:r>
          </a:p>
          <a:p>
            <a:pPr>
              <a:defRPr sz="1400">
                <a:solidFill>
                  <a:srgbClr val="C8D2DA"/>
                </a:solidFill>
              </a:defRPr>
            </a:pPr>
            <a:r>
              <a:t>A genuine mechanism this time, not a cosmetic cap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551920" y="6446520"/>
            <a:ext cx="457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A605C"/>
                </a:solidFill>
              </a:defRPr>
            </a:pPr>
            <a:r>
              <a:t>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1115568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t>•  Our model goes negative far more often than Brainpool's real forecast (18-20% of hours vs. under 1%)</a:t>
            </a:r>
          </a:p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t>•  Idea: real power plants incur a real cost to shut down and restart - so they sometimes prefer to keep running even at a negative price, rather than switch off</a:t>
            </a:r>
          </a:p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t>•  Our model currently gives every plant a shut-down/restart cost of exactly zero - no real reason to avoid shutting off</a:t>
            </a:r>
          </a:p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t>•  Unlike the price-cap idea, this is a genuine real-world mechanism, not an artificial adjustment - worth testing properly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60120"/>
          </a:xfrm>
          <a:prstGeom prst="rect">
            <a:avLst/>
          </a:prstGeom>
          <a:solidFill>
            <a:srgbClr val="1F3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73152" wrap="square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What We Did: Sourced a Real Number, Built a Real Test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551920" y="6446520"/>
            <a:ext cx="457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A605C"/>
                </a:solidFill>
              </a:defRPr>
            </a:pPr>
            <a:r>
              <a:t>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1115568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t>•  Found a real, peer-reviewed study on actual power plant start-up costs (Nature Energy, 2017)</a:t>
            </a:r>
          </a:p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t>•  Real figures: about EUR50,000-70,000 per start for a large coal/lignite plant, EUR60,000 for a gas plant</a:t>
            </a:r>
          </a:p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t>•  Converted these into our model's units and applied them to every plant type</a:t>
            </a:r>
          </a:p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t>•  Built this as its own separate model version and ran a full, real simulation - not a shortcut estimate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60120"/>
          </a:xfrm>
          <a:prstGeom prst="rect">
            <a:avLst/>
          </a:prstGeom>
          <a:solidFill>
            <a:srgbClr val="1F3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73152" wrap="square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Result: Zero Difference - a Cleaner Dead End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551920" y="6446520"/>
            <a:ext cx="457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A605C"/>
                </a:solidFill>
              </a:defRPr>
            </a:pPr>
            <a:r>
              <a:t>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371600"/>
            <a:ext cx="1115568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5400" b="1">
                <a:solidFill>
                  <a:srgbClr val="963C28"/>
                </a:solidFill>
              </a:defRPr>
            </a:pPr>
            <a:r>
              <a:t>0 of 8,760 hours</a:t>
            </a:r>
          </a:p>
          <a:p>
            <a:pPr algn="ctr">
              <a:defRPr sz="1600" i="1">
                <a:solidFill>
                  <a:srgbClr val="5A605C"/>
                </a:solidFill>
              </a:defRPr>
            </a:pPr>
            <a:r>
              <a:t>changed price, even by a single cent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017520"/>
            <a:ext cx="111556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t>•  The new setting made literally no difference to the result, at any point in the year</a:t>
            </a:r>
          </a:p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t>•  Investigated why: the number IS calculated inside the program, but that calculation is never actually connected to the price the plant offers</a:t>
            </a:r>
          </a:p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t>•  So this isn't a trade-off to weigh, like the price cap was - the switch simply isn't wired to anything in our version of the model</a:t>
            </a:r>
          </a:p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t>•  Confirms: the cross-border export/market-coupling build remains the most promising next step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60120"/>
          </a:xfrm>
          <a:prstGeom prst="rect">
            <a:avLst/>
          </a:prstGeom>
          <a:solidFill>
            <a:srgbClr val="1F3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73152" wrap="square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One More Follow-Up: Does Lignite's Bidding Behaviour Matter?</a:t>
            </a:r>
          </a:p>
          <a:p>
            <a:pPr>
              <a:defRPr sz="1400">
                <a:solidFill>
                  <a:srgbClr val="C8D2DA"/>
                </a:solidFill>
              </a:defRPr>
            </a:pPr>
            <a:r>
              <a:t>A genuine, working mechanism - confirmed before testing this time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551920" y="6446520"/>
            <a:ext cx="457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A605C"/>
                </a:solidFill>
              </a:defRPr>
            </a:pPr>
            <a:r>
              <a:t>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1115568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t>•  Opened up the actual bidding formula this time (learned from the last dead end) - and confirmed this one IS connected to price</a:t>
            </a:r>
          </a:p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t>•  Our model lets lignite plants bid as low as -60 EUR/MWh below their true cost - by far the widest allowance of any fuel type (gas: -10, coal: -15)</a:t>
            </a:r>
          </a:p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t>•  Question: does narrowing this allowance reduce how often our model goes negative?</a:t>
            </a:r>
          </a:p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t>•  No published real-world figure exists for this setting, so anchored the test to a real target instead: Germany's actual negative-price frequency (3-5%) vs. our model's 18%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60120"/>
          </a:xfrm>
          <a:prstGeom prst="rect">
            <a:avLst/>
          </a:prstGeom>
          <a:solidFill>
            <a:srgbClr val="1F3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73152" wrap="square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Result: Tested 4 Values - a Real Effect, But Not Where It Counts</a:t>
            </a:r>
          </a:p>
          <a:p>
            <a:pPr>
              <a:defRPr sz="1400">
                <a:solidFill>
                  <a:srgbClr val="C8D2DA"/>
                </a:solidFill>
              </a:defRPr>
            </a:pPr>
            <a:r>
              <a:t>6,218 of 8,760 hours changed price - a real, working effect, unlike the last test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551920" y="6446520"/>
            <a:ext cx="457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A605C"/>
                </a:solidFill>
              </a:defRPr>
            </a:pPr>
            <a:r>
              <a:t>16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371600"/>
          <a:ext cx="10881360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3017520"/>
                <a:gridCol w="2743200"/>
                <a:gridCol w="2377440"/>
              </a:tblGrid>
              <a:tr h="502920">
                <a:tc>
                  <a:txBody>
                    <a:bodyPr/>
                    <a:lstStyle/>
                    <a:p>
                      <a:pPr algn="ctr">
                        <a:defRPr b="1" sz="1300">
                          <a:solidFill>
                            <a:srgbClr val="FFFFFF"/>
                          </a:solidFill>
                        </a:defRPr>
                      </a:pPr>
                      <a:r>
                        <a:t>minMarkup</a:t>
                      </a:r>
                    </a:p>
                  </a:txBody>
                  <a:tcPr>
                    <a:solidFill>
                      <a:srgbClr val="1F3A4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300">
                          <a:solidFill>
                            <a:srgbClr val="FFFFFF"/>
                          </a:solidFill>
                        </a:defRPr>
                      </a:pPr>
                      <a:r>
                        <a:t>Match Quality</a:t>
                      </a:r>
                    </a:p>
                    <a:p>
                      <a:pPr algn="ctr">
                        <a:defRPr b="1" sz="1300">
                          <a:solidFill>
                            <a:srgbClr val="FFFFFF"/>
                          </a:solidFill>
                        </a:defRPr>
                      </a:pPr>
                      <a:r>
                        <a:t>(trustworthy)</a:t>
                      </a:r>
                    </a:p>
                  </a:txBody>
                  <a:tcPr>
                    <a:solidFill>
                      <a:srgbClr val="1F3A4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300">
                          <a:solidFill>
                            <a:srgbClr val="FFFFFF"/>
                          </a:solidFill>
                        </a:defRPr>
                      </a:pPr>
                      <a:r>
                        <a:t>Avg. Price Gap</a:t>
                      </a:r>
                    </a:p>
                  </a:txBody>
                  <a:tcPr>
                    <a:solidFill>
                      <a:srgbClr val="1F3A4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300">
                          <a:solidFill>
                            <a:srgbClr val="FFFFFF"/>
                          </a:solidFill>
                        </a:defRPr>
                      </a:pPr>
                      <a:r>
                        <a:t>Negative Hours</a:t>
                      </a:r>
                    </a:p>
                  </a:txBody>
                  <a:tcPr>
                    <a:solidFill>
                      <a:srgbClr val="1F3A4D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E2220"/>
                          </a:solidFill>
                        </a:defRPr>
                      </a:pPr>
                      <a:r>
                        <a:t>-60 (current)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1E2220"/>
                          </a:solidFill>
                        </a:defRPr>
                      </a:pPr>
                      <a:r>
                        <a:t>0.675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E2220"/>
                          </a:solidFill>
                        </a:defRPr>
                      </a:pPr>
                      <a:r>
                        <a:t>-11.86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E2220"/>
                          </a:solidFill>
                        </a:defRPr>
                      </a:pPr>
                      <a:r>
                        <a:t>18.4%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E2220"/>
                          </a:solidFill>
                        </a:defRPr>
                      </a:pPr>
                      <a:r>
                        <a:t>-40</a:t>
                      </a:r>
                    </a:p>
                  </a:txBody>
                  <a:tcPr>
                    <a:solidFill>
                      <a:srgbClr val="EEF0E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1E2220"/>
                          </a:solidFill>
                        </a:defRPr>
                      </a:pPr>
                      <a:r>
                        <a:t>0.672</a:t>
                      </a:r>
                    </a:p>
                  </a:txBody>
                  <a:tcPr>
                    <a:solidFill>
                      <a:srgbClr val="EEF0E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E2220"/>
                          </a:solidFill>
                        </a:defRPr>
                      </a:pPr>
                      <a:r>
                        <a:t>-11.34</a:t>
                      </a:r>
                    </a:p>
                  </a:txBody>
                  <a:tcPr>
                    <a:solidFill>
                      <a:srgbClr val="EEF0E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E2220"/>
                          </a:solidFill>
                        </a:defRPr>
                      </a:pPr>
                      <a:r>
                        <a:t>16.7%</a:t>
                      </a:r>
                    </a:p>
                  </a:txBody>
                  <a:tcPr>
                    <a:solidFill>
                      <a:srgbClr val="EEF0E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E2220"/>
                          </a:solidFill>
                        </a:defRPr>
                      </a:pPr>
                      <a:r>
                        <a:t>-20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1E2220"/>
                          </a:solidFill>
                        </a:defRPr>
                      </a:pPr>
                      <a:r>
                        <a:t>0.671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E2220"/>
                          </a:solidFill>
                        </a:defRPr>
                      </a:pPr>
                      <a:r>
                        <a:t>-10.21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E2220"/>
                          </a:solidFill>
                        </a:defRPr>
                      </a:pPr>
                      <a:r>
                        <a:t>16.8%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E2220"/>
                          </a:solidFill>
                        </a:defRPr>
                      </a:pPr>
                      <a:r>
                        <a:t>-10</a:t>
                      </a:r>
                    </a:p>
                  </a:txBody>
                  <a:tcPr>
                    <a:solidFill>
                      <a:srgbClr val="EEF0E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1E2220"/>
                          </a:solidFill>
                        </a:defRPr>
                      </a:pPr>
                      <a:r>
                        <a:t>0.672</a:t>
                      </a:r>
                    </a:p>
                  </a:txBody>
                  <a:tcPr>
                    <a:solidFill>
                      <a:srgbClr val="EEF0E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E2220"/>
                          </a:solidFill>
                        </a:defRPr>
                      </a:pPr>
                      <a:r>
                        <a:t>-10.16</a:t>
                      </a:r>
                    </a:p>
                  </a:txBody>
                  <a:tcPr>
                    <a:solidFill>
                      <a:srgbClr val="EEF0E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E2220"/>
                          </a:solidFill>
                        </a:defRPr>
                      </a:pPr>
                      <a:r>
                        <a:t>16.8%</a:t>
                      </a:r>
                    </a:p>
                  </a:txBody>
                  <a:tcPr>
                    <a:solidFill>
                      <a:srgbClr val="EEF0E9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069080"/>
            <a:ext cx="1088136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i="1">
                <a:solidFill>
                  <a:srgbClr val="5A605C"/>
                </a:solidFill>
              </a:defRPr>
            </a:pPr>
            <a:r>
              <a:t>The average price gap and how often we go negative both improve a little as the setting narrows - real, modest gains. But match quality (our trustworthy score) barely moves at all, staying flat across every value tested.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60120"/>
          </a:xfrm>
          <a:prstGeom prst="rect">
            <a:avLst/>
          </a:prstGeom>
          <a:solidFill>
            <a:srgbClr val="1F3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73152" wrap="square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Why We're Not Adopting This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551920" y="6446520"/>
            <a:ext cx="457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A605C"/>
                </a:solidFill>
              </a:defRPr>
            </a:pPr>
            <a:r>
              <a:t>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1115568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t>•  A real, working lever this time - unlike the last test, changing this setting genuinely changes thousands of hours' prices</a:t>
            </a:r>
          </a:p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t>•  Small, real, consistent wins on secondary measures (average price gap, how often we go negative)</a:t>
            </a:r>
          </a:p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t>•  But on our main trustworthy match-quality score, there is no real improvement at any value tested</a:t>
            </a:r>
          </a:p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t>•  A separate, simpler-looking 'headline' score DID jump around a lot - but not consistently, confirming it was a coincidence of a few specific hours, not genuine improvement (the same trap we've caught before in this project)</a:t>
            </a:r>
          </a:p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t>•  Conclusion: confirmed as a real but limited lever. Cross-border export/market-coupling remains the one significant untested option left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60120"/>
          </a:xfrm>
          <a:prstGeom prst="rect">
            <a:avLst/>
          </a:prstGeom>
          <a:solidFill>
            <a:srgbClr val="1F3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73152" wrap="square"/>
          <a:lstStyle/>
          <a:p>
            <a:pPr algn="ctr">
              <a:defRPr sz="2600" b="1">
                <a:solidFill>
                  <a:srgbClr val="FFFFFF"/>
                </a:solidFill>
              </a:defRPr>
            </a:pPr>
            <a:r>
              <a:t>The Big Idea: A Real Two-Way Trading Partner for Germany</a:t>
            </a:r>
          </a:p>
          <a:p>
            <a:pPr>
              <a:defRPr sz="1400">
                <a:solidFill>
                  <a:srgbClr val="C8D2DA"/>
                </a:solidFill>
              </a:defRPr>
            </a:pPr>
            <a:r>
              <a:t>Moving from the small experiments to the one big remaining idea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551920" y="6446520"/>
            <a:ext cx="457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A605C"/>
                </a:solidFill>
              </a:defRPr>
            </a:pPr>
            <a:r>
              <a:t>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1115568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t>•  Every smaller idea we tested (price cap, start-up cost, bidding floor) came up empty or too limited</a:t>
            </a:r>
          </a:p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t>•  The one big lever left untested: let the model properly BUY AND SELL power across the border, not just buy</a:t>
            </a:r>
          </a:p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t>•  AMIRIS has a real, working template for exactly this - a second market 'zone' connected to Germany's own, trading both ways</a:t>
            </a:r>
          </a:p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t>•  Plan: source real data first, build a first working version, then refine it step by step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60120"/>
          </a:xfrm>
          <a:prstGeom prst="rect">
            <a:avLst/>
          </a:prstGeom>
          <a:solidFill>
            <a:srgbClr val="1F3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73152" wrap="square"/>
          <a:lstStyle/>
          <a:p>
            <a:pPr algn="ctr">
              <a:defRPr sz="2600" b="1">
                <a:solidFill>
                  <a:srgbClr val="FFFFFF"/>
                </a:solidFill>
              </a:defRPr>
            </a:pPr>
            <a:r>
              <a:t>Sourcing Real Data From Scratch for a 'Rest of Europe' Zone</a:t>
            </a:r>
          </a:p>
          <a:p>
            <a:pPr>
              <a:defRPr sz="1400">
                <a:solidFill>
                  <a:srgbClr val="C8D2DA"/>
                </a:solidFill>
              </a:defRPr>
            </a:pPr>
            <a:r>
              <a:t>Nothing invented - every number traced to a real source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551920" y="6446520"/>
            <a:ext cx="457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A605C"/>
                </a:solidFill>
              </a:defRPr>
            </a:pPr>
            <a:r>
              <a:t>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1115568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t>•  Needed: how much power the rest of Europe uses, what it's generated from, and how much can physically flow across the border</a:t>
            </a:r>
          </a:p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t>•  Pulled real 2023 figures (demand, power plant types) for Germany's 10 real neighbouring countries from Eurostat</a:t>
            </a:r>
          </a:p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t>•  Pulled real weather-driven wind/solar output the same way we did for Germany's own model</a:t>
            </a:r>
          </a:p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t>•  Hit a real multi-day outage on Europe's official cross-border data platform partway through - worked around it with an alternative real source, then went back and finished the job once it recovered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60120"/>
          </a:xfrm>
          <a:prstGeom prst="rect">
            <a:avLst/>
          </a:prstGeom>
          <a:solidFill>
            <a:srgbClr val="1F3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73152" wrap="square"/>
          <a:lstStyle/>
          <a:p>
            <a:pPr algn="ctr">
              <a:defRPr sz="2600" b="1">
                <a:solidFill>
                  <a:srgbClr val="FFFFFF"/>
                </a:solidFill>
              </a:defRPr>
            </a:pPr>
            <a:r>
              <a:t>The First Working Two-Way Market</a:t>
            </a:r>
          </a:p>
          <a:p>
            <a:pPr>
              <a:defRPr sz="1400">
                <a:solidFill>
                  <a:srgbClr val="C8D2DA"/>
                </a:solidFill>
              </a:defRPr>
            </a:pPr>
            <a:r>
              <a:t>A real improvement in one measure, a real cost in another - both honestly reported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551920" y="6446520"/>
            <a:ext cx="457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A605C"/>
                </a:solidFill>
              </a:defRPr>
            </a:pPr>
            <a:r>
              <a:t>20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371600"/>
          <a:ext cx="11338560" cy="1508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0"/>
                <a:gridCol w="3383280"/>
                <a:gridCol w="3383280"/>
              </a:tblGrid>
              <a:tr h="502920">
                <a:tc>
                  <a:txBody>
                    <a:bodyPr/>
                    <a:lstStyle/>
                    <a:p>
                      <a:pPr algn="ctr">
                        <a:defRPr b="1" sz="1300">
                          <a:solidFill>
                            <a:srgbClr val="FFFFFF"/>
                          </a:solidFill>
                        </a:defRPr>
                      </a:pPr>
                    </a:p>
                  </a:txBody>
                  <a:tcPr>
                    <a:solidFill>
                      <a:srgbClr val="1F3A4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300">
                          <a:solidFill>
                            <a:srgbClr val="FFFFFF"/>
                          </a:solidFill>
                        </a:defRPr>
                      </a:pPr>
                      <a:r>
                        <a:t>Before (import-only)</a:t>
                      </a:r>
                    </a:p>
                  </a:txBody>
                  <a:tcPr>
                    <a:solidFill>
                      <a:srgbClr val="1F3A4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300">
                          <a:solidFill>
                            <a:srgbClr val="FFFFFF"/>
                          </a:solidFill>
                        </a:defRPr>
                      </a:pPr>
                      <a:r>
                        <a:t>First working version</a:t>
                      </a:r>
                    </a:p>
                  </a:txBody>
                  <a:tcPr>
                    <a:solidFill>
                      <a:srgbClr val="1F3A4D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1E2220"/>
                          </a:solidFill>
                        </a:defRPr>
                      </a:pPr>
                      <a:r>
                        <a:t>Match quality (trustworthy score)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E2220"/>
                          </a:solidFill>
                        </a:defRPr>
                      </a:pPr>
                      <a:r>
                        <a:t>0.675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E2220"/>
                          </a:solidFill>
                        </a:defRPr>
                      </a:pPr>
                      <a:r>
                        <a:t>0.739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1E2220"/>
                          </a:solidFill>
                        </a:defRPr>
                      </a:pPr>
                      <a:r>
                        <a:t>Average price gap</a:t>
                      </a:r>
                    </a:p>
                  </a:txBody>
                  <a:tcPr>
                    <a:solidFill>
                      <a:srgbClr val="EEF0E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E2220"/>
                          </a:solidFill>
                        </a:defRPr>
                      </a:pPr>
                      <a:r>
                        <a:t>-11.86</a:t>
                      </a:r>
                    </a:p>
                  </a:txBody>
                  <a:tcPr>
                    <a:solidFill>
                      <a:srgbClr val="EEF0E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E2220"/>
                          </a:solidFill>
                        </a:defRPr>
                      </a:pPr>
                      <a:r>
                        <a:t>-30.39</a:t>
                      </a:r>
                    </a:p>
                  </a:txBody>
                  <a:tcPr>
                    <a:solidFill>
                      <a:srgbClr val="EEF0E9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3063240"/>
            <a:ext cx="1088136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i="1">
                <a:solidFill>
                  <a:srgbClr val="5A605C"/>
                </a:solidFill>
              </a:defRPr>
            </a:pPr>
            <a:r>
              <a:t>Match quality genuinely improved. But the average price moved further from real - explained by a placeholder guess for how much power can flow across the border, and the other side having no storage/flexibility of its own yet.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60120"/>
          </a:xfrm>
          <a:prstGeom prst="rect">
            <a:avLst/>
          </a:prstGeom>
          <a:solidFill>
            <a:srgbClr val="1F3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73152" wrap="square"/>
          <a:lstStyle/>
          <a:p>
            <a:pPr algn="ctr">
              <a:defRPr sz="2600" b="1">
                <a:solidFill>
                  <a:srgbClr val="FFFFFF"/>
                </a:solidFill>
              </a:defRPr>
            </a:pPr>
            <a:r>
              <a:t>Real Border Data Replaces the Guess</a:t>
            </a:r>
          </a:p>
          <a:p>
            <a:pPr>
              <a:defRPr sz="1400">
                <a:solidFill>
                  <a:srgbClr val="C8D2DA"/>
                </a:solidFill>
              </a:defRPr>
            </a:pPr>
            <a:r>
              <a:t>Turning a placeholder into a real, sourced number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551920" y="6446520"/>
            <a:ext cx="457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A605C"/>
                </a:solidFill>
              </a:defRPr>
            </a:pPr>
            <a:r>
              <a:t>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1115568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t>•  The European data platform came back online - immediately used it to replace the placeholder guess</a:t>
            </a:r>
          </a:p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t>•  Pulled real, hour-by-hour cross-border flow data for all of Germany's real neighbouring borders</a:t>
            </a:r>
          </a:p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t>•  Used that real data to set a genuine, grounded limit on how much power can flow - not a guess</a:t>
            </a:r>
          </a:p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t>•  Result: confirmed the match-quality improvement was real, not just luck from an oversized placeholder guess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60120"/>
          </a:xfrm>
          <a:prstGeom prst="rect">
            <a:avLst/>
          </a:prstGeom>
          <a:solidFill>
            <a:srgbClr val="1F3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73152" wrap="square"/>
          <a:lstStyle/>
          <a:p>
            <a:pPr algn="ctr">
              <a:defRPr sz="2600" b="1">
                <a:solidFill>
                  <a:srgbClr val="FFFFFF"/>
                </a:solidFill>
              </a:defRPr>
            </a:pPr>
            <a:r>
              <a:t>Adding Real Storage: Our Best Result Yet</a:t>
            </a:r>
          </a:p>
          <a:p>
            <a:pPr>
              <a:defRPr sz="1400">
                <a:solidFill>
                  <a:srgbClr val="C8D2DA"/>
                </a:solidFill>
              </a:defRPr>
            </a:pPr>
            <a:r>
              <a:t>Real storage and real subsidies on both sides of the border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551920" y="6446520"/>
            <a:ext cx="457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A605C"/>
                </a:solidFill>
              </a:defRPr>
            </a:pPr>
            <a:r>
              <a:t>22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371600"/>
            <a:ext cx="1115568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800" b="1">
                <a:solidFill>
                  <a:srgbClr val="3A6B47"/>
                </a:solidFill>
              </a:defRPr>
            </a:pPr>
            <a:r>
              <a:t>Average price within 60 cents</a:t>
            </a:r>
          </a:p>
          <a:p>
            <a:pPr algn="ctr">
              <a:defRPr sz="1600" i="1">
                <a:solidFill>
                  <a:srgbClr val="5A605C"/>
                </a:solidFill>
              </a:defRPr>
            </a:pPr>
            <a:r>
              <a:t>of the real figure - the closest match this entire project has produced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017520"/>
            <a:ext cx="111556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t>•  Gave the 'Rest of Europe' side its own real storage (battery-style + reservoir hydro), the same way Germany already has</a:t>
            </a:r>
          </a:p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t>•  Gave it real subsidy treatment too, instead of a placeholder zero</a:t>
            </a:r>
          </a:p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t>•  Checked directly that the new storage is actually doing real work, not just sitting there unused - confirmed it is</a:t>
            </a:r>
          </a:p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t>•  Match quality also stayed strong - a genuine, all-round best result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60120"/>
          </a:xfrm>
          <a:prstGeom prst="rect">
            <a:avLst/>
          </a:prstGeom>
          <a:solidFill>
            <a:srgbClr val="1F3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73152" wrap="square"/>
          <a:lstStyle/>
          <a:p>
            <a:pPr algn="ctr">
              <a:defRPr sz="2600" b="1">
                <a:solidFill>
                  <a:srgbClr val="FFFFFF"/>
                </a:solidFill>
              </a:defRPr>
            </a:pPr>
            <a:r>
              <a:t>Does It Hold Up in Other Years? Testing 2028 and 2029</a:t>
            </a:r>
          </a:p>
          <a:p>
            <a:pPr>
              <a:defRPr sz="1400">
                <a:solidFill>
                  <a:srgbClr val="C8D2DA"/>
                </a:solidFill>
              </a:defRPr>
            </a:pPr>
            <a:r>
              <a:t>The same build, tested on years we never tuned it for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551920" y="6446520"/>
            <a:ext cx="457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A605C"/>
                </a:solidFill>
              </a:defRPr>
            </a:pPr>
            <a:r>
              <a:t>23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371600"/>
          <a:ext cx="1133856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937760"/>
                <a:gridCol w="3200400"/>
                <a:gridCol w="3200400"/>
              </a:tblGrid>
              <a:tr h="502920">
                <a:tc>
                  <a:txBody>
                    <a:bodyPr/>
                    <a:lstStyle/>
                    <a:p>
                      <a:pPr algn="ctr">
                        <a:defRPr b="1" sz="1300">
                          <a:solidFill>
                            <a:srgbClr val="FFFFFF"/>
                          </a:solidFill>
                        </a:defRPr>
                      </a:pPr>
                    </a:p>
                  </a:txBody>
                  <a:tcPr>
                    <a:solidFill>
                      <a:srgbClr val="1F3A4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300">
                          <a:solidFill>
                            <a:srgbClr val="FFFFFF"/>
                          </a:solidFill>
                        </a:defRPr>
                      </a:pPr>
                      <a:r>
                        <a:t>2028</a:t>
                      </a:r>
                    </a:p>
                  </a:txBody>
                  <a:tcPr>
                    <a:solidFill>
                      <a:srgbClr val="1F3A4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300">
                          <a:solidFill>
                            <a:srgbClr val="FFFFFF"/>
                          </a:solidFill>
                        </a:defRPr>
                      </a:pPr>
                      <a:r>
                        <a:t>2029</a:t>
                      </a:r>
                    </a:p>
                  </a:txBody>
                  <a:tcPr>
                    <a:solidFill>
                      <a:srgbClr val="1F3A4D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1E2220"/>
                          </a:solidFill>
                        </a:defRPr>
                      </a:pPr>
                      <a:r>
                        <a:t>Match quality: before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E2220"/>
                          </a:solidFill>
                        </a:defRPr>
                      </a:pPr>
                      <a:r>
                        <a:t>0.446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E2220"/>
                          </a:solidFill>
                        </a:defRPr>
                      </a:pPr>
                      <a:r>
                        <a:t>0.446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1E2220"/>
                          </a:solidFill>
                        </a:defRPr>
                      </a:pPr>
                      <a:r>
                        <a:t>Match quality: with two-way trading</a:t>
                      </a:r>
                    </a:p>
                  </a:txBody>
                  <a:tcPr>
                    <a:solidFill>
                      <a:srgbClr val="EEF0E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E2220"/>
                          </a:solidFill>
                        </a:defRPr>
                      </a:pPr>
                      <a:r>
                        <a:t>0.718</a:t>
                      </a:r>
                    </a:p>
                  </a:txBody>
                  <a:tcPr>
                    <a:solidFill>
                      <a:srgbClr val="EEF0E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E2220"/>
                          </a:solidFill>
                        </a:defRPr>
                      </a:pPr>
                      <a:r>
                        <a:t>0.752</a:t>
                      </a:r>
                    </a:p>
                  </a:txBody>
                  <a:tcPr>
                    <a:solidFill>
                      <a:srgbClr val="EEF0E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1E2220"/>
                          </a:solidFill>
                        </a:defRPr>
                      </a:pPr>
                      <a:r>
                        <a:t>Average price gap: with two-way trading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E2220"/>
                          </a:solidFill>
                        </a:defRPr>
                      </a:pPr>
                      <a:r>
                        <a:t>+6.19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E2220"/>
                          </a:solidFill>
                        </a:defRPr>
                      </a:pPr>
                      <a:r>
                        <a:t>+26.85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3566160"/>
            <a:ext cx="1088136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i="1">
                <a:solidFill>
                  <a:srgbClr val="5A605C"/>
                </a:solidFill>
              </a:defRPr>
            </a:pPr>
            <a:r>
              <a:t>Match quality improved strongly in both years, confirming it isn't a one-year fluke. But the average price gap looked concerning for 2029 - investigated further on the next slide.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60120"/>
          </a:xfrm>
          <a:prstGeom prst="rect">
            <a:avLst/>
          </a:prstGeom>
          <a:solidFill>
            <a:srgbClr val="1F3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73152" wrap="square"/>
          <a:lstStyle/>
          <a:p>
            <a:pPr algn="ctr">
              <a:defRPr sz="2600" b="1">
                <a:solidFill>
                  <a:srgbClr val="FFFFFF"/>
                </a:solidFill>
              </a:defRPr>
            </a:pPr>
            <a:r>
              <a:t>The Real Story: Excellent on Ordinary Days</a:t>
            </a:r>
          </a:p>
          <a:p>
            <a:pPr>
              <a:defRPr sz="1400">
                <a:solidFill>
                  <a:srgbClr val="C8D2DA"/>
                </a:solidFill>
              </a:defRPr>
            </a:pPr>
            <a:r>
              <a:t>A follow-up question corrected a misleading headline number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551920" y="6446520"/>
            <a:ext cx="457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A605C"/>
                </a:solidFill>
              </a:defRPr>
            </a:pPr>
            <a:r>
              <a:t>24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1115568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t>•  That '+26.85' number looked like a real step backwards - checked it properly rather than taking it at face value</a:t>
            </a:r>
          </a:p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t>•  Found: 88% of that gap comes from just a handful of extreme 'ran out of power' hours</a:t>
            </a:r>
          </a:p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t>•  On ordinary days (99%+ of the year), all three years - 2027, 2028, 2029 - are excellent and remarkably consistent</a:t>
            </a:r>
          </a:p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t>•  The real, narrower issue: those extreme hours are becoming more frequent the further we get from our home year (2027)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60120"/>
          </a:xfrm>
          <a:prstGeom prst="rect">
            <a:avLst/>
          </a:prstGeom>
          <a:solidFill>
            <a:srgbClr val="1F3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73152" wrap="square"/>
          <a:lstStyle/>
          <a:p>
            <a:pPr algn="ctr">
              <a:defRPr sz="2600" b="1">
                <a:solidFill>
                  <a:srgbClr val="FFFFFF"/>
                </a:solidFill>
              </a:defRPr>
            </a:pPr>
            <a:r>
              <a:t>Chasing That Gap: Two Honest Dead Ends</a:t>
            </a:r>
          </a:p>
          <a:p>
            <a:pPr>
              <a:defRPr sz="1400">
                <a:solidFill>
                  <a:srgbClr val="C8D2DA"/>
                </a:solidFill>
              </a:defRPr>
            </a:pPr>
            <a:r>
              <a:t>Two well-reasoned ideas, tested properly, both honestly ruled out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551920" y="6446520"/>
            <a:ext cx="457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A605C"/>
                </a:solidFill>
              </a:defRPr>
            </a:pPr>
            <a:r>
              <a:t>25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1115568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t>•  Idea 1: scale up the border capacity to keep pace with Germany's own growth - tested directly, did not fix it, made one year worse</a:t>
            </a:r>
          </a:p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t>•  Idea 2: check a specific setting inside AMIRIS's own coupling engine - opened up the real program code and found that setting was already unlimited, not the cause</a:t>
            </a:r>
          </a:p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t>•  Found one real, unexplained clue instead: Germany's import during these rare hours stays suspiciously flat no matter how much extra capacity is available</a:t>
            </a:r>
          </a:p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t>•  Getting to the exact cause would need to edit and rebuild AMIRIS's own program - a bigger step, not yet taken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60120"/>
          </a:xfrm>
          <a:prstGeom prst="rect">
            <a:avLst/>
          </a:prstGeom>
          <a:solidFill>
            <a:srgbClr val="1F3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73152" wrap="square"/>
          <a:lstStyle/>
          <a:p>
            <a:pPr algn="ctr">
              <a:defRPr sz="2600" b="1">
                <a:solidFill>
                  <a:srgbClr val="FFFFFF"/>
                </a:solidFill>
              </a:defRPr>
            </a:pPr>
            <a:r>
              <a:t>Where This Leaves Us</a:t>
            </a:r>
          </a:p>
          <a:p>
            <a:pPr>
              <a:defRPr sz="1400">
                <a:solidFill>
                  <a:srgbClr val="C8D2DA"/>
                </a:solidFill>
              </a:defRPr>
            </a:pPr>
            <a:r>
              <a:t>The real, current state of the two-way trading model across all three years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551920" y="6446520"/>
            <a:ext cx="457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A605C"/>
                </a:solidFill>
              </a:defRPr>
            </a:pPr>
            <a:r>
              <a:t>26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371600"/>
          <a:ext cx="1316736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937760"/>
                <a:gridCol w="2743200"/>
                <a:gridCol w="2743200"/>
                <a:gridCol w="2743200"/>
              </a:tblGrid>
              <a:tr h="502920">
                <a:tc>
                  <a:txBody>
                    <a:bodyPr/>
                    <a:lstStyle/>
                    <a:p>
                      <a:pPr algn="ctr">
                        <a:defRPr b="1" sz="1300">
                          <a:solidFill>
                            <a:srgbClr val="FFFFFF"/>
                          </a:solidFill>
                        </a:defRPr>
                      </a:pPr>
                    </a:p>
                  </a:txBody>
                  <a:tcPr>
                    <a:solidFill>
                      <a:srgbClr val="1F3A4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300">
                          <a:solidFill>
                            <a:srgbClr val="FFFFFF"/>
                          </a:solidFill>
                        </a:defRPr>
                      </a:pPr>
                      <a:r>
                        <a:t>2027</a:t>
                      </a:r>
                    </a:p>
                  </a:txBody>
                  <a:tcPr>
                    <a:solidFill>
                      <a:srgbClr val="1F3A4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300">
                          <a:solidFill>
                            <a:srgbClr val="FFFFFF"/>
                          </a:solidFill>
                        </a:defRPr>
                      </a:pPr>
                      <a:r>
                        <a:t>2028</a:t>
                      </a:r>
                    </a:p>
                  </a:txBody>
                  <a:tcPr>
                    <a:solidFill>
                      <a:srgbClr val="1F3A4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300">
                          <a:solidFill>
                            <a:srgbClr val="FFFFFF"/>
                          </a:solidFill>
                        </a:defRPr>
                      </a:pPr>
                      <a:r>
                        <a:t>2029</a:t>
                      </a:r>
                    </a:p>
                  </a:txBody>
                  <a:tcPr>
                    <a:solidFill>
                      <a:srgbClr val="1F3A4D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1E2220"/>
                          </a:solidFill>
                        </a:defRPr>
                      </a:pPr>
                      <a:r>
                        <a:t>Match quality (with two-way trading)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E2220"/>
                          </a:solidFill>
                        </a:defRPr>
                      </a:pPr>
                      <a:r>
                        <a:t>0.717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E2220"/>
                          </a:solidFill>
                        </a:defRPr>
                      </a:pPr>
                      <a:r>
                        <a:t>0.718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E2220"/>
                          </a:solidFill>
                        </a:defRPr>
                      </a:pPr>
                      <a:r>
                        <a:t>0.752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1E2220"/>
                          </a:solidFill>
                        </a:defRPr>
                      </a:pPr>
                      <a:r>
                        <a:t>Average price gap, ordinary days only</a:t>
                      </a:r>
                    </a:p>
                  </a:txBody>
                  <a:tcPr>
                    <a:solidFill>
                      <a:srgbClr val="EEF0E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E2220"/>
                          </a:solidFill>
                        </a:defRPr>
                      </a:pPr>
                      <a:r>
                        <a:t>-0.59</a:t>
                      </a:r>
                    </a:p>
                  </a:txBody>
                  <a:tcPr>
                    <a:solidFill>
                      <a:srgbClr val="EEF0E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E2220"/>
                          </a:solidFill>
                        </a:defRPr>
                      </a:pPr>
                      <a:r>
                        <a:t>+1.08</a:t>
                      </a:r>
                    </a:p>
                  </a:txBody>
                  <a:tcPr>
                    <a:solidFill>
                      <a:srgbClr val="EEF0E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E2220"/>
                          </a:solidFill>
                        </a:defRPr>
                      </a:pPr>
                      <a:r>
                        <a:t>+3.21</a:t>
                      </a:r>
                    </a:p>
                  </a:txBody>
                  <a:tcPr>
                    <a:solidFill>
                      <a:srgbClr val="EEF0E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1E2220"/>
                          </a:solidFill>
                        </a:defRPr>
                      </a:pPr>
                      <a:r>
                        <a:t>Rare extreme hours (target: near zero)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E2220"/>
                          </a:solidFill>
                        </a:defRPr>
                      </a:pPr>
                      <a: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E2220"/>
                          </a:solidFill>
                        </a:defRPr>
                      </a:pPr>
                      <a:r>
                        <a:t>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E2220"/>
                          </a:solidFill>
                        </a:defRPr>
                      </a:pPr>
                      <a:r>
                        <a:t>76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3566160"/>
            <a:ext cx="1088136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i="1">
                <a:solidFill>
                  <a:srgbClr val="5A605C"/>
                </a:solidFill>
              </a:defRPr>
            </a:pPr>
            <a:r>
              <a:t>Strong, consistent match quality and excellent ordinary-day accuracy across all three years - the core result stands. The one real, still-open gap is the rising frequency of extreme hours the further a year is from 2027.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60120"/>
          </a:xfrm>
          <a:prstGeom prst="rect">
            <a:avLst/>
          </a:prstGeom>
          <a:solidFill>
            <a:srgbClr val="1F3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73152" wrap="square"/>
          <a:lstStyle/>
          <a:p>
            <a:pPr algn="ctr">
              <a:defRPr sz="2600" b="1">
                <a:solidFill>
                  <a:srgbClr val="FFFFFF"/>
                </a:solidFill>
              </a:defRPr>
            </a:pPr>
            <a:r>
              <a:t>One More Lead: Could the Other Side's Own Storage Explain the Gap?</a:t>
            </a:r>
          </a:p>
          <a:p>
            <a:pPr>
              <a:defRPr sz="1400">
                <a:solidFill>
                  <a:srgbClr val="C8D2DA"/>
                </a:solidFill>
              </a:defRPr>
            </a:pPr>
            <a:r>
              <a:t>A real, testable idea - checked and ruled out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551920" y="6446520"/>
            <a:ext cx="457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A605C"/>
                </a:solidFill>
              </a:defRPr>
            </a:pPr>
            <a:r>
              <a:t>27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1115568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t>•  The one open thread from before: a small number of extreme hours where Germany imports less than it could, even with spare capacity available</a:t>
            </a:r>
          </a:p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t>•  Tested directly using data already on hand: is the rest of Europe's own storage running physically empty during those hours?</a:t>
            </a:r>
          </a:p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t>•  Checked both battery-style storage and reservoir hydro on the other side of the border - neither ever comes close to its own physical limit, in either year tested</a:t>
            </a:r>
          </a:p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t>•  Rules out 'the other side simply has nothing left to give' - strengthens the case that the real limiter is inside the model's own internal trading logic, not a real-world capacity constraint anywhere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60120"/>
          </a:xfrm>
          <a:prstGeom prst="rect">
            <a:avLst/>
          </a:prstGeom>
          <a:solidFill>
            <a:srgbClr val="1F3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73152" wrap="square"/>
          <a:lstStyle/>
          <a:p>
            <a:pPr algn="ctr">
              <a:defRPr sz="2600" b="1">
                <a:solidFill>
                  <a:srgbClr val="FFFFFF"/>
                </a:solidFill>
              </a:defRPr>
            </a:pPr>
            <a:r>
              <a:t>Pushing Further: Replacing the Combined Zone With a Real Named Country</a:t>
            </a:r>
          </a:p>
          <a:p>
            <a:pPr>
              <a:defRPr sz="1400">
                <a:solidFill>
                  <a:srgbClr val="C8D2DA"/>
                </a:solidFill>
              </a:defRPr>
            </a:pPr>
            <a:r>
              <a:t>Testing whether more realism helps, or whether the combined approach was already the right call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551920" y="6446520"/>
            <a:ext cx="457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A605C"/>
                </a:solidFill>
              </a:defRPr>
            </a:pPr>
            <a:r>
              <a:t>28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1115568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t>•  Everything so far treated 'the rest of Europe' as one combined stand-in - the next real question: does splitting out a real neighbour by name do any better?</a:t>
            </a:r>
          </a:p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t>•  Chose France as the test case: the largest single economy involved, and the one country with enough real, already-sourced data to build immediately</a:t>
            </a:r>
          </a:p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t>•  Built it properly: France's own real power plants, real demand, real weather-driven renewables, and a real border link to Germany - not a shortcut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60120"/>
          </a:xfrm>
          <a:prstGeom prst="rect">
            <a:avLst/>
          </a:prstGeom>
          <a:solidFill>
            <a:srgbClr val="1F3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73152" wrap="square"/>
          <a:lstStyle/>
          <a:p>
            <a:pPr algn="ctr">
              <a:defRPr sz="2600" b="1">
                <a:solidFill>
                  <a:srgbClr val="FFFFFF"/>
                </a:solidFill>
              </a:defRPr>
            </a:pPr>
            <a:r>
              <a:t>Result: A Real Step Backward - With a Clear, Understood Reason</a:t>
            </a:r>
          </a:p>
          <a:p>
            <a:pPr>
              <a:defRPr sz="1400">
                <a:solidFill>
                  <a:srgbClr val="C8D2DA"/>
                </a:solidFill>
              </a:defRPr>
            </a:pPr>
            <a:r>
              <a:t>Splitting France out on its own made things worse, not better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551920" y="6446520"/>
            <a:ext cx="457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A605C"/>
                </a:solidFill>
              </a:defRPr>
            </a:pPr>
            <a:r>
              <a:t>29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371600"/>
          <a:ext cx="12252960" cy="1508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937760"/>
                <a:gridCol w="3657600"/>
                <a:gridCol w="3657600"/>
              </a:tblGrid>
              <a:tr h="502920">
                <a:tc>
                  <a:txBody>
                    <a:bodyPr/>
                    <a:lstStyle/>
                    <a:p>
                      <a:pPr algn="ctr">
                        <a:defRPr b="1" sz="1300">
                          <a:solidFill>
                            <a:srgbClr val="FFFFFF"/>
                          </a:solidFill>
                        </a:defRPr>
                      </a:pPr>
                    </a:p>
                  </a:txBody>
                  <a:tcPr>
                    <a:solidFill>
                      <a:srgbClr val="1F3A4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300">
                          <a:solidFill>
                            <a:srgbClr val="FFFFFF"/>
                          </a:solidFill>
                        </a:defRPr>
                      </a:pPr>
                      <a:r>
                        <a:t>Combined zone (best result)</a:t>
                      </a:r>
                    </a:p>
                  </a:txBody>
                  <a:tcPr>
                    <a:solidFill>
                      <a:srgbClr val="1F3A4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300">
                          <a:solidFill>
                            <a:srgbClr val="FFFFFF"/>
                          </a:solidFill>
                        </a:defRPr>
                      </a:pPr>
                      <a:r>
                        <a:t>France split out separately</a:t>
                      </a:r>
                    </a:p>
                  </a:txBody>
                  <a:tcPr>
                    <a:solidFill>
                      <a:srgbClr val="1F3A4D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1E2220"/>
                          </a:solidFill>
                        </a:defRPr>
                      </a:pPr>
                      <a:r>
                        <a:t>'Ran out of power' hours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E2220"/>
                          </a:solidFill>
                        </a:defRPr>
                      </a:pPr>
                      <a: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E2220"/>
                          </a:solidFill>
                        </a:defRPr>
                      </a:pPr>
                      <a:r>
                        <a:t>167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1E2220"/>
                          </a:solidFill>
                        </a:defRPr>
                      </a:pPr>
                      <a:r>
                        <a:t>Average price gap on ordinary days</a:t>
                      </a:r>
                    </a:p>
                  </a:txBody>
                  <a:tcPr>
                    <a:solidFill>
                      <a:srgbClr val="EEF0E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E2220"/>
                          </a:solidFill>
                        </a:defRPr>
                      </a:pPr>
                      <a:r>
                        <a:t>-2.90</a:t>
                      </a:r>
                    </a:p>
                  </a:txBody>
                  <a:tcPr>
                    <a:solidFill>
                      <a:srgbClr val="EEF0E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E2220"/>
                          </a:solidFill>
                        </a:defRPr>
                      </a:pPr>
                      <a:r>
                        <a:t>+9.65</a:t>
                      </a:r>
                    </a:p>
                  </a:txBody>
                  <a:tcPr>
                    <a:solidFill>
                      <a:srgbClr val="EEF0E9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3063240"/>
            <a:ext cx="1088136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i="1">
                <a:solidFill>
                  <a:srgbClr val="5A605C"/>
                </a:solidFill>
              </a:defRPr>
            </a:pPr>
            <a:r>
              <a:t>Real, checked reason: France's own huge nuclear fleet used to help keep the WHOLE combined pool well-supplied. Pulled out on its own, the remaining combined zone lost that cushion and became genuinely short more often - while France's own surplus, now only linked directly to Germany by a narrow border, couldn't reach the rest of Europe to help there either.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60120"/>
          </a:xfrm>
          <a:prstGeom prst="rect">
            <a:avLst/>
          </a:prstGeom>
          <a:solidFill>
            <a:srgbClr val="1F3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73152" wrap="square"/>
          <a:lstStyle/>
          <a:p>
            <a:pPr algn="ctr">
              <a:defRPr sz="2600" b="1">
                <a:solidFill>
                  <a:srgbClr val="FFFFFF"/>
                </a:solidFill>
              </a:defRPr>
            </a:pPr>
            <a:r>
              <a:t>Going All the Way: All 10 Real Neighbouring Countries at Once</a:t>
            </a:r>
          </a:p>
          <a:p>
            <a:pPr>
              <a:defRPr sz="1400">
                <a:solidFill>
                  <a:srgbClr val="C8D2DA"/>
                </a:solidFill>
              </a:defRPr>
            </a:pPr>
            <a:r>
              <a:t>A genuine engineering problem, found, diagnosed, and fixed along the way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551920" y="6446520"/>
            <a:ext cx="457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A605C"/>
                </a:solidFill>
              </a:defRPr>
            </a:pPr>
            <a:r>
              <a:t>30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1115568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t>•  Since one real country made things worse for a clear, understood reason, the natural next test: does the SAME problem get worse - or does something different happen - once every real neighbour is split out?</a:t>
            </a:r>
          </a:p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t>•  Built all 10 real countries as their own separate zones - the largest build of the whole project</a:t>
            </a:r>
          </a:p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t>•  Hit a genuine, hard technical bug along the way: the model's own dispatch engine broke down for one specific country (Denmark) - traced directly to Denmark's real hydro power being far too small in absolute terms for the model to handle reliably</a:t>
            </a:r>
          </a:p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t>•  Fixed with a clearly labelled, honestly-flagged technical workaround (not real data) - confirmed the fix worked, then completed the full 10-country run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60120"/>
          </a:xfrm>
          <a:prstGeom prst="rect">
            <a:avLst/>
          </a:prstGeom>
          <a:solidFill>
            <a:srgbClr val="1F3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73152" wrap="square"/>
          <a:lstStyle/>
          <a:p>
            <a:pPr algn="ctr">
              <a:defRPr sz="2600" b="1">
                <a:solidFill>
                  <a:srgbClr val="FFFFFF"/>
                </a:solidFill>
              </a:defRPr>
            </a:pPr>
            <a:r>
              <a:t>Result: Better Than Expected - But Still Not the Winning Approach</a:t>
            </a:r>
          </a:p>
          <a:p>
            <a:pPr>
              <a:defRPr sz="1400">
                <a:solidFill>
                  <a:srgbClr val="C8D2DA"/>
                </a:solidFill>
              </a:defRPr>
            </a:pPr>
            <a:r>
              <a:t>Splitting into all 10 real countries beat the single-country attempt on every measure but one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551920" y="6446520"/>
            <a:ext cx="457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A605C"/>
                </a:solidFill>
              </a:defRPr>
            </a:pPr>
            <a:r>
              <a:t>31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371600"/>
          <a:ext cx="1417320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0"/>
                <a:gridCol w="3200400"/>
                <a:gridCol w="3200400"/>
                <a:gridCol w="3200400"/>
              </a:tblGrid>
              <a:tr h="502920">
                <a:tc>
                  <a:txBody>
                    <a:bodyPr/>
                    <a:lstStyle/>
                    <a:p>
                      <a:pPr algn="ctr">
                        <a:defRPr b="1" sz="1300">
                          <a:solidFill>
                            <a:srgbClr val="FFFFFF"/>
                          </a:solidFill>
                        </a:defRPr>
                      </a:pPr>
                    </a:p>
                  </a:txBody>
                  <a:tcPr>
                    <a:solidFill>
                      <a:srgbClr val="1F3A4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300">
                          <a:solidFill>
                            <a:srgbClr val="FFFFFF"/>
                          </a:solidFill>
                        </a:defRPr>
                      </a:pPr>
                      <a:r>
                        <a:t>Combined zone (best)</a:t>
                      </a:r>
                    </a:p>
                  </a:txBody>
                  <a:tcPr>
                    <a:solidFill>
                      <a:srgbClr val="1F3A4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300">
                          <a:solidFill>
                            <a:srgbClr val="FFFFFF"/>
                          </a:solidFill>
                        </a:defRPr>
                      </a:pPr>
                      <a:r>
                        <a:t>France alone</a:t>
                      </a:r>
                    </a:p>
                  </a:txBody>
                  <a:tcPr>
                    <a:solidFill>
                      <a:srgbClr val="1F3A4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300">
                          <a:solidFill>
                            <a:srgbClr val="FFFFFF"/>
                          </a:solidFill>
                        </a:defRPr>
                      </a:pPr>
                      <a:r>
                        <a:t>All 10 countries</a:t>
                      </a:r>
                    </a:p>
                  </a:txBody>
                  <a:tcPr>
                    <a:solidFill>
                      <a:srgbClr val="1F3A4D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1E2220"/>
                          </a:solidFill>
                        </a:defRPr>
                      </a:pPr>
                      <a:r>
                        <a:t>'Ran out of power' hours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E2220"/>
                          </a:solidFill>
                        </a:defRPr>
                      </a:pPr>
                      <a: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E2220"/>
                          </a:solidFill>
                        </a:defRPr>
                      </a:pPr>
                      <a:r>
                        <a:t>167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E2220"/>
                          </a:solidFill>
                        </a:defRPr>
                      </a:pPr>
                      <a:r>
                        <a:t>120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1E2220"/>
                          </a:solidFill>
                        </a:defRPr>
                      </a:pPr>
                      <a:r>
                        <a:t>Average price gap, ordinary days</a:t>
                      </a:r>
                    </a:p>
                  </a:txBody>
                  <a:tcPr>
                    <a:solidFill>
                      <a:srgbClr val="EEF0E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E2220"/>
                          </a:solidFill>
                        </a:defRPr>
                      </a:pPr>
                      <a:r>
                        <a:t>-2.90</a:t>
                      </a:r>
                    </a:p>
                  </a:txBody>
                  <a:tcPr>
                    <a:solidFill>
                      <a:srgbClr val="EEF0E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E2220"/>
                          </a:solidFill>
                        </a:defRPr>
                      </a:pPr>
                      <a:r>
                        <a:t>+9.65</a:t>
                      </a:r>
                    </a:p>
                  </a:txBody>
                  <a:tcPr>
                    <a:solidFill>
                      <a:srgbClr val="EEF0E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E2220"/>
                          </a:solidFill>
                        </a:defRPr>
                      </a:pPr>
                      <a:r>
                        <a:t>+4.87</a:t>
                      </a:r>
                    </a:p>
                  </a:txBody>
                  <a:tcPr>
                    <a:solidFill>
                      <a:srgbClr val="EEF0E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1E2220"/>
                          </a:solidFill>
                        </a:defRPr>
                      </a:pPr>
                      <a:r>
                        <a:t>Match quality (trustworthiness)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E2220"/>
                          </a:solidFill>
                        </a:defRPr>
                      </a:pPr>
                      <a:r>
                        <a:t>0.717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E2220"/>
                          </a:solidFill>
                        </a:defRPr>
                      </a:pPr>
                      <a:r>
                        <a:t>0.716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1E2220"/>
                          </a:solidFill>
                        </a:defRPr>
                      </a:pPr>
                      <a:r>
                        <a:t>0.731 (best yet)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3566160"/>
            <a:ext cx="1088136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i="1">
                <a:solidFill>
                  <a:srgbClr val="5A605C"/>
                </a:solidFill>
              </a:defRPr>
            </a:pPr>
            <a:r>
              <a:t>Genuinely surprising: going all the way to 10 real countries actually did BETTER than splitting out just one - likely because Germany can now draw on many countries' cheap power at once, instead of being stuck behind one narrow link. But it still doesn't beat the original combined-zone approach on the two measures that matter most. Decision: keep the combined zone as our best, standing result.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3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73152" rtlCol="0" anchor="ctr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Where We Stand Now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551615" y="6446520"/>
            <a:ext cx="457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A605C"/>
                </a:solidFill>
              </a:defRPr>
            </a:pPr>
            <a:r>
              <a:t>32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280160"/>
          <a:ext cx="11338560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688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688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Build</a:t>
                      </a:r>
                    </a:p>
                  </a:txBody>
                  <a:tcPr>
                    <a:solidFill>
                      <a:srgbClr val="1F3A4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Shortage hours</a:t>
                      </a:r>
                    </a:p>
                  </a:txBody>
                  <a:tcPr>
                    <a:solidFill>
                      <a:srgbClr val="1F3A4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Mean price</a:t>
                      </a:r>
                    </a:p>
                  </a:txBody>
                  <a:tcPr>
                    <a:solidFill>
                      <a:srgbClr val="1F3A4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vs. Brainpool's real 68.04</a:t>
                      </a:r>
                    </a:p>
                  </a:txBody>
                  <a:tcPr>
                    <a:solidFill>
                      <a:srgbClr val="1F3A4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220"/>
                          </a:solidFill>
                        </a:defRPr>
                      </a:pPr>
                      <a:r>
                        <a:t>V1, no import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220"/>
                          </a:solidFill>
                        </a:defRPr>
                      </a:pPr>
                      <a:r>
                        <a:t>15.88%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220"/>
                          </a:solidFill>
                        </a:defRPr>
                      </a:pPr>
                      <a:r>
                        <a:t>519 EUR/MWh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220"/>
                          </a:solidFill>
                        </a:defRPr>
                      </a:pPr>
                      <a:r>
                        <a:t>7.6x too high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220"/>
                          </a:solidFill>
                        </a:defRPr>
                      </a:pPr>
                      <a:r>
                        <a:t>V1, final</a:t>
                      </a:r>
                    </a:p>
                  </a:txBody>
                  <a:tcPr>
                    <a:solidFill>
                      <a:srgbClr val="EEF0E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220"/>
                          </a:solidFill>
                        </a:defRPr>
                      </a:pPr>
                      <a:r>
                        <a:t>0.83%</a:t>
                      </a:r>
                    </a:p>
                  </a:txBody>
                  <a:tcPr>
                    <a:solidFill>
                      <a:srgbClr val="EEF0E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220"/>
                          </a:solidFill>
                        </a:defRPr>
                      </a:pPr>
                      <a:r>
                        <a:t>75 EUR/MWh</a:t>
                      </a:r>
                    </a:p>
                  </a:txBody>
                  <a:tcPr>
                    <a:solidFill>
                      <a:srgbClr val="EEF0E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220"/>
                          </a:solidFill>
                        </a:defRPr>
                      </a:pPr>
                      <a:r>
                        <a:t>almost exact</a:t>
                      </a:r>
                    </a:p>
                  </a:txBody>
                  <a:tcPr>
                    <a:solidFill>
                      <a:srgbClr val="EE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220"/>
                          </a:solidFill>
                        </a:defRPr>
                      </a:pPr>
                      <a:r>
                        <a:t>V2, no import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220"/>
                          </a:solidFill>
                        </a:defRPr>
                      </a:pPr>
                      <a:r>
                        <a:t>7.52%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220"/>
                          </a:solidFill>
                        </a:defRPr>
                      </a:pPr>
                      <a:r>
                        <a:t>286 EUR/MWh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220"/>
                          </a:solidFill>
                        </a:defRPr>
                      </a:pPr>
                      <a:r>
                        <a:t>4.2x too high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220"/>
                          </a:solidFill>
                        </a:defRPr>
                      </a:pPr>
                      <a:r>
                        <a:t>V2, final (all fixes)</a:t>
                      </a:r>
                    </a:p>
                  </a:txBody>
                  <a:tcPr>
                    <a:solidFill>
                      <a:srgbClr val="EEF0E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220"/>
                          </a:solidFill>
                        </a:defRPr>
                      </a:pPr>
                      <a:r>
                        <a:t>0.02%</a:t>
                      </a:r>
                    </a:p>
                  </a:txBody>
                  <a:tcPr>
                    <a:solidFill>
                      <a:srgbClr val="EEF0E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220"/>
                          </a:solidFill>
                        </a:defRPr>
                      </a:pPr>
                      <a:r>
                        <a:t>56 EUR/MWh</a:t>
                      </a:r>
                    </a:p>
                  </a:txBody>
                  <a:tcPr>
                    <a:solidFill>
                      <a:srgbClr val="EEF0E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220"/>
                          </a:solidFill>
                        </a:defRPr>
                      </a:pPr>
                      <a:r>
                        <a:t>close, slightly below</a:t>
                      </a:r>
                    </a:p>
                  </a:txBody>
                  <a:tcPr>
                    <a:solidFill>
                      <a:srgbClr val="EE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3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73152" rtlCol="0" anchor="ctr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The Overall Journey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551615" y="6446520"/>
            <a:ext cx="457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A605C"/>
                </a:solidFill>
              </a:defRPr>
            </a:pPr>
            <a:r>
              <a:t>33</a:t>
            </a:r>
          </a:p>
        </p:txBody>
      </p:sp>
      <p:pic>
        <p:nvPicPr>
          <p:cNvPr id="4" name="Picture 3" descr="chart_overall_progr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356" y="1188720"/>
            <a:ext cx="11238807" cy="47548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6172200"/>
            <a:ext cx="112471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i="1">
                <a:solidFill>
                  <a:srgbClr val="5A605C"/>
                </a:solidFill>
              </a:defRPr>
            </a:pPr>
            <a:r>
              <a:t>From wildly divergent (7.6x too high, 16% shortage hours) to close to Brainpool's real forecast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3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73152" rtlCol="0" anchor="ctr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551615" y="6446520"/>
            <a:ext cx="457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A605C"/>
                </a:solidFill>
              </a:defRPr>
            </a:pPr>
            <a:r>
              <a:t>34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1115568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t>•  Decide whether to pursue a full cross-border export model (a large undertaking) - the midday-price gap is the main remaining issue and needs this</a:t>
            </a:r>
          </a:p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t>•  Consider whether to update the shortage price (3,000 EUR/MWh) to reflect today's real EU cap (5,000 EUR/MWh)</a:t>
            </a:r>
          </a:p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t>•  Investigate WHY the import ceiling behaves differently across years - a real, still-unexplained pattern</a:t>
            </a:r>
          </a:p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t>•  Continue folding all findings into the formal thesis documentation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3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73152" rtlCol="0" anchor="ctr"/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Questions &amp; Discussion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551615" y="6446520"/>
            <a:ext cx="457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A605C"/>
                </a:solidFill>
              </a:defRPr>
            </a:pPr>
            <a:r>
              <a:t>35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1115568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60120"/>
          </a:xfrm>
          <a:prstGeom prst="rect">
            <a:avLst/>
          </a:prstGeom>
          <a:solidFill>
            <a:srgbClr val="1F3A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73152" wrap="square"/>
          <a:lstStyle/>
          <a:p>
            <a:pPr algn="ctr">
              <a:defRPr sz="2600" b="1">
                <a:solidFill>
                  <a:srgbClr val="FFFFFF"/>
                </a:solidFill>
              </a:defRPr>
            </a:pPr>
            <a:r>
              <a:t>Quick Recap: Where We Left Off on 27 August</a:t>
            </a:r>
          </a:p>
          <a:p>
            <a:pPr>
              <a:defRPr sz="1400">
                <a:solidFill>
                  <a:srgbClr val="C8D2DA"/>
                </a:solidFill>
              </a:defRPr>
            </a:pPr>
            <a:r>
              <a:t>For orientation - the full detail is in the comprehensive deck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551920" y="6446520"/>
            <a:ext cx="457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5A605C"/>
                </a:solidFill>
              </a:defRPr>
            </a:pPr>
            <a: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34440"/>
            <a:ext cx="1115568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t>•  Built and validated AMIRIS against Brainpool's real 2027 forecast, diagnosing and fixing a genuine import-timing bug</a:t>
            </a:r>
          </a:p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t>•  Refined demand modelling and fixed a real weekday/weekend calendar mismatch</a:t>
            </a:r>
          </a:p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t>•  Added price-responsive electrolysis and e-mobility - the strongest result at the time, eliminating shortage hours entirely</a:t>
            </a:r>
          </a:p>
          <a:p>
            <a:pPr>
              <a:spcAft>
                <a:spcPts val="1000"/>
              </a:spcAft>
              <a:defRPr sz="1800" b="1">
                <a:solidFill>
                  <a:srgbClr val="1E2220"/>
                </a:solidFill>
              </a:defRPr>
            </a:pPr>
            <a:r>
              <a:t>•  Correlation to Brainpool's forecast reached 0.647, up from 0.439 at the start of that work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205</TotalTime>
  <Words>954</Words>
  <Application>Microsoft Office PowerPoint</Application>
  <PresentationFormat>Widescreen</PresentationFormat>
  <Paragraphs>117</Paragraphs>
  <Slides>22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MUIDEEN AJIBOYE</cp:lastModifiedBy>
  <cp:revision>2</cp:revision>
  <dcterms:created xsi:type="dcterms:W3CDTF">2013-01-27T09:14:16Z</dcterms:created>
  <dcterms:modified xsi:type="dcterms:W3CDTF">2026-08-26T22:32:27Z</dcterms:modified>
  <cp:category/>
</cp:coreProperties>
</file>