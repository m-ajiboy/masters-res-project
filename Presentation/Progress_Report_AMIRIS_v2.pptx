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3" r:id="rId1"/>
    <p:sldMasterId id="2147483661" r:id="rId2"/>
    <p:sldMasterId id="2147483725" r:id="rId3"/>
  </p:sldMasterIdLst>
  <p:notesMasterIdLst>
    <p:notesMasterId r:id="rId23"/>
  </p:notesMasterIdLst>
  <p:sldIdLst>
    <p:sldId id="314" r:id="rId4"/>
    <p:sldId id="329" r:id="rId5"/>
    <p:sldId id="330" r:id="rId6"/>
    <p:sldId id="364" r:id="rId7"/>
    <p:sldId id="378" r:id="rId8"/>
    <p:sldId id="365" r:id="rId9"/>
    <p:sldId id="372" r:id="rId10"/>
    <p:sldId id="373" r:id="rId11"/>
    <p:sldId id="374" r:id="rId12"/>
    <p:sldId id="366" r:id="rId13"/>
    <p:sldId id="375" r:id="rId14"/>
    <p:sldId id="371" r:id="rId15"/>
    <p:sldId id="367" r:id="rId16"/>
    <p:sldId id="376" r:id="rId17"/>
    <p:sldId id="377" r:id="rId18"/>
    <p:sldId id="379" r:id="rId41"/>
    <p:sldId id="380" r:id="rId42"/>
    <p:sldId id="368" r:id="rId19"/>
    <p:sldId id="369" r:id="rId20"/>
    <p:sldId id="370" r:id="rId21"/>
    <p:sldId id="363" r:id="rId22"/>
  </p:sldIdLst>
  <p:sldSz cx="12192000" cy="6858000"/>
  <p:notesSz cx="6858000" cy="9144000"/>
  <p:embeddedFontLst>
    <p:embeddedFont>
      <p:font typeface="Helvetica" panose="020B0604020202020204" pitchFamily="34" charset="0"/>
      <p:regular r:id="rId24"/>
      <p:bold r:id="rId25"/>
      <p:italic r:id="rId26"/>
      <p:boldItalic r:id="rId27"/>
    </p:embeddedFont>
    <p:embeddedFont>
      <p:font typeface="Inter Tight" panose="020B0604020202020204" charset="0"/>
      <p:regular r:id="rId28"/>
      <p:bold r:id="rId29"/>
      <p:italic r:id="rId30"/>
      <p:boldItalic r:id="rId31"/>
    </p:embeddedFont>
    <p:embeddedFont>
      <p:font typeface="Inter Tight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tf0F+41Kl612nkVUgLkpcbtgx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AD7D49-C064-424F-92F3-4E2EBC6DFEB3}">
  <a:tblStyle styleId="{07AD7D49-C064-424F-92F3-4E2EBC6DFE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0EF580-F2A9-45B6-A663-F4C5D8FDB2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font" Target="fonts/font9.fntdata"/><Relationship Id="rId33" Type="http://schemas.openxmlformats.org/officeDocument/2006/relationships/font" Target="fonts/font10.fntdata"/><Relationship Id="rId34" Type="http://schemas.openxmlformats.org/officeDocument/2006/relationships/font" Target="fonts/font11.fntdata"/><Relationship Id="rId35" Type="http://schemas.openxmlformats.org/officeDocument/2006/relationships/font" Target="fonts/font12.fntdata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69" Type="http://customschemas.google.com/relationships/presentationmetadata" Target="metadata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>
          <a:extLst>
            <a:ext uri="{FF2B5EF4-FFF2-40B4-BE49-F238E27FC236}">
              <a16:creationId xmlns:a16="http://schemas.microsoft.com/office/drawing/2014/main" id="{A1734258-795A-6B28-EC29-B2779F6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>
            <a:extLst>
              <a:ext uri="{FF2B5EF4-FFF2-40B4-BE49-F238E27FC236}">
                <a16:creationId xmlns:a16="http://schemas.microsoft.com/office/drawing/2014/main" id="{490F2E55-EAF3-1DAD-1514-48F864CE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9:notes">
            <a:extLst>
              <a:ext uri="{FF2B5EF4-FFF2-40B4-BE49-F238E27FC236}">
                <a16:creationId xmlns:a16="http://schemas.microsoft.com/office/drawing/2014/main" id="{30A67E56-671E-6571-8E78-DA449851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4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5E74DF5D-3489-3D19-B60B-3F8B4F0F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AF9C44A1-54D8-BC51-5E4C-514D03A75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05FD0817-4276-DC6F-BF88-E1E1E23F2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10FD2CAA-D497-BC2D-54A8-F2A6340D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E231CFF2-555B-4326-3D77-317505788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71A1D26D-30A8-403F-C18C-2D3499C1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8548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6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6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6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>
            <a:spLocks noGrp="1"/>
          </p:cNvSpPr>
          <p:nvPr>
            <p:ph type="pic" idx="2"/>
          </p:nvPr>
        </p:nvSpPr>
        <p:spPr>
          <a:xfrm rot="-300071">
            <a:off x="713847" y="1200402"/>
            <a:ext cx="4356686" cy="4389523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1" name="Google Shape;101;p50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0"/>
          <p:cNvSpPr txBox="1">
            <a:spLocks noGrp="1"/>
          </p:cNvSpPr>
          <p:nvPr>
            <p:ph type="title"/>
          </p:nvPr>
        </p:nvSpPr>
        <p:spPr>
          <a:xfrm>
            <a:off x="6939500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1"/>
          </p:nvPr>
        </p:nvSpPr>
        <p:spPr>
          <a:xfrm>
            <a:off x="6939500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50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1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5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13" name="Google Shape;113;p5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 rot="300178">
            <a:off x="6537643" y="1127807"/>
            <a:ext cx="5266765" cy="4609786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6" name="Google Shape;116;p5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title"/>
          </p:nvPr>
        </p:nvSpPr>
        <p:spPr>
          <a:xfrm>
            <a:off x="445233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body" idx="1"/>
          </p:nvPr>
        </p:nvSpPr>
        <p:spPr>
          <a:xfrm>
            <a:off x="445233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52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6"/>
          <p:cNvGrpSpPr/>
          <p:nvPr/>
        </p:nvGrpSpPr>
        <p:grpSpPr>
          <a:xfrm rot="299971">
            <a:off x="164311" y="-736636"/>
            <a:ext cx="11869956" cy="8325992"/>
            <a:chOff x="123132" y="-551300"/>
            <a:chExt cx="8902204" cy="6242265"/>
          </a:xfrm>
        </p:grpSpPr>
        <p:grpSp>
          <p:nvGrpSpPr>
            <p:cNvPr id="132" name="Google Shape;132;p76"/>
            <p:cNvGrpSpPr/>
            <p:nvPr/>
          </p:nvGrpSpPr>
          <p:grpSpPr>
            <a:xfrm>
              <a:off x="123733" y="-78561"/>
              <a:ext cx="8901003" cy="5296801"/>
              <a:chOff x="123733" y="-78561"/>
              <a:chExt cx="8901003" cy="5296801"/>
            </a:xfrm>
          </p:grpSpPr>
          <p:sp>
            <p:nvSpPr>
              <p:cNvPr id="133" name="Google Shape;133;p76"/>
              <p:cNvSpPr/>
              <p:nvPr/>
            </p:nvSpPr>
            <p:spPr>
              <a:xfrm rot="-1623">
                <a:off x="7117078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76"/>
              <p:cNvSpPr/>
              <p:nvPr/>
            </p:nvSpPr>
            <p:spPr>
              <a:xfrm rot="-1487" flipH="1">
                <a:off x="124878" y="-77211"/>
                <a:ext cx="6242101" cy="5294101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5" name="Google Shape;135;p76"/>
              <p:cNvSpPr/>
              <p:nvPr/>
            </p:nvSpPr>
            <p:spPr>
              <a:xfrm rot="10798513" flipH="1">
                <a:off x="2781192" y="-76291"/>
                <a:ext cx="6242401" cy="5289901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6" name="Google Shape;136;p76"/>
              <p:cNvSpPr/>
              <p:nvPr/>
            </p:nvSpPr>
            <p:spPr>
              <a:xfrm rot="-1623">
                <a:off x="125125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37" name="Google Shape;137;p76"/>
            <p:cNvSpPr/>
            <p:nvPr/>
          </p:nvSpPr>
          <p:spPr>
            <a:xfrm rot="-4516116">
              <a:off x="314234" y="-331781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38" name="Google Shape;138;p76"/>
            <p:cNvSpPr/>
            <p:nvPr/>
          </p:nvSpPr>
          <p:spPr>
            <a:xfrm rot="6283884">
              <a:off x="6963128" y="3633522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39" name="Google Shape;139;p76"/>
          <p:cNvSpPr txBox="1">
            <a:spLocks noGrp="1"/>
          </p:cNvSpPr>
          <p:nvPr>
            <p:ph type="ctrTitle"/>
          </p:nvPr>
        </p:nvSpPr>
        <p:spPr>
          <a:xfrm>
            <a:off x="2435100" y="2079433"/>
            <a:ext cx="7326300" cy="20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0" name="Google Shape;140;p76"/>
          <p:cNvSpPr txBox="1">
            <a:spLocks noGrp="1"/>
          </p:cNvSpPr>
          <p:nvPr>
            <p:ph type="subTitle" idx="1"/>
          </p:nvPr>
        </p:nvSpPr>
        <p:spPr>
          <a:xfrm>
            <a:off x="2435100" y="4336633"/>
            <a:ext cx="7326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9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body" idx="2"/>
          </p:nvPr>
        </p:nvSpPr>
        <p:spPr>
          <a:xfrm>
            <a:off x="64432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8" name="Google Shape;158;p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9" name="Google Shape;159;p8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66" name="Google Shape;166;p83"/>
          <p:cNvSpPr txBox="1">
            <a:spLocks noGrp="1"/>
          </p:cNvSpPr>
          <p:nvPr>
            <p:ph type="subTitle" idx="1"/>
          </p:nvPr>
        </p:nvSpPr>
        <p:spPr>
          <a:xfrm>
            <a:off x="354000" y="3737434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167" name="Google Shape;167;p83"/>
          <p:cNvSpPr txBox="1">
            <a:spLocks noGrp="1"/>
          </p:cNvSpPr>
          <p:nvPr>
            <p:ph type="body" idx="2"/>
          </p:nvPr>
        </p:nvSpPr>
        <p:spPr>
          <a:xfrm>
            <a:off x="6586000" y="965434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8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 txBox="1">
            <a:spLocks noGrp="1"/>
          </p:cNvSpPr>
          <p:nvPr>
            <p:ph type="title"/>
          </p:nvPr>
        </p:nvSpPr>
        <p:spPr>
          <a:xfrm>
            <a:off x="415600" y="1474834"/>
            <a:ext cx="11360700" cy="26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9pPr>
          </a:lstStyle>
          <a:p>
            <a:endParaRPr/>
          </a:p>
        </p:txBody>
      </p:sp>
      <p:sp>
        <p:nvSpPr>
          <p:cNvPr id="174" name="Google Shape;174;p85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8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6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6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9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8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4608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8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87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4" name="Google Shape;184;p8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8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8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7" name="Google Shape;187;p8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8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2" name="Google Shape;192;p88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88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94" name="Google Shape;194;p88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5" name="Google Shape;195;p88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8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8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89"/>
          <p:cNvSpPr txBox="1">
            <a:spLocks noGrp="1"/>
          </p:cNvSpPr>
          <p:nvPr>
            <p:ph type="body" idx="3"/>
          </p:nvPr>
        </p:nvSpPr>
        <p:spPr>
          <a:xfrm>
            <a:off x="489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89"/>
          <p:cNvSpPr txBox="1">
            <a:spLocks noGrp="1"/>
          </p:cNvSpPr>
          <p:nvPr>
            <p:ph type="body" idx="4"/>
          </p:nvPr>
        </p:nvSpPr>
        <p:spPr>
          <a:xfrm>
            <a:off x="6585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89"/>
          <p:cNvSpPr txBox="1">
            <a:spLocks noGrp="1"/>
          </p:cNvSpPr>
          <p:nvPr>
            <p:ph type="title"/>
          </p:nvPr>
        </p:nvSpPr>
        <p:spPr>
          <a:xfrm>
            <a:off x="489000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204" name="Google Shape;204;p8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5" name="Google Shape;205;p89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6" name="Google Shape;206;p89"/>
          <p:cNvSpPr txBox="1">
            <a:spLocks noGrp="1"/>
          </p:cNvSpPr>
          <p:nvPr>
            <p:ph type="subTitle" idx="7"/>
          </p:nvPr>
        </p:nvSpPr>
        <p:spPr>
          <a:xfrm>
            <a:off x="6585015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7" name="Google Shape;207;p8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0"/>
          <p:cNvSpPr>
            <a:spLocks noGrp="1"/>
          </p:cNvSpPr>
          <p:nvPr>
            <p:ph type="pic" idx="2"/>
          </p:nvPr>
        </p:nvSpPr>
        <p:spPr>
          <a:xfrm>
            <a:off x="415600" y="1560566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4" name="Google Shape;214;p91"/>
          <p:cNvSpPr>
            <a:spLocks noGrp="1"/>
          </p:cNvSpPr>
          <p:nvPr>
            <p:ph type="pic" idx="2"/>
          </p:nvPr>
        </p:nvSpPr>
        <p:spPr>
          <a:xfrm>
            <a:off x="64064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91"/>
          <p:cNvSpPr>
            <a:spLocks noGrp="1"/>
          </p:cNvSpPr>
          <p:nvPr>
            <p:ph type="pic" idx="3"/>
          </p:nvPr>
        </p:nvSpPr>
        <p:spPr>
          <a:xfrm>
            <a:off x="4156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9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7" name="Google Shape;217;p9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0" name="Google Shape;220;p9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3" name="Google Shape;223;p9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9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9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6" name="Google Shape;226;p9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9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8" name="Google Shape;228;p9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92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1" name="Google Shape;231;p9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2" name="Google Shape;232;p9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3"/>
          <p:cNvSpPr>
            <a:spLocks noGrp="1"/>
          </p:cNvSpPr>
          <p:nvPr>
            <p:ph type="pic" idx="2"/>
          </p:nvPr>
        </p:nvSpPr>
        <p:spPr>
          <a:xfrm>
            <a:off x="415600" y="593366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9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9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9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94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94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94"/>
          <p:cNvSpPr txBox="1">
            <a:spLocks noGrp="1"/>
          </p:cNvSpPr>
          <p:nvPr>
            <p:ph type="title"/>
          </p:nvPr>
        </p:nvSpPr>
        <p:spPr>
          <a:xfrm>
            <a:off x="468733" y="593366"/>
            <a:ext cx="34623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4"/>
          <p:cNvSpPr>
            <a:spLocks noGrp="1"/>
          </p:cNvSpPr>
          <p:nvPr>
            <p:ph type="pic" idx="8"/>
          </p:nvPr>
        </p:nvSpPr>
        <p:spPr>
          <a:xfrm>
            <a:off x="4519451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94"/>
          <p:cNvSpPr>
            <a:spLocks noGrp="1"/>
          </p:cNvSpPr>
          <p:nvPr>
            <p:ph type="pic" idx="9"/>
          </p:nvPr>
        </p:nvSpPr>
        <p:spPr>
          <a:xfrm>
            <a:off x="6927896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94"/>
          <p:cNvSpPr>
            <a:spLocks noGrp="1"/>
          </p:cNvSpPr>
          <p:nvPr>
            <p:ph type="pic" idx="13"/>
          </p:nvPr>
        </p:nvSpPr>
        <p:spPr>
          <a:xfrm>
            <a:off x="9336343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5"/>
          <p:cNvGrpSpPr/>
          <p:nvPr/>
        </p:nvGrpSpPr>
        <p:grpSpPr>
          <a:xfrm>
            <a:off x="100" y="342225"/>
            <a:ext cx="5064461" cy="1587259"/>
            <a:chOff x="75" y="256675"/>
            <a:chExt cx="3798441" cy="1190474"/>
          </a:xfrm>
        </p:grpSpPr>
        <p:sp>
          <p:nvSpPr>
            <p:cNvPr id="250" name="Google Shape;250;p95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" name="Google Shape;251;p95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" name="Google Shape;252;p95"/>
          <p:cNvSpPr txBox="1">
            <a:spLocks noGrp="1"/>
          </p:cNvSpPr>
          <p:nvPr>
            <p:ph type="title"/>
          </p:nvPr>
        </p:nvSpPr>
        <p:spPr>
          <a:xfrm>
            <a:off x="445233" y="725666"/>
            <a:ext cx="40533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subTitle" idx="1"/>
          </p:nvPr>
        </p:nvSpPr>
        <p:spPr>
          <a:xfrm>
            <a:off x="1532168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2"/>
          </p:nvPr>
        </p:nvSpPr>
        <p:spPr>
          <a:xfrm>
            <a:off x="1532168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subTitle" idx="3"/>
          </p:nvPr>
        </p:nvSpPr>
        <p:spPr>
          <a:xfrm>
            <a:off x="1532168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4"/>
          </p:nvPr>
        </p:nvSpPr>
        <p:spPr>
          <a:xfrm>
            <a:off x="1532168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subTitle" idx="5"/>
          </p:nvPr>
        </p:nvSpPr>
        <p:spPr>
          <a:xfrm>
            <a:off x="1532168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6"/>
          </p:nvPr>
        </p:nvSpPr>
        <p:spPr>
          <a:xfrm>
            <a:off x="7103801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5"/>
          <p:cNvSpPr txBox="1">
            <a:spLocks noGrp="1"/>
          </p:cNvSpPr>
          <p:nvPr>
            <p:ph type="subTitle" idx="7"/>
          </p:nvPr>
        </p:nvSpPr>
        <p:spPr>
          <a:xfrm>
            <a:off x="7103801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95"/>
          <p:cNvSpPr txBox="1">
            <a:spLocks noGrp="1"/>
          </p:cNvSpPr>
          <p:nvPr>
            <p:ph type="subTitle" idx="8"/>
          </p:nvPr>
        </p:nvSpPr>
        <p:spPr>
          <a:xfrm>
            <a:off x="7103801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5"/>
          <p:cNvSpPr txBox="1">
            <a:spLocks noGrp="1"/>
          </p:cNvSpPr>
          <p:nvPr>
            <p:ph type="subTitle" idx="9"/>
          </p:nvPr>
        </p:nvSpPr>
        <p:spPr>
          <a:xfrm>
            <a:off x="7103801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5"/>
          <p:cNvSpPr txBox="1">
            <a:spLocks noGrp="1"/>
          </p:cNvSpPr>
          <p:nvPr>
            <p:ph type="subTitle" idx="13"/>
          </p:nvPr>
        </p:nvSpPr>
        <p:spPr>
          <a:xfrm>
            <a:off x="7103801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6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5" name="Google Shape;265;p96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6" name="Google Shape;266;p96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508109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body" idx="4"/>
          </p:nvPr>
        </p:nvSpPr>
        <p:spPr>
          <a:xfrm>
            <a:off x="508109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subTitle" idx="5"/>
          </p:nvPr>
        </p:nvSpPr>
        <p:spPr>
          <a:xfrm>
            <a:off x="6089243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body" idx="6"/>
          </p:nvPr>
        </p:nvSpPr>
        <p:spPr>
          <a:xfrm>
            <a:off x="6089243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97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276" name="Google Shape;276;p97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7" name="Google Shape;277;p97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8" name="Google Shape;278;p97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9" name="Google Shape;279;p97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0" name="Google Shape;280;p9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>
            <a:spLocks noGrp="1"/>
          </p:cNvSpPr>
          <p:nvPr>
            <p:ph type="pic" idx="2"/>
          </p:nvPr>
        </p:nvSpPr>
        <p:spPr>
          <a:xfrm rot="300028">
            <a:off x="1030998" y="3562331"/>
            <a:ext cx="2326655" cy="232665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98"/>
          <p:cNvSpPr>
            <a:spLocks noGrp="1"/>
          </p:cNvSpPr>
          <p:nvPr>
            <p:ph type="pic" idx="3"/>
          </p:nvPr>
        </p:nvSpPr>
        <p:spPr>
          <a:xfrm rot="-300105">
            <a:off x="4793073" y="3506121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98"/>
          <p:cNvSpPr>
            <a:spLocks noGrp="1"/>
          </p:cNvSpPr>
          <p:nvPr>
            <p:ph type="pic" idx="4"/>
          </p:nvPr>
        </p:nvSpPr>
        <p:spPr>
          <a:xfrm rot="300105">
            <a:off x="8599541" y="3562548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9" name="Google Shape;289;p9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98"/>
          <p:cNvSpPr txBox="1">
            <a:spLocks noGrp="1"/>
          </p:cNvSpPr>
          <p:nvPr>
            <p:ph type="subTitle" idx="1"/>
          </p:nvPr>
        </p:nvSpPr>
        <p:spPr>
          <a:xfrm>
            <a:off x="508084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1" name="Google Shape;291;p98"/>
          <p:cNvSpPr txBox="1">
            <a:spLocks noGrp="1"/>
          </p:cNvSpPr>
          <p:nvPr>
            <p:ph type="body" idx="5"/>
          </p:nvPr>
        </p:nvSpPr>
        <p:spPr>
          <a:xfrm>
            <a:off x="508084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subTitle" idx="6"/>
          </p:nvPr>
        </p:nvSpPr>
        <p:spPr>
          <a:xfrm>
            <a:off x="4292400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7"/>
          </p:nvPr>
        </p:nvSpPr>
        <p:spPr>
          <a:xfrm>
            <a:off x="4292400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subTitle" idx="8"/>
          </p:nvPr>
        </p:nvSpPr>
        <p:spPr>
          <a:xfrm>
            <a:off x="8076717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body" idx="9"/>
          </p:nvPr>
        </p:nvSpPr>
        <p:spPr>
          <a:xfrm>
            <a:off x="8076717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98"/>
          <p:cNvSpPr txBox="1">
            <a:spLocks noGrp="1"/>
          </p:cNvSpPr>
          <p:nvPr>
            <p:ph type="subTitle" idx="1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8" name="Google Shape;298;p98"/>
          <p:cNvSpPr txBox="1">
            <a:spLocks noGrp="1"/>
          </p:cNvSpPr>
          <p:nvPr>
            <p:ph type="subTitle" idx="1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01" name="Google Shape;301;p99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05" name="Google Shape;305;p99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578370" y="1602904"/>
            <a:ext cx="3510843" cy="1206125"/>
            <a:chOff x="433788" y="1202208"/>
            <a:chExt cx="2633198" cy="904617"/>
          </a:xfrm>
        </p:grpSpPr>
        <p:sp>
          <p:nvSpPr>
            <p:cNvPr id="308" name="Google Shape;308;p100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 rot="-6523">
              <a:off x="2750484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10" name="Google Shape;310;p100"/>
          <p:cNvSpPr txBox="1">
            <a:spLocks noGrp="1"/>
          </p:cNvSpPr>
          <p:nvPr>
            <p:ph type="subTitle" idx="1"/>
          </p:nvPr>
        </p:nvSpPr>
        <p:spPr>
          <a:xfrm>
            <a:off x="582667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11" name="Google Shape;311;p100"/>
          <p:cNvSpPr txBox="1">
            <a:spLocks noGrp="1"/>
          </p:cNvSpPr>
          <p:nvPr>
            <p:ph type="body" idx="2"/>
          </p:nvPr>
        </p:nvSpPr>
        <p:spPr>
          <a:xfrm>
            <a:off x="582667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00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13" name="Google Shape;313;p100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00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0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6" name="Google Shape;316;p100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01"/>
          <p:cNvGrpSpPr/>
          <p:nvPr/>
        </p:nvGrpSpPr>
        <p:grpSpPr>
          <a:xfrm>
            <a:off x="4338492" y="1602904"/>
            <a:ext cx="3510844" cy="1206125"/>
            <a:chOff x="3253950" y="1202208"/>
            <a:chExt cx="2633199" cy="904617"/>
          </a:xfrm>
        </p:grpSpPr>
        <p:sp>
          <p:nvSpPr>
            <p:cNvPr id="319" name="Google Shape;319;p101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101"/>
            <p:cNvSpPr/>
            <p:nvPr/>
          </p:nvSpPr>
          <p:spPr>
            <a:xfrm rot="-6523">
              <a:off x="5570647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21" name="Google Shape;321;p101"/>
          <p:cNvSpPr txBox="1">
            <a:spLocks noGrp="1"/>
          </p:cNvSpPr>
          <p:nvPr>
            <p:ph type="subTitle" idx="1"/>
          </p:nvPr>
        </p:nvSpPr>
        <p:spPr>
          <a:xfrm>
            <a:off x="4342884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2" name="Google Shape;322;p101"/>
          <p:cNvSpPr txBox="1">
            <a:spLocks noGrp="1"/>
          </p:cNvSpPr>
          <p:nvPr>
            <p:ph type="body" idx="2"/>
          </p:nvPr>
        </p:nvSpPr>
        <p:spPr>
          <a:xfrm>
            <a:off x="4342884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01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24" name="Google Shape;324;p10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0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27" name="Google Shape;327;p10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"/>
          <p:cNvSpPr/>
          <p:nvPr/>
        </p:nvSpPr>
        <p:spPr>
          <a:xfrm>
            <a:off x="4338433" y="1603100"/>
            <a:ext cx="7270800" cy="12060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0" name="Google Shape;330;p102"/>
          <p:cNvSpPr txBox="1">
            <a:spLocks noGrp="1"/>
          </p:cNvSpPr>
          <p:nvPr>
            <p:ph type="subTitle" idx="1"/>
          </p:nvPr>
        </p:nvSpPr>
        <p:spPr>
          <a:xfrm>
            <a:off x="4338600" y="1602934"/>
            <a:ext cx="6849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31" name="Google Shape;331;p102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32" name="Google Shape;332;p102"/>
          <p:cNvSpPr txBox="1">
            <a:spLocks noGrp="1"/>
          </p:cNvSpPr>
          <p:nvPr>
            <p:ph type="body" idx="3"/>
          </p:nvPr>
        </p:nvSpPr>
        <p:spPr>
          <a:xfrm>
            <a:off x="4338600" y="1947100"/>
            <a:ext cx="7270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10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02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02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6" name="Google Shape;336;p102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7" name="Google Shape;337;p102"/>
          <p:cNvSpPr/>
          <p:nvPr/>
        </p:nvSpPr>
        <p:spPr>
          <a:xfrm rot="-4894">
            <a:off x="11187751" y="1603443"/>
            <a:ext cx="421500" cy="424201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03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40" name="Google Shape;340;p103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41" name="Google Shape;341;p103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2" name="Google Shape;342;p103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43" name="Google Shape;343;p103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44" name="Google Shape;344;p103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03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03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103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48" name="Google Shape;348;p103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4"/>
          <p:cNvSpPr>
            <a:spLocks noGrp="1"/>
          </p:cNvSpPr>
          <p:nvPr>
            <p:ph type="pic" idx="2"/>
          </p:nvPr>
        </p:nvSpPr>
        <p:spPr>
          <a:xfrm>
            <a:off x="4726484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1" name="Google Shape;351;p104"/>
          <p:cNvSpPr>
            <a:spLocks noGrp="1"/>
          </p:cNvSpPr>
          <p:nvPr>
            <p:ph type="pic" idx="3"/>
          </p:nvPr>
        </p:nvSpPr>
        <p:spPr>
          <a:xfrm>
            <a:off x="8878051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2" name="Google Shape;352;p104"/>
          <p:cNvSpPr>
            <a:spLocks noGrp="1"/>
          </p:cNvSpPr>
          <p:nvPr>
            <p:ph type="pic" idx="4"/>
          </p:nvPr>
        </p:nvSpPr>
        <p:spPr>
          <a:xfrm>
            <a:off x="574933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3" name="Google Shape;353;p104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04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4"/>
          <p:cNvSpPr txBox="1">
            <a:spLocks noGrp="1"/>
          </p:cNvSpPr>
          <p:nvPr>
            <p:ph type="subTitle" idx="1"/>
          </p:nvPr>
        </p:nvSpPr>
        <p:spPr>
          <a:xfrm>
            <a:off x="508133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6" name="Google Shape;356;p104"/>
          <p:cNvSpPr txBox="1">
            <a:spLocks noGrp="1"/>
          </p:cNvSpPr>
          <p:nvPr>
            <p:ph type="subTitle" idx="5"/>
          </p:nvPr>
        </p:nvSpPr>
        <p:spPr>
          <a:xfrm>
            <a:off x="4659700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subTitle" idx="6"/>
          </p:nvPr>
        </p:nvSpPr>
        <p:spPr>
          <a:xfrm>
            <a:off x="8811251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05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62" name="Google Shape;362;p105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63" name="Google Shape;363;p105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4" name="Google Shape;364;p105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5" name="Google Shape;365;p105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5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05"/>
          <p:cNvSpPr txBox="1">
            <a:spLocks noGrp="1"/>
          </p:cNvSpPr>
          <p:nvPr>
            <p:ph type="body" idx="1"/>
          </p:nvPr>
        </p:nvSpPr>
        <p:spPr>
          <a:xfrm>
            <a:off x="445233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69" name="Google Shape;369;p105"/>
          <p:cNvSpPr txBox="1">
            <a:spLocks noGrp="1"/>
          </p:cNvSpPr>
          <p:nvPr>
            <p:ph type="body" idx="2"/>
          </p:nvPr>
        </p:nvSpPr>
        <p:spPr>
          <a:xfrm>
            <a:off x="6126768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70" name="Google Shape;370;p105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71" name="Google Shape;371;p105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06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sp>
          <p:nvSpPr>
            <p:cNvPr id="374" name="Google Shape;374;p106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106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106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77" name="Google Shape;377;p106"/>
          <p:cNvSpPr txBox="1">
            <a:spLocks noGrp="1"/>
          </p:cNvSpPr>
          <p:nvPr>
            <p:ph type="body" idx="1"/>
          </p:nvPr>
        </p:nvSpPr>
        <p:spPr>
          <a:xfrm>
            <a:off x="445233" y="4840766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0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06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06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1" name="Google Shape;381;p106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2" name="Google Shape;382;p106"/>
          <p:cNvSpPr txBox="1">
            <a:spLocks noGrp="1"/>
          </p:cNvSpPr>
          <p:nvPr>
            <p:ph type="body" idx="4"/>
          </p:nvPr>
        </p:nvSpPr>
        <p:spPr>
          <a:xfrm>
            <a:off x="445233" y="4245568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06"/>
          <p:cNvSpPr txBox="1">
            <a:spLocks noGrp="1"/>
          </p:cNvSpPr>
          <p:nvPr>
            <p:ph type="body" idx="5"/>
          </p:nvPr>
        </p:nvSpPr>
        <p:spPr>
          <a:xfrm>
            <a:off x="445233" y="3650369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6"/>
          </p:nvPr>
        </p:nvSpPr>
        <p:spPr>
          <a:xfrm>
            <a:off x="445233" y="3055170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7"/>
          <p:cNvSpPr txBox="1"/>
          <p:nvPr/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3600" b="0" i="0" u="none" strike="noStrike" cap="none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88" name="Google Shape;388;p107"/>
          <p:cNvGrpSpPr/>
          <p:nvPr/>
        </p:nvGrpSpPr>
        <p:grpSpPr>
          <a:xfrm rot="300228">
            <a:off x="1700980" y="722882"/>
            <a:ext cx="8797516" cy="5410206"/>
            <a:chOff x="1275767" y="542608"/>
            <a:chExt cx="6597898" cy="4056173"/>
          </a:xfrm>
        </p:grpSpPr>
        <p:grpSp>
          <p:nvGrpSpPr>
            <p:cNvPr id="389" name="Google Shape;389;p107"/>
            <p:cNvGrpSpPr/>
            <p:nvPr/>
          </p:nvGrpSpPr>
          <p:grpSpPr>
            <a:xfrm>
              <a:off x="1276090" y="891661"/>
              <a:ext cx="6596464" cy="3357717"/>
              <a:chOff x="1276090" y="891661"/>
              <a:chExt cx="6596464" cy="3357717"/>
            </a:xfrm>
          </p:grpSpPr>
          <p:sp>
            <p:nvSpPr>
              <p:cNvPr id="390" name="Google Shape;390;p107"/>
              <p:cNvSpPr/>
              <p:nvPr/>
            </p:nvSpPr>
            <p:spPr>
              <a:xfrm rot="-2190">
                <a:off x="6458573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91" name="Google Shape;391;p107"/>
              <p:cNvSpPr/>
              <p:nvPr/>
            </p:nvSpPr>
            <p:spPr>
              <a:xfrm rot="-2453" flipH="1">
                <a:off x="1277286" y="893727"/>
                <a:ext cx="4625401" cy="3354001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2" name="Google Shape;392;p107"/>
              <p:cNvSpPr/>
              <p:nvPr/>
            </p:nvSpPr>
            <p:spPr>
              <a:xfrm rot="10797547" flipH="1">
                <a:off x="3245657" y="893311"/>
                <a:ext cx="4625701" cy="3354001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3" name="Google Shape;393;p107"/>
              <p:cNvSpPr/>
              <p:nvPr/>
            </p:nvSpPr>
            <p:spPr>
              <a:xfrm rot="-2190">
                <a:off x="1277402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94" name="Google Shape;394;p107"/>
            <p:cNvSpPr/>
            <p:nvPr/>
          </p:nvSpPr>
          <p:spPr>
            <a:xfrm rot="-4517241">
              <a:off x="1416992" y="705337"/>
              <a:ext cx="1386770" cy="136166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95" name="Google Shape;395;p107"/>
            <p:cNvSpPr/>
            <p:nvPr/>
          </p:nvSpPr>
          <p:spPr>
            <a:xfrm rot="6281922">
              <a:off x="6346506" y="3074687"/>
              <a:ext cx="1384510" cy="136311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96" name="Google Shape;396;p107"/>
          <p:cNvSpPr txBox="1">
            <a:spLocks noGrp="1"/>
          </p:cNvSpPr>
          <p:nvPr>
            <p:ph type="title"/>
          </p:nvPr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07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98" name="Google Shape;398;p107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8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08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402" name="Google Shape;402;p108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60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032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8EF8-A476-47CE-8DE0-2F49C539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6223-3D62-4898-A14F-C0BC3F9C3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68A-1185-4DE4-AE80-8A12A148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D7BF-A836-4ADF-A441-BE8AB80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1FCE-22FE-4738-B7F1-D1F5663C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69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5AA-79DE-4BFE-B251-4B4F64FF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B7B9-B6B7-4B34-91E2-CAE7445F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342-7C6B-4DA7-ADE8-ABE9C192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7BDA-3AD8-42AD-9087-64686D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4B0D-D3CD-42D1-83E6-2B74E85B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98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FCE3-44B5-4206-B2C4-46422DC3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8AD2-AE27-4F40-BDC8-6A3F74DB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A34C-BAC0-47BF-A73F-2FB6543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0A40-CCA4-4070-9C1D-E0F808F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25E4C-D9E5-4636-BB57-C2925D6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64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006A-682B-4295-AF69-B8151941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3EDC-7C98-4743-A7E3-B49C71A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95F7-4589-47BA-9085-69279354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9EC6A-FDFC-4CDB-900B-EB812685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1981-A864-4101-BACF-FEBEE86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3F707-88F1-4D8D-8C82-C0C2CED7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21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65C-8C90-4342-9965-322AEB9A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984D-FAE8-493C-8C8E-C436B0F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3F33A-A6A7-4B67-B571-D6D60EF1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CF45E-4F7E-4D5C-B8FD-CD4D5FA45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C852E-2FA3-4B44-BA95-00E4C4272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9C959-A91D-4D73-81C8-FFBA02D5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4B896-7444-404A-8D68-BFB2E5E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3DCB7-FA06-4CBA-A9A2-AF0F173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08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5BD-5925-49DB-9D5D-2751784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7A07-1F76-4B9C-80E6-7430117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7ADA-81D6-4B44-A02A-E7158C36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BFC7-B26C-436C-93A8-E1D1E42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67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65607-07DC-4802-840E-790B6B5C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9FCBB-A604-448A-A126-C930FD42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7C4D-2D43-4A7C-8E28-C3CF3963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67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753-665E-4EFB-B587-8FBE8E62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F80-B4AA-409A-8C1D-B29CCE8B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4A319-FB6F-4B95-80CF-1759C67AB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BBC4-7FA7-4D03-AABD-DF2EAE55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896D1-FFF4-4BBF-B58C-66813B9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39FC-17B2-4D78-8DA5-F6DA03C9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45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8A61-2906-46BC-AF42-929A5824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8D4A2-6F71-4CB4-879F-70A9FEEEC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C8DE-FA4E-4E9A-B1B7-54330648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BC98-AD9C-425E-940D-9B1A7DF9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046-3CAC-40CD-9217-ECF1CA6A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4B41-78B3-4F60-A9F3-8BEC56B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48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01A-863A-4012-8AFF-B1F5BD9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FECE-F59B-436E-8BC5-77A57D477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BB9-165D-4A02-9C9C-28B7D69B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7F77C-5E2B-4E82-8D54-9E19B76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7B89-8746-41A0-9C7F-F33F1FC5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454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83AA-2DE6-42FF-A41E-0F2AE01E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52AB3-F746-4876-965B-A21304B5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DB7-9AB3-4054-848E-9098E0FE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EA99-2ADA-4FCC-A87A-80D604B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9F16-FE61-4BAD-AA5B-5A08B20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67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0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12" r:id="rId39"/>
    <p:sldLayoutId id="214748373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3B80B-EE57-4A58-A23B-31A91D9A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DE4-DCB8-4EDB-BACA-38FB86A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5812-7DBA-4A8E-93A1-518E2AC0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997D-E6D3-4BB0-A633-981581A90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163-1BCC-4AA1-8E6A-C0CDDEBF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>
          <a:extLst>
            <a:ext uri="{FF2B5EF4-FFF2-40B4-BE49-F238E27FC236}">
              <a16:creationId xmlns:a16="http://schemas.microsoft.com/office/drawing/2014/main" id="{4191D11E-2ADA-34BC-E609-CB7BA6EC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">
            <a:extLst>
              <a:ext uri="{FF2B5EF4-FFF2-40B4-BE49-F238E27FC236}">
                <a16:creationId xmlns:a16="http://schemas.microsoft.com/office/drawing/2014/main" id="{9053C572-F437-E3FE-3A2F-14DB19FAD3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58238" y="564453"/>
            <a:ext cx="9560987" cy="111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algn="ctr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</a:pP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Report &amp; Thesis Plan: Evaluating AMIRIS as a Substitute for Purchased Electricity Price Time Series</a:t>
            </a:r>
          </a:p>
        </p:txBody>
      </p:sp>
      <p:pic>
        <p:nvPicPr>
          <p:cNvPr id="657" name="Google Shape;657;p19" descr="Untitled">
            <a:extLst>
              <a:ext uri="{FF2B5EF4-FFF2-40B4-BE49-F238E27FC236}">
                <a16:creationId xmlns:a16="http://schemas.microsoft.com/office/drawing/2014/main" id="{850DFBB0-AE83-A8B3-E179-C567C0690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41" y="6218838"/>
            <a:ext cx="2741675" cy="4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>
            <a:extLst>
              <a:ext uri="{FF2B5EF4-FFF2-40B4-BE49-F238E27FC236}">
                <a16:creationId xmlns:a16="http://schemas.microsoft.com/office/drawing/2014/main" id="{02C0FD23-07B1-DA35-D2BE-4F3C30258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Google Shape;656;p19">
            <a:extLst>
              <a:ext uri="{FF2B5EF4-FFF2-40B4-BE49-F238E27FC236}">
                <a16:creationId xmlns:a16="http://schemas.microsoft.com/office/drawing/2014/main" id="{E8BBA39E-01E7-78A0-C4D4-4B5D4644E988}"/>
              </a:ext>
            </a:extLst>
          </p:cNvPr>
          <p:cNvSpPr txBox="1">
            <a:spLocks/>
          </p:cNvSpPr>
          <p:nvPr/>
        </p:nvSpPr>
        <p:spPr>
          <a:xfrm>
            <a:off x="5735873" y="3991286"/>
            <a:ext cx="6241465" cy="18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	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500"/>
              </a:spcAft>
              <a:buClr>
                <a:schemeClr val="accent1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Rohith Krishnan Bala Krishnan</a:t>
            </a:r>
            <a:endParaRPr lang="en-US" sz="20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 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Muideen Oladayo Ajiboye (471583)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20 July 2026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Wingdings"/>
              <a:buChar char="Ø"/>
            </a:pPr>
            <a:endParaRPr lang="en-US" sz="4000" b="1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50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D2-DF58-C389-8593-B3C0C26C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2766150"/>
            <a:ext cx="10515600" cy="1325700"/>
          </a:xfrm>
        </p:spPr>
        <p:txBody>
          <a:bodyPr/>
          <a:lstStyle/>
          <a:p>
            <a:pPr algn="ctr"/>
            <a:r>
              <a:rPr lang="en-US" dirty="0"/>
              <a:t>Progress &amp; Plan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3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Motivation &amp; Research Question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3647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The need: </a:t>
            </a:r>
            <a:r>
              <a:rPr lang="en-US" sz="1600" dirty="0"/>
              <a:t>the department’s Thuringia energy model requires hourly day-ahead electricity price time series (8,760 prices per year, German bidding zone) as an input.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Status quo: </a:t>
            </a:r>
            <a:r>
              <a:rPr lang="en-US" sz="1600" dirty="0"/>
              <a:t>these series are purchased from Energy </a:t>
            </a:r>
            <a:r>
              <a:rPr lang="en-US" sz="1600" dirty="0" err="1"/>
              <a:t>Brainpool</a:t>
            </a:r>
            <a:r>
              <a:rPr lang="en-US" sz="1600"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b="1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The candidate: </a:t>
            </a:r>
            <a:r>
              <a:rPr lang="en-US" sz="1600" dirty="0"/>
              <a:t>AMIRIS – DLR’s open-source, agent-based electricity market model – produces the same kind of series at no cost, with full transparency.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Research question: </a:t>
            </a:r>
            <a:r>
              <a:rPr lang="en-US" sz="1600" dirty="0"/>
              <a:t>To what extent can AMIRIS reproduce German day-ahead price time series, and how does its accuracy compare with the commercially procured scenarios?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Proposed working title (for approval): </a:t>
            </a:r>
            <a:r>
              <a:rPr lang="en-US" sz="1600" dirty="0"/>
              <a:t>“Can Open-Source Market Simulation Substitute Purchased Electricity Price Time Series? Backtesting and Benchmarking AMIRIS for a Regional Energy Model”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Approach: Two Comparisons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644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Comparison 1 – Backtesting: </a:t>
            </a:r>
            <a:r>
              <a:rPr lang="en-US" sz="1600" dirty="0"/>
              <a:t>AMIRIS vs. real EPEX/SMARD prices for historical years – establishes model credibility against known ground truth.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Comparison 2 – Benchmarking: </a:t>
            </a:r>
            <a:r>
              <a:rPr lang="en-US" sz="1600" dirty="0"/>
              <a:t>AMIRIS vs. Energy Brainpool for a year covered by the department’s data, plus actual prices where that year already lies in the past.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Metrics: </a:t>
            </a:r>
            <a:r>
              <a:rPr lang="en-US" sz="1600" dirty="0"/>
              <a:t>mean/baseload price, MAE, RMSE, correlation, price duration curves, daily and seasonal profiles, negative-price and peak hours, wind/PV capture prices.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Key principle: </a:t>
            </a:r>
            <a:r>
              <a:rPr lang="en-US" sz="1600" dirty="0"/>
              <a:t>both models compute conditional scenarios, not forecasts – the comparison targets how faithfully each translates assumptions into realistic hourly price structure.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How the Backtest Pipeline Works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736" name="Parallelogram 735"/>
          <p:cNvSpPr/>
          <p:nvPr/>
        </p:nvSpPr>
        <p:spPr>
          <a:xfrm>
            <a:off x="1188720" y="1965960"/>
            <a:ext cx="2651760" cy="1051560"/>
          </a:xfrm>
          <a:prstGeom prst="parallelogram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Real Historical Data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1188720" y="30358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load · weather · fuel &amp; CO2 prices · outages</a:t>
            </a:r>
          </a:p>
        </p:txBody>
      </p:sp>
      <p:sp>
        <p:nvSpPr>
          <p:cNvPr id="738" name="Right Arrow 737"/>
          <p:cNvSpPr/>
          <p:nvPr/>
        </p:nvSpPr>
        <p:spPr>
          <a:xfrm>
            <a:off x="3977639" y="2331720"/>
            <a:ext cx="502920" cy="320040"/>
          </a:xfrm>
          <a:prstGeom prst="rightArrow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ounded Rectangle 738"/>
          <p:cNvSpPr/>
          <p:nvPr/>
        </p:nvSpPr>
        <p:spPr>
          <a:xfrm>
            <a:off x="4617720" y="1965960"/>
            <a:ext cx="274320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AMIRIS Engine</a:t>
            </a:r>
          </a:p>
        </p:txBody>
      </p:sp>
      <p:sp>
        <p:nvSpPr>
          <p:cNvPr id="740" name="Gear 9 739"/>
          <p:cNvSpPr/>
          <p:nvPr/>
        </p:nvSpPr>
        <p:spPr>
          <a:xfrm>
            <a:off x="4754880" y="2084831"/>
            <a:ext cx="457200" cy="457200"/>
          </a:xfrm>
          <a:prstGeom prst="gear9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TextBox 740"/>
          <p:cNvSpPr txBox="1"/>
          <p:nvPr/>
        </p:nvSpPr>
        <p:spPr>
          <a:xfrm>
            <a:off x="461772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virtual plants &amp; traders bid, hour by hour</a:t>
            </a:r>
          </a:p>
        </p:txBody>
      </p:sp>
      <p:sp>
        <p:nvSpPr>
          <p:cNvPr id="742" name="Right Arrow 741"/>
          <p:cNvSpPr/>
          <p:nvPr/>
        </p:nvSpPr>
        <p:spPr>
          <a:xfrm>
            <a:off x="7498079" y="2331720"/>
            <a:ext cx="502920" cy="320040"/>
          </a:xfrm>
          <a:prstGeom prst="rightArrow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Document 742"/>
          <p:cNvSpPr/>
          <p:nvPr/>
        </p:nvSpPr>
        <p:spPr>
          <a:xfrm>
            <a:off x="8138160" y="1920240"/>
            <a:ext cx="2651760" cy="1143000"/>
          </a:xfrm>
          <a:prstGeom prst="flowChartDocumen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D3D"/>
                </a:solidFill>
                <a:latin typeface="Helvetica"/>
              </a:rPr>
              <a:t>Simulated Price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8138160" y="31272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DayAheadMarketSingleZone.csv</a:t>
            </a:r>
          </a:p>
        </p:txBody>
      </p:sp>
      <p:cxnSp>
        <p:nvCxnSpPr>
          <p:cNvPr id="745" name="Connector 744"/>
          <p:cNvCxnSpPr/>
          <p:nvPr/>
        </p:nvCxnSpPr>
        <p:spPr>
          <a:xfrm>
            <a:off x="9464040" y="3154680"/>
            <a:ext cx="0" cy="1005840"/>
          </a:xfrm>
          <a:prstGeom prst="line">
            <a:avLst/>
          </a:prstGeom>
          <a:ln w="28575">
            <a:solidFill>
              <a:srgbClr val="B5654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Document 745"/>
          <p:cNvSpPr/>
          <p:nvPr/>
        </p:nvSpPr>
        <p:spPr>
          <a:xfrm>
            <a:off x="8138160" y="4206240"/>
            <a:ext cx="2651760" cy="1051560"/>
          </a:xfrm>
          <a:prstGeom prst="flowChartDocumen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Real Price (SMARD.de)</a:t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8138160" y="53218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actual historical German day-ahead auction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1188720" y="443484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5654A"/>
                </a:solidFill>
                <a:latin typeface="Helvetica"/>
              </a:rPr>
              <a:t>Compare, hour by hour: </a:t>
            </a:r>
            <a:r>
              <a:rPr sz="1300">
                <a:solidFill>
                  <a:srgbClr val="1F2D3D"/>
                </a:solidFill>
                <a:latin typeface="Helvetica"/>
              </a:rPr>
              <a:t>mean absolute error, root-mean-square error and correlation quantify how closely the simulated price tracks reality – this is what ‘backtesting’ means throughout this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Work Completed: Pipeline Operational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0816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Environment: </a:t>
            </a:r>
            <a:r>
              <a:rPr lang="en-US" sz="1600" dirty="0"/>
              <a:t>AMIRIS 4.1.2 (Java) with amirispy/fameio toolchain set up and working locally.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Simulation: </a:t>
            </a:r>
            <a:r>
              <a:rPr lang="en-US" sz="1600" dirty="0"/>
              <a:t>Germany2018 backtest scenario executed successfully – full year, 8,760 hours, all agent outputs (market price, dispatch, storage, traders).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Real data: </a:t>
            </a:r>
            <a:r>
              <a:rPr lang="en-US" sz="1600" dirty="0"/>
              <a:t>SMARD day-ahead prices obtained and merged across the 1 Oct 2018 bidding-zone split (DE-AT-LU → DE-LU); complete series.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Analysis tooling: </a:t>
            </a:r>
            <a:r>
              <a:rPr lang="en-US" sz="1600" dirty="0"/>
              <a:t>reusable Python scripts (merge + compare) reporting MAE, RMSE, correlation, split-period metrics, and overlay plots – applicable to every future run.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Multi-year validation: </a:t>
            </a:r>
            <a:r>
              <a:rPr lang="en-US" sz="1600" dirty="0"/>
              <a:t>completed for Germany 2015–2019 (5 of 5 available years) – all runs and comparisons executed.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2015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7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19702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33.06 vs. real 31.84 EUR/MWh – bias +1.22 EUR/MWh (≈3.8%).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6.64, RMSE 8.67 EUR/MWh, correlation 0.774.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B5654A"/>
                </a:solidFill>
              </a:rPr>
              <a:t>Note: </a:t>
            </a:r>
            <a:r>
              <a:rPr lang="en-US" sz="1500" dirty="0"/>
              <a:t>Weakest correlation of the non-2018 years – a candidate for the same root-cause treatment applied to 2018 (see Next Steps). Real series starts 5 Jan (SMARD export gap).</a:t>
            </a:r>
          </a:p>
        </p:txBody>
      </p:sp>
      <p:pic>
        <p:nvPicPr>
          <p:cNvPr id="736" name="Picture 735" descr="price_comparison_2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37" y="3735545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2016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8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29.16 vs. real 28.96 EUR/MWh – bias +0.19 EUR/MWh (≈0.7%).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4.96, RMSE 6.92 EUR/MWh, correlation 0.833.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Best absolute-error fit of all five years – a clean, single-zone, no-split year.</a:t>
            </a:r>
          </a:p>
        </p:txBody>
      </p:sp>
      <p:pic>
        <p:nvPicPr>
          <p:cNvPr id="736" name="Picture 735" descr="price_comparison_2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2017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9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35.32 vs. real 34.20 EUR/MWh – bias +1.12 EUR/MWh (≈3.3%).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5.70, RMSE 8.76 EUR/MWh, correlation 0.871.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Highest correlation of all five years, despite this scenario covering the Jan 2017 'Kalte Dunkelflaute' cold-and-calm event.</a:t>
            </a:r>
          </a:p>
        </p:txBody>
      </p:sp>
      <p:pic>
        <p:nvPicPr>
          <p:cNvPr id="736" name="Picture 735" descr="price_comparison_2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2018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10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45.1 vs. real 44.5 EUR/MWh – bias only +0.6 EUR/MWh (≈1.4%).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8.84, RMSE 11.72 EUR/MWh, correlation 0.773. </a:t>
            </a:r>
            <a:r>
              <a:rPr lang="en-US" sz="1500" b="1" dirty="0"/>
              <a:t>After the Oct zone split (like-for-like DE-LU): </a:t>
            </a:r>
            <a:r>
              <a:rPr lang="en-US" sz="1500" dirty="0"/>
              <a:t>correlation 0.847, MAE 8.25.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dirty="0"/>
              <a:t>Quality is comparable to DLR’s own published backtests – level, seasonal shape and spike timing match; spike magnitude is damped.</a:t>
            </a:r>
          </a:p>
        </p:txBody>
      </p:sp>
      <p:pic>
        <p:nvPicPr>
          <p:cNvPr id="900" name="Results chart 2018" descr="AMIRIS simulated vs real day-ahead price, Germany 20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6000" y="3400000"/>
            <a:ext cx="7400000" cy="2642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2019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37.98 vs. real 37.67 EUR/MWh – bias +0.31 EUR/MWh (≈0.8%).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5.37, RMSE 8.01 EUR/MWh, correlation 0.857.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Most structurally complex scenario (18 competing storage units, split must-run/outage inputs) – yet fits nearly as well as 2016/2017.</a:t>
            </a:r>
          </a:p>
        </p:txBody>
      </p:sp>
      <p:pic>
        <p:nvPicPr>
          <p:cNvPr id="736" name="Picture 735" descr="price_comparison_2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Multi-Year Backtest Results (2015–2019)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12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All five years now backtested: </a:t>
            </a:r>
            <a:r>
              <a:rPr lang="en-US" sz="1500" dirty="0"/>
              <a:t>identical run → extract → compare workflow repeated for Germany 2015–2017 and 2019, using amirispy and SMARD.de real prices for each year.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Best fit: </a:t>
            </a:r>
            <a:r>
              <a:rPr lang="en-US" sz="1500" dirty="0"/>
              <a:t>2016 and 2017 (MAE 4.96 / 5.70 EUR/MWh, correlation 0.83 / 0.87) – both clean single-zone years with no bidding-zone split.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Worst fit: </a:t>
            </a:r>
            <a:r>
              <a:rPr lang="en-US" sz="1500" dirty="0"/>
              <a:t>2018 (MAE 8.84, correlation 0.77) – the one year straddling the Oct 2018 DE-AT-LU → DE-LU zone split, confirming it as a genuine structural driver of error.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2019 holds up well: </a:t>
            </a:r>
            <a:r>
              <a:rPr lang="en-US" sz="1500" dirty="0"/>
              <a:t>MAE 5.37, correlation 0.857, despite being the most complex scenario (18 competing storage units) – added detail does not hurt the fit.</a:t>
            </a:r>
          </a:p>
        </p:txBody>
      </p:sp>
      <p:pic>
        <p:nvPicPr>
          <p:cNvPr id="736" name="Picture 735" descr="multiye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794760"/>
            <a:ext cx="86868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Root-Cause Analysis: Two Confirmed Model Gaps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Holiday zero-price floor (confirmed): </a:t>
            </a:r>
            <a:r>
              <a:rPr lang="en-US" sz="1500" dirty="0"/>
              <a:t>on 1 Jan/1 May, renewable traders are genuinely curtailed yet still clear at exactly 0 EUR/MWh (real: −49 to −76) – their bid is fixed at zero variable cost, not negative, unlike nuclear/lignite which do have negative bid bands.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Feb cold-snap overshoot (confirmed): </a:t>
            </a:r>
            <a:r>
              <a:rPr lang="en-US" sz="1500" dirty="0"/>
              <a:t>checked CO2 price (–47% vs. annual avg), fuel prices (~normal) and outages (better than average) for 5–19 Feb – none explain the overshoot; the real driver is demand +14% above average with no cross-border import relief in this single-zone model.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Damped spikes: </a:t>
            </a:r>
            <a:r>
              <a:rPr lang="en-US" sz="1500" dirty="0"/>
              <a:t>spike timing correct but peak height undershot (e.g. 9 Oct 19:00: 62 vs. 110 EUR/MWh) – consistent with the same no-import-relief limitation.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Two distinct, independent model limitations, not one bug – both point to concrete, testable model changes.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Phase 2: Building Germany2023 - Data Pipeline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API access secured: </a:t>
            </a:r>
            <a:r>
              <a:rPr lang="en-US" sz="1500" dirty="0"/>
              <a:t>ENTSO-E RESTful API token obtained (after a support request, since it was not self-service) and verified live before any data pipeline was built on top of 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data pipeline built and run: </a:t>
            </a:r>
            <a:r>
              <a:rPr lang="en-US" sz="1500" dirty="0"/>
              <a:t>installed capacity, hourly load, 6 renewable generation profiles, 3 conventional outage series (nuclear/lignite/hard coal) and 3 fuel prices (oil/gas/coal) - all fetched, cleaned, and saved in AMIRIS's native scenario format.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Capacity check confirms real-world trends: </a:t>
            </a:r>
            <a:r>
              <a:rPr lang="en-US" sz="1500" dirty="0"/>
              <a:t>e.g. nuclear -57% (down to the last 3 reactors), solar +44%, hard coal -28% vs. the 2019 scenario - matching well-known German energy-transition data, a strong sanity check on the whole pipeline.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Nuclear phase-out handled without restructuring the scenario: </a:t>
            </a:r>
            <a:r>
              <a:rPr lang="en-US" sz="1500" dirty="0"/>
              <a:t>modelled as an hourly outage-factor step function (0% unavailable before 15 April 2023, 100% after) rather than splitting the year into two separate sub-scenarios.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Phase 2: Data Limitations Found, and What's Left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15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Outage data limitation (confirmed, documented): </a:t>
            </a:r>
            <a:r>
              <a:rPr lang="en-US" sz="1500" dirty="0"/>
              <a:t>Germany's ENTSO-E outage reports for conventional plants cover only planned maintenance, not forced outages - 2023 coal/lignite unavailability is likely understated, a disclosed caveat rather than a hidden gap.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CO2 price: </a:t>
            </a:r>
            <a:r>
              <a:rPr lang="en-US" sz="1500" dirty="0"/>
              <a:t>no free bulk-download source found for EU ETS allowance prices; handed off as an open item rather than guessed at for a thesis-grade input (see Inputs Needed).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Remaining before Germany2023 can run: </a:t>
            </a:r>
            <a:r>
              <a:rPr lang="en-US" sz="1500" dirty="0"/>
              <a:t>source CO2 price, assemble the scenario.yaml/agents/contracts files by adapting Germany2019's structure with the 2023 data gathered, then run and validate.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Every problem hit this phase was caught and fixed before affecting a result: </a:t>
            </a:r>
            <a:r>
              <a:rPr lang="en-US" sz="1500" dirty="0"/>
              <a:t>11 additional obstacles logged this phase (18 total project-wide) in the technical report, same discipline as the 2015-2019 phase.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Immediate Next Steps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644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Awaiting department reply: </a:t>
            </a:r>
            <a:r>
              <a:rPr lang="en-US" sz="1600" dirty="0"/>
              <a:t>the data request cross-reference is the current critical path for the Brainpool comparison.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Finish Germany2023 in parallel: </a:t>
            </a:r>
            <a:r>
              <a:rPr lang="en-US" sz="1600" dirty="0"/>
              <a:t>source CO2 price, assemble the scenario config, run it, and backtest against real 2023 SMARD prices.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Negative-bid experiment: </a:t>
            </a:r>
            <a:r>
              <a:rPr lang="en-US" sz="1600" dirty="0"/>
              <a:t>extend RenewableTrader/NoSupportTrader bidding to allow negative markups on curtailment hours; re-run Germany2018 and re-check the holiday duration-curve tail.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Writing: </a:t>
            </a:r>
            <a:r>
              <a:rPr lang="en-US" sz="1600" dirty="0"/>
              <a:t>draft the model description and methodology chapters now, including the new same-assumptions comparison design.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Remaining Timeline (~9 Weeks)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17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515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Weeks 1–2  </a:t>
            </a:r>
            <a:r>
              <a:rPr lang="en-US" sz="1600" dirty="0"/>
              <a:t>Data request cross-reference with department; finish and backtest Germany2023; negative-price experiment; model description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Weeks 3–4  </a:t>
            </a:r>
            <a:r>
              <a:rPr lang="en-US" sz="1600" dirty="0"/>
              <a:t>Consolidate backtesting results; methodology chapter; obtain and verify Brainpool data.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Weeks 5–6  </a:t>
            </a:r>
            <a:r>
              <a:rPr lang="en-US" sz="1600" dirty="0"/>
              <a:t>Benchmarking: AMIRIS vs. Brainpool vs. actuals for the agreed comparison year; results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Weeks 7–8  </a:t>
            </a:r>
            <a:r>
              <a:rPr lang="en-US" sz="1600" dirty="0"/>
              <a:t>Discussion (substitution verdict), introduction, conclusion.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 9  </a:t>
            </a:r>
            <a:r>
              <a:rPr lang="en-US" sz="1600" dirty="0"/>
              <a:t>Formatting, references, final buffer (3–4 days reserved).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Inputs Needed Today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18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361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r>
              <a:rPr lang="en-US" sz="1600" b="1" dirty="0"/>
              <a:t>1. Brainpool data cross-reference: </a:t>
            </a:r>
            <a:r>
              <a:rPr lang="en-US" sz="1600" dirty="0"/>
              <a:t>which items in the data request document does the department's Brainpool package actually cover, for 2019?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r>
              <a:rPr lang="en-US" sz="1600" b="1" dirty="0"/>
              <a:t>2. CO2 (EU ETS) price data access: </a:t>
            </a:r>
            <a:r>
              <a:rPr lang="en-US" sz="1600" dirty="0"/>
              <a:t>does the department have Bloomberg/Refinitiv/S&amp;P Platts access? Needed to finish the Germany2023 build.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r>
              <a:rPr lang="en-US" sz="1600" b="1" dirty="0"/>
              <a:t>3. Confirmation this is the agreed comparison year: </a:t>
            </a:r>
            <a:r>
              <a:rPr lang="en-US" sz="1600" dirty="0"/>
              <a:t>2019 is proposed since AMIRIS already has real-price backtest results for it - please confirm or redirect.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r>
              <a:rPr lang="en-US" sz="1600" b="1" dirty="0"/>
              <a:t>4. Approval of the working title and the scoped plan </a:t>
            </a:r>
            <a:r>
              <a:rPr lang="en-US" sz="1600" dirty="0"/>
              <a:t>(backtesting + same-assumptions benchmarking).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r>
              <a:rPr lang="en-US" sz="1600" b="1" dirty="0"/>
              <a:t>5. Check-in cadence </a:t>
            </a:r>
            <a:r>
              <a:rPr lang="en-US" sz="1600" dirty="0"/>
              <a:t>- proposal: short bi-weekly progress updates.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4554746B-D50B-DA01-2F0C-00982D9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9CFAF782-B919-5199-03A6-6513C02AC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93472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b="1" dirty="0"/>
              <a:t>Summary &amp; Requests</a:t>
            </a: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D75122A6-3B79-1388-72E9-6E4FEDC7E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91263D3-DC0C-B93D-1088-FAA437FA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19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A3998-4944-D891-19F3-0A6BE866B853}"/>
              </a:ext>
            </a:extLst>
          </p:cNvPr>
          <p:cNvSpPr txBox="1"/>
          <p:nvPr/>
        </p:nvSpPr>
        <p:spPr>
          <a:xfrm>
            <a:off x="1160205" y="1873722"/>
            <a:ext cx="9854027" cy="325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/>
              <a:t>Methodology sharpened: </a:t>
            </a:r>
            <a:r>
              <a:rPr lang="en-US" sz="1600" dirty="0"/>
              <a:t>benchmarking now compares AMIRIS against Brainpool using Brainpool's own assumptions - isolates model logic from data-quality differences.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>Data request delivered: </a:t>
            </a:r>
            <a:r>
              <a:rPr lang="en-US" sz="1600" dirty="0"/>
              <a:t>complete AMIRIS input list sent to the department for cross-reference against their Brainpool holdings.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>Five-year backtest complete, 2023 build in progress: </a:t>
            </a:r>
            <a:r>
              <a:rPr lang="en-US" sz="1600" dirty="0"/>
              <a:t>correlation 0.77-0.87 across 2015-2019; Germany2023 pipeline built, CO2 price and final assembly remaining.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>Requested today: </a:t>
            </a:r>
            <a:r>
              <a:rPr lang="en-US" sz="1600" dirty="0"/>
              <a:t>Brainpool cross-reference reply, CO2 price data access, confirmation of 2019 as the comparison year.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44805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8A2B"/>
                </a:solidFill>
                <a:latin typeface="Helvetica"/>
              </a:rPr>
              <a:t>5</a:t>
            </a:r>
          </a:p>
          <a:p>
            <a:pPr algn="ctr"/>
            <a:r>
              <a:rPr sz="900" b="1">
                <a:solidFill>
                  <a:srgbClr val="1F2D3D"/>
                </a:solidFill>
                <a:latin typeface="Helvetica"/>
              </a:rPr>
              <a:t>YEARS BACKTESTED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332841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8A2B"/>
                </a:solidFill>
                <a:latin typeface="Helvetica"/>
              </a:rPr>
              <a:t>0.77–0.87</a:t>
            </a:r>
          </a:p>
          <a:p>
            <a:pPr algn="ctr"/>
            <a:r>
              <a:rPr sz="900" b="1">
                <a:solidFill>
                  <a:srgbClr val="1F2D3D"/>
                </a:solidFill>
                <a:latin typeface="Helvetica"/>
              </a:rPr>
              <a:t>CORRELATION RANGE</a:t>
            </a:r>
          </a:p>
        </p:txBody>
      </p:sp>
      <p:cxnSp>
        <p:nvCxnSpPr>
          <p:cNvPr id="738" name="Connector 737"/>
          <p:cNvCxnSpPr/>
          <p:nvPr/>
        </p:nvCxnSpPr>
        <p:spPr>
          <a:xfrm>
            <a:off x="321411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609447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1" name="TextBox 740"/>
          <p:cNvSpPr txBox="1"/>
          <p:nvPr/>
        </p:nvSpPr>
        <p:spPr>
          <a:xfrm>
            <a:off x="615162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C98A2B"/>
                </a:solidFill>
                <a:latin typeface="Helvetica"/>
              </a:rPr>
              <a:t>2023</a:t>
            </a:r>
          </a:p>
          <a:p>
            <a:pPr algn="ctr"/>
            <a:r>
              <a:rPr sz="900" b="1" dirty="0">
                <a:solidFill>
                  <a:srgbClr val="1F2D3D"/>
                </a:solidFill>
                <a:latin typeface="Helvetica"/>
              </a:rPr>
              <a:t>BUILD IN PROGRESS</a:t>
            </a:r>
          </a:p>
        </p:txBody>
      </p:sp>
      <p:cxnSp>
        <p:nvCxnSpPr>
          <p:cNvPr id="742" name="Connector 741"/>
          <p:cNvCxnSpPr/>
          <p:nvPr/>
        </p:nvCxnSpPr>
        <p:spPr>
          <a:xfrm>
            <a:off x="897483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87098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New Direction: A Cleaner Comparison with Brainpool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Original design conflated two variables: </a:t>
            </a:r>
            <a:r>
              <a:rPr lang="en-US" sz="1500" dirty="0"/>
              <a:t>comparing AMIRIS's own independently-sourced data against real prices cannot separate 'wrong input data' from 'AMIRIS's internal logic differs from reality' as the explanation for any mismatch.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New design isolates model logic: </a:t>
            </a:r>
            <a:r>
              <a:rPr lang="en-US" sz="1500" dirty="0"/>
              <a:t>feed AMIRIS the exact same assumptions Energy Brainpool used (capacity figures, fuel prices, etc.) for an agreed year, then compare AMIRIS's price directly against Brainpool's price - a standard 'model inter-comparison' technique in energy research.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2019 is the natural candidate year: </a:t>
            </a:r>
            <a:r>
              <a:rPr lang="en-US" sz="1500" dirty="0"/>
              <a:t>already backtested against real prices (MAE 5.37, correlation 0.857, one of the best-fitting years) - reusing it completes a genuine three-way comparison (AMIRIS vs. Brainpool vs. reality) on existing infrastructure.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 stronger result either way: </a:t>
            </a:r>
            <a:r>
              <a:rPr lang="en-US" sz="1500" dirty="0"/>
              <a:t>close agreement supports AMIRIS as a substitute; a gap becomes a precisely diagnosable finding, using the same root-cause method already proven on the 2018 results.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Data Request Sent - Plan Going Forward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Delivered to the department: </a:t>
            </a:r>
            <a:r>
              <a:rPr lang="en-US" sz="1500" dirty="0"/>
              <a:t>a complete AMIRIS input-data requirements document - demand, conventional fleet (capacity/efficiency/cost/emissions/outages per fuel type), renewable fleet (capacity, generation profile, subsidy scheme), storage, fuel &amp; CO2 prices, plus structural questions (cross-border trade, bidding behaviour, negative pricing).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Key gap flagged up front: </a:t>
            </a:r>
            <a:r>
              <a:rPr lang="en-US" sz="1500" dirty="0"/>
              <a:t>Brainpool's data likely includes capacity totals but may not include the hourly weather-driven generation shape AMIRIS also needs - any such gap will be backfilled with AMIRIS's own sourced data and documented per item, not glossed over.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Once data returns: </a:t>
            </a:r>
            <a:r>
              <a:rPr lang="en-US" sz="1500" dirty="0"/>
              <a:t>gap analysis (supplied / partial / backfilled) becomes a methodology table; build the 2019 scenario on Brainpool's assumptions; run AMIRIS; compare three ways.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Running in parallel, not blocked on this: </a:t>
            </a:r>
            <a:r>
              <a:rPr lang="en-US" sz="1500" dirty="0"/>
              <a:t>the Germany2023 backtest build (CO2 price, scenario assembly) continues as independent backtesting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1978</Words>
  <Application>Microsoft Office PowerPoint</Application>
  <PresentationFormat>Widescreen</PresentationFormat>
  <Paragraphs>154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Helvetica</vt:lpstr>
      <vt:lpstr>Inter Tight SemiBold</vt:lpstr>
      <vt:lpstr>Calibri</vt:lpstr>
      <vt:lpstr>Inter Tight</vt:lpstr>
      <vt:lpstr>Wingdings</vt:lpstr>
      <vt:lpstr>Calibri Light</vt:lpstr>
      <vt:lpstr>Inter Tight Medium</vt:lpstr>
      <vt:lpstr>Office Theme</vt:lpstr>
      <vt:lpstr>Lesson 1</vt:lpstr>
      <vt:lpstr>Office Theme</vt:lpstr>
      <vt:lpstr>Progress Report &amp; Thesis Plan: Evaluating AMIRIS as a Substitute for Purchased Electricity Price Time Series</vt:lpstr>
      <vt:lpstr>Progress &amp; Plan</vt:lpstr>
      <vt:lpstr>Motivation &amp; Research Question</vt:lpstr>
      <vt:lpstr>Approach: Two Comparisons</vt:lpstr>
      <vt:lpstr>How the Backtest Pipeline Works</vt:lpstr>
      <vt:lpstr>Work Completed: Pipeline Operational</vt:lpstr>
      <vt:lpstr>First Results: Germany 2015 Backtest</vt:lpstr>
      <vt:lpstr>First Results: Germany 2016 Backtest</vt:lpstr>
      <vt:lpstr>First Results: Germany 2017 Backtest</vt:lpstr>
      <vt:lpstr>First Results: Germany 2018 Backtest</vt:lpstr>
      <vt:lpstr>First Results: Germany 2019 Backtest</vt:lpstr>
      <vt:lpstr>Multi-Year Backtest Results (2015–2019)</vt:lpstr>
      <vt:lpstr>Root-Cause Analysis: Two Confirmed Model Gaps</vt:lpstr>
      <vt:lpstr>Phase 2: Building Germany2023 - Data Pipeline</vt:lpstr>
      <vt:lpstr>Phase 2: Data Limitations Found, and What's Left</vt:lpstr>
      <vt:lpstr>Immediate Next Steps</vt:lpstr>
      <vt:lpstr>Remaining Timeline (~9 Weeks)</vt:lpstr>
      <vt:lpstr>Inputs Needed Today</vt:lpstr>
      <vt:lpstr>Summary &amp; Requests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Assessment(LCA) Impact Categories</dc:title>
  <dc:creator>Shubham Brahmkshatriy</dc:creator>
  <cp:lastModifiedBy>MUIDEEN AJIBOYE</cp:lastModifiedBy>
  <cp:revision>767</cp:revision>
  <dcterms:created xsi:type="dcterms:W3CDTF">2025-05-17T19:08:11Z</dcterms:created>
  <dcterms:modified xsi:type="dcterms:W3CDTF">2026-07-20T01:04:11Z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77A5A772DBAE41BDA729E1F1C6215462_12</vt:lpwstr>
  </property>
  <property fmtid="{D5CDD505-2E9C-101B-9397-08002B2CF9AE}" pid="3" name="KSOProductBuildVer">
    <vt:lpwstr>2057-12.2.0.20796</vt:lpwstr>
  </property>
</Properties>
</file>