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698480" cy="2560320"/>
          </a:xfrm>
          <a:prstGeom prst="rect">
            <a:avLst/>
          </a:prstGeom>
          <a:noFill/>
        </p:spPr>
        <p:txBody>
          <a:bodyPr wrap="square">
            <a:spAutoFit/>
          </a:bodyPr>
          <a:lstStyle/>
          <a:p>
            <a:r>
              <a:rPr sz="4200" b="1">
                <a:solidFill>
                  <a:srgbClr val="FFFFFF"/>
                </a:solidFill>
              </a:rPr>
              <a:t>AMIRIS Germany 2027</a:t>
            </a:r>
          </a:p>
          <a:p>
            <a:r>
              <a:rPr sz="2100">
                <a:solidFill>
                  <a:srgbClr val="C9D6DE"/>
                </a:solidFill>
              </a:rPr>
              <a:t>The Complete Journey: All 52 Phases, From First Build to Final Result</a:t>
            </a:r>
          </a:p>
          <a:p>
            <a:pPr>
              <a:spcBef>
                <a:spcPts val="2400"/>
              </a:spcBef>
            </a:pPr>
            <a:r>
              <a:rPr sz="1500">
                <a:solidFill>
                  <a:srgbClr val="9AACB8"/>
                </a:solidFill>
              </a:rPr>
              <a:t>Muideen Oladayo Ajiboye</a:t>
            </a:r>
          </a:p>
          <a:p>
            <a:r>
              <a:rPr sz="1300" i="1">
                <a:solidFill>
                  <a:srgbClr val="9AACB8"/>
                </a:solidFill>
              </a:rPr>
              <a:t>Comprehensive project review - every phase, every real result, including the negative ones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How This Review Is Organized</a:t>
            </a:r>
          </a:p>
          <a:p>
            <a:r>
              <a:rPr sz="1300" i="1">
                <a:solidFill>
                  <a:srgbClr val="555B58"/>
                </a:solidFill>
                <a:latin typeface="Calibri"/>
              </a:rPr>
              <a:t>8 parts, roughly following the real order of work</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1000"/>
              </a:spcAft>
            </a:pPr>
            <a:r>
              <a:rPr sz="1650">
                <a:solidFill>
                  <a:srgbClr val="141816"/>
                </a:solidFill>
                <a:latin typeface="Calibri"/>
              </a:rPr>
              <a:t>•  Part 1 - Building the model and fixing the big first gap (Phases 1-8)</a:t>
            </a:r>
          </a:p>
          <a:p>
            <a:pPr>
              <a:spcAft>
                <a:spcPts val="1000"/>
              </a:spcAft>
            </a:pPr>
            <a:r>
              <a:rPr sz="1650">
                <a:solidFill>
                  <a:srgbClr val="141816"/>
                </a:solidFill>
                <a:latin typeface="Calibri"/>
              </a:rPr>
              <a:t>•  Part 2 - Matching Brainpool's real weather and calendar assumptions (Phases 9-17)</a:t>
            </a:r>
          </a:p>
          <a:p>
            <a:pPr>
              <a:spcAft>
                <a:spcPts val="1000"/>
              </a:spcAft>
            </a:pPr>
            <a:r>
              <a:rPr sz="1650">
                <a:solidFill>
                  <a:srgbClr val="141816"/>
                </a:solidFill>
                <a:latin typeface="Calibri"/>
              </a:rPr>
              <a:t>•  Part 3 - Making demand smarter: flexible storage and consumers (Phases 18-23)</a:t>
            </a:r>
          </a:p>
          <a:p>
            <a:pPr>
              <a:spcAft>
                <a:spcPts val="1000"/>
              </a:spcAft>
            </a:pPr>
            <a:r>
              <a:rPr sz="1650">
                <a:solidFill>
                  <a:srgbClr val="141816"/>
                </a:solidFill>
                <a:latin typeface="Calibri"/>
              </a:rPr>
              <a:t>•  Part 4 - Testing on new years, and closing dead ends (Phases 24-31)</a:t>
            </a:r>
          </a:p>
          <a:p>
            <a:pPr>
              <a:spcAft>
                <a:spcPts val="1000"/>
              </a:spcAft>
            </a:pPr>
            <a:r>
              <a:rPr sz="1650">
                <a:solidFill>
                  <a:srgbClr val="141816"/>
                </a:solidFill>
                <a:latin typeface="Calibri"/>
              </a:rPr>
              <a:t>•  Part 5 - The big lever: connecting Germany to the rest of Europe (Phases 32-38)</a:t>
            </a:r>
          </a:p>
          <a:p>
            <a:pPr>
              <a:spcAft>
                <a:spcPts val="1000"/>
              </a:spcAft>
            </a:pPr>
            <a:r>
              <a:rPr sz="1650">
                <a:solidFill>
                  <a:srgbClr val="141816"/>
                </a:solidFill>
                <a:latin typeface="Calibri"/>
              </a:rPr>
              <a:t>•  Part 6 - Stress-testing the result from every angle (Phases 39-48)</a:t>
            </a:r>
          </a:p>
          <a:p>
            <a:pPr>
              <a:spcAft>
                <a:spcPts val="1000"/>
              </a:spcAft>
            </a:pPr>
            <a:r>
              <a:rPr sz="1650">
                <a:solidFill>
                  <a:srgbClr val="141816"/>
                </a:solidFill>
                <a:latin typeface="Calibri"/>
              </a:rPr>
              <a:t>•  Part 7 - Final robustness checks: alternative weather/demand years (Phases 49-51)</a:t>
            </a:r>
          </a:p>
          <a:p>
            <a:pPr>
              <a:spcAft>
                <a:spcPts val="1000"/>
              </a:spcAft>
            </a:pPr>
            <a:r>
              <a:rPr sz="1650">
                <a:solidFill>
                  <a:srgbClr val="141816"/>
                </a:solidFill>
                <a:latin typeface="Calibri"/>
              </a:rPr>
              <a:t>•  Part 8 - One investigative side-experiment: patching AMIRIS's own code (Phase 52)</a:t>
            </a:r>
          </a:p>
          <a:p>
            <a:pPr>
              <a:spcAft>
                <a:spcPts val="1000"/>
              </a:spcAft>
            </a:pPr>
            <a:r>
              <a:rPr sz="1650">
                <a:solidFill>
                  <a:srgbClr val="141816"/>
                </a:solidFill>
                <a:latin typeface="Calibri"/>
              </a:rPr>
              <a:t>•  Conclusion - the case for adopting Phase 37 as the final result</a:t>
            </a:r>
          </a:p>
        </p:txBody>
      </p:sp>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What This Project Is Testing</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572000"/>
          </a:xfrm>
          <a:prstGeom prst="rect">
            <a:avLst/>
          </a:prstGeom>
          <a:noFill/>
        </p:spPr>
        <p:txBody>
          <a:bodyPr wrap="square">
            <a:spAutoFit/>
          </a:bodyPr>
          <a:lstStyle/>
          <a:p>
            <a:pPr>
              <a:spcAft>
                <a:spcPts val="1000"/>
              </a:spcAft>
            </a:pPr>
            <a:r>
              <a:rPr sz="1600">
                <a:solidFill>
                  <a:srgbClr val="141816"/>
                </a:solidFill>
                <a:latin typeface="Calibri"/>
              </a:rPr>
              <a:t>•  AMIRIS: an open, agent-based electricity market simulator (DLR) - every power plant, storage unit and demand type is its own decision-making agent</a:t>
            </a:r>
          </a:p>
          <a:p>
            <a:pPr>
              <a:spcAft>
                <a:spcPts val="1000"/>
              </a:spcAft>
            </a:pPr>
            <a:r>
              <a:rPr sz="1600">
                <a:solidFill>
                  <a:srgbClr val="141816"/>
                </a:solidFill>
                <a:latin typeface="Calibri"/>
              </a:rPr>
              <a:t>•  Energy Brainpool: a commercial forecasting firm - their real 2027 hourly price forecast for Germany is the benchmark used throughout</a:t>
            </a:r>
          </a:p>
          <a:p>
            <a:pPr>
              <a:spcAft>
                <a:spcPts val="1000"/>
              </a:spcAft>
            </a:pPr>
            <a:r>
              <a:rPr sz="1600">
                <a:solidFill>
                  <a:srgbClr val="141816"/>
                </a:solidFill>
                <a:latin typeface="Calibri"/>
              </a:rPr>
              <a:t>•  The question: can a research-grade, open simulation tool, built entirely from real public data, get close to a commercial forecaster's result?</a:t>
            </a:r>
          </a:p>
          <a:p>
            <a:pPr>
              <a:spcAft>
                <a:spcPts val="1000"/>
              </a:spcAft>
            </a:pPr>
            <a:r>
              <a:rPr sz="1600">
                <a:solidFill>
                  <a:srgbClr val="141816"/>
                </a:solidFill>
                <a:latin typeface="Calibri"/>
              </a:rPr>
              <a:t>•  Standing rule throughout: every change needs real-world justification BEFORE testing - never tune a number purely to make the comparison look better</a:t>
            </a:r>
          </a:p>
          <a:p>
            <a:pPr>
              <a:spcAft>
                <a:spcPts val="1000"/>
              </a:spcAft>
            </a:pPr>
            <a:r>
              <a:rPr sz="1600">
                <a:solidFill>
                  <a:srgbClr val="141816"/>
                </a:solidFill>
                <a:latin typeface="Calibri"/>
              </a:rPr>
              <a:t>•  Every negative result is kept and reported, not hidden - a big part of the value of this project is knowing what does NOT work, and why</a:t>
            </a:r>
          </a:p>
        </p:txBody>
      </p:sp>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Part 1</a:t>
            </a:r>
          </a:p>
          <a:p>
            <a:pPr>
              <a:spcBef>
                <a:spcPts val="1000"/>
              </a:spcBef>
            </a:pPr>
            <a:r>
              <a:rPr sz="1800">
                <a:solidFill>
                  <a:srgbClr val="C9D6DE"/>
                </a:solidFill>
              </a:rPr>
              <a:t>Building the model and fixing the big first gap  (Phases 1-8)</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1-3: The First Build</a:t>
            </a:r>
          </a:p>
          <a:p>
            <a:r>
              <a:rPr sz="1300" i="1">
                <a:solidFill>
                  <a:srgbClr val="555B58"/>
                </a:solidFill>
                <a:latin typeface="Calibri"/>
              </a:rPr>
              <a:t>A full German 2027 power market, built entirely from Brainpool's real input data</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v1_duration.png"/>
          <p:cNvPicPr>
            <a:picLocks noChangeAspect="1"/>
          </p:cNvPicPr>
          <p:nvPr/>
        </p:nvPicPr>
        <p:blipFill>
          <a:blip r:embed="rId2"/>
          <a:stretch>
            <a:fillRect/>
          </a:stretch>
        </p:blipFill>
        <p:spPr>
          <a:xfrm>
            <a:off x="2308860" y="1371600"/>
            <a:ext cx="7543800" cy="4114800"/>
          </a:xfrm>
          <a:prstGeom prst="rect">
            <a:avLst/>
          </a:prstGeom>
        </p:spPr>
      </p:pic>
      <p:sp>
        <p:nvSpPr>
          <p:cNvPr id="6" name="Rounded Rectangle 5"/>
          <p:cNvSpPr/>
          <p:nvPr/>
        </p:nvSpPr>
        <p:spPr>
          <a:xfrm>
            <a:off x="548640" y="5532120"/>
            <a:ext cx="11064240" cy="914400"/>
          </a:xfrm>
          <a:prstGeom prst="roundRect">
            <a:avLst/>
          </a:prstGeom>
          <a:solidFill>
            <a:srgbClr val="F2F3EF"/>
          </a:solidFill>
          <a:ln w="15875">
            <a:solidFill>
              <a:srgbClr val="963C2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963C28"/>
                </a:solidFill>
              </a:rPr>
              <a:t>The first build already showed a problem worth noticing.</a:t>
            </a:r>
          </a:p>
          <a:p>
            <a:r>
              <a:rPr sz="1200" i="1">
                <a:solidFill>
                  <a:srgbClr val="555B58"/>
                </a:solidFill>
              </a:rPr>
              <a:t>15.9% of the year hit AMIRIS's built-in 3,000 EUR/MWh shortage price - the model was clearly missing something, but running it at all, on real data, was the necessary first step.</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4: A Smarter Demand Model (V1 vs V2)</a:t>
            </a:r>
          </a:p>
          <a:p>
            <a:r>
              <a:rPr sz="1300" i="1">
                <a:solidFill>
                  <a:srgbClr val="555B58"/>
                </a:solidFill>
                <a:latin typeface="Calibri"/>
              </a:rPr>
              <a:t>Splitting demand into its real components instead of one household-shaped curve for everything</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v1_vs_v2.png"/>
          <p:cNvPicPr>
            <a:picLocks noChangeAspect="1"/>
          </p:cNvPicPr>
          <p:nvPr/>
        </p:nvPicPr>
        <p:blipFill>
          <a:blip r:embed="rId2"/>
          <a:stretch>
            <a:fillRect/>
          </a:stretch>
        </p:blipFill>
        <p:spPr>
          <a:xfrm>
            <a:off x="548640" y="1712742"/>
            <a:ext cx="11064240" cy="4255476"/>
          </a:xfrm>
          <a:prstGeom prst="rect">
            <a:avLst/>
          </a:prstGeom>
        </p:spPr>
      </p:pic>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5-7: Adding Cross-Border Import - and a Real Problem</a:t>
            </a:r>
          </a:p>
          <a:p>
            <a:r>
              <a:rPr sz="1300" i="1">
                <a:solidFill>
                  <a:srgbClr val="555B58"/>
                </a:solidFill>
                <a:latin typeface="Calibri"/>
              </a:rPr>
              <a:t>An ImportTrader agent was added, but only a fraction of what it offered actually cleared</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import_utilization.png"/>
          <p:cNvPicPr>
            <a:picLocks noChangeAspect="1"/>
          </p:cNvPicPr>
          <p:nvPr/>
        </p:nvPicPr>
        <p:blipFill>
          <a:blip r:embed="rId2"/>
          <a:stretch>
            <a:fillRect/>
          </a:stretch>
        </p:blipFill>
        <p:spPr>
          <a:xfrm>
            <a:off x="365760" y="1861820"/>
            <a:ext cx="5577840" cy="3408680"/>
          </a:xfrm>
          <a:prstGeom prst="rect">
            <a:avLst/>
          </a:prstGeom>
        </p:spPr>
      </p:pic>
      <p:pic>
        <p:nvPicPr>
          <p:cNvPr id="6" name="Picture 5" descr="ppt_chart_diagnosis.png"/>
          <p:cNvPicPr>
            <a:picLocks noChangeAspect="1"/>
          </p:cNvPicPr>
          <p:nvPr/>
        </p:nvPicPr>
        <p:blipFill>
          <a:blip r:embed="rId3"/>
          <a:stretch>
            <a:fillRect/>
          </a:stretch>
        </p:blipFill>
        <p:spPr>
          <a:xfrm>
            <a:off x="6646985" y="1417320"/>
            <a:ext cx="4628270" cy="4297680"/>
          </a:xfrm>
          <a:prstGeom prst="rect">
            <a:avLst/>
          </a:prstGeom>
        </p:spPr>
      </p:pic>
      <p:sp>
        <p:nvSpPr>
          <p:cNvPr id="7" name="TextBox 6"/>
          <p:cNvSpPr txBox="1"/>
          <p:nvPr/>
        </p:nvSpPr>
        <p:spPr>
          <a:xfrm>
            <a:off x="365760" y="5806440"/>
            <a:ext cx="5577840" cy="548640"/>
          </a:xfrm>
          <a:prstGeom prst="rect">
            <a:avLst/>
          </a:prstGeom>
          <a:noFill/>
        </p:spPr>
        <p:txBody>
          <a:bodyPr wrap="none">
            <a:spAutoFit/>
          </a:bodyPr>
          <a:lstStyle/>
          <a:p>
            <a:pPr algn="ctr"/>
            <a:r>
              <a:rPr sz="1100" i="1">
                <a:solidFill>
                  <a:srgbClr val="555B58"/>
                </a:solidFill>
              </a:rPr>
              <a:t>Offered vs. actually cleared import volume</a:t>
            </a:r>
          </a:p>
        </p:txBody>
      </p:sp>
      <p:sp>
        <p:nvSpPr>
          <p:cNvPr id="8" name="TextBox 7"/>
          <p:cNvSpPr txBox="1"/>
          <p:nvPr/>
        </p:nvSpPr>
        <p:spPr>
          <a:xfrm>
            <a:off x="6172200" y="5806440"/>
            <a:ext cx="5577840" cy="548640"/>
          </a:xfrm>
          <a:prstGeom prst="rect">
            <a:avLst/>
          </a:prstGeom>
          <a:noFill/>
        </p:spPr>
        <p:txBody>
          <a:bodyPr wrap="none">
            <a:spAutoFit/>
          </a:bodyPr>
          <a:lstStyle/>
          <a:p>
            <a:pPr algn="ctr"/>
            <a:r>
              <a:rPr sz="1100" i="1">
                <a:solidFill>
                  <a:srgbClr val="555B58"/>
                </a:solidFill>
              </a:rPr>
              <a:t>64% of shortage hours had ZERO import available - the real cause</a:t>
            </a:r>
          </a:p>
        </p:txBody>
      </p:sp>
      <p:sp>
        <p:nvSpPr>
          <p:cNvPr id="9" name="TextBox 8"/>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5-7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8: Fixing and Calibrating the Import Model</a:t>
            </a:r>
          </a:p>
          <a:p>
            <a:r>
              <a:rPr sz="1300" i="1">
                <a:solidFill>
                  <a:srgbClr val="555B58"/>
                </a:solidFill>
                <a:latin typeface="Calibri"/>
              </a:rPr>
              <a:t>Replaced the flawed, often-zero import series with a flat, market-determined ceiling, then calibrated it</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calibration_sweep.png"/>
          <p:cNvPicPr>
            <a:picLocks noChangeAspect="1"/>
          </p:cNvPicPr>
          <p:nvPr/>
        </p:nvPicPr>
        <p:blipFill>
          <a:blip r:embed="rId2"/>
          <a:stretch>
            <a:fillRect/>
          </a:stretch>
        </p:blipFill>
        <p:spPr>
          <a:xfrm>
            <a:off x="548640" y="1499968"/>
            <a:ext cx="11064240" cy="4681024"/>
          </a:xfrm>
          <a:prstGeom prst="rect">
            <a:avLst/>
          </a:prstGeom>
        </p:spPr>
      </p:pic>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8 (continued): One Size Does Not Fit Both Demand Models</a:t>
            </a:r>
          </a:p>
          <a:p>
            <a:r>
              <a:rPr sz="1300" i="1">
                <a:solidFill>
                  <a:srgbClr val="555B58"/>
                </a:solidFill>
                <a:latin typeface="Calibri"/>
              </a:rPr>
              <a:t>A real, important finding: the right import ceiling depends on how realistic the underlying demand model already is</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ceiling_asymmetry.png"/>
          <p:cNvPicPr>
            <a:picLocks noChangeAspect="1"/>
          </p:cNvPicPr>
          <p:nvPr/>
        </p:nvPicPr>
        <p:blipFill>
          <a:blip r:embed="rId2"/>
          <a:stretch>
            <a:fillRect/>
          </a:stretch>
        </p:blipFill>
        <p:spPr>
          <a:xfrm>
            <a:off x="694113" y="1371600"/>
            <a:ext cx="10773294" cy="4937760"/>
          </a:xfrm>
          <a:prstGeom prst="rect">
            <a:avLst/>
          </a:prstGeom>
        </p:spPr>
      </p:pic>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Part 1 Result: From Wildly Divergent to Close to Brainpool</a:t>
            </a:r>
          </a:p>
          <a:p>
            <a:r>
              <a:rPr sz="1300" i="1">
                <a:solidFill>
                  <a:srgbClr val="555B58"/>
                </a:solidFill>
                <a:latin typeface="Calibri"/>
              </a:rPr>
              <a:t>The first big win of the project</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final_summary.png"/>
          <p:cNvPicPr>
            <a:picLocks noChangeAspect="1"/>
          </p:cNvPicPr>
          <p:nvPr/>
        </p:nvPicPr>
        <p:blipFill>
          <a:blip r:embed="rId2"/>
          <a:stretch>
            <a:fillRect/>
          </a:stretch>
        </p:blipFill>
        <p:spPr>
          <a:xfrm>
            <a:off x="1280160" y="1371600"/>
            <a:ext cx="9601200" cy="4114800"/>
          </a:xfrm>
          <a:prstGeom prst="rect">
            <a:avLst/>
          </a:prstGeom>
        </p:spPr>
      </p:pic>
      <p:sp>
        <p:nvSpPr>
          <p:cNvPr id="6" name="Rounded Rectangle 5"/>
          <p:cNvSpPr/>
          <p:nvPr/>
        </p:nvSpPr>
        <p:spPr>
          <a:xfrm>
            <a:off x="548640" y="5532120"/>
            <a:ext cx="11064240" cy="914400"/>
          </a:xfrm>
          <a:prstGeom prst="roundRect">
            <a:avLst/>
          </a:prstGeom>
          <a:solidFill>
            <a:srgbClr val="F2F3EF"/>
          </a:solidFill>
          <a:ln w="15875">
            <a:solidFill>
              <a:srgbClr val="3A6B4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3A6B47"/>
                </a:solidFill>
              </a:rPr>
              <a:t>V2, fully fixed: shortage hours 7.52% → 0.03%, mean price 285.58 → 57.34 EUR/MWh.</a:t>
            </a:r>
          </a:p>
          <a:p>
            <a:r>
              <a:rPr sz="1200" i="1">
                <a:solidFill>
                  <a:srgbClr val="555B58"/>
                </a:solidFill>
              </a:rPr>
              <a:t>Brainpool's own real mean price: 68.04 EUR/MWh. The model went from unusable to genuinely close in 8 phases.</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1-8 summary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Part 2</a:t>
            </a:r>
          </a:p>
          <a:p>
            <a:pPr>
              <a:spcBef>
                <a:spcPts val="1000"/>
              </a:spcBef>
            </a:pPr>
            <a:r>
              <a:rPr sz="1800">
                <a:solidFill>
                  <a:srgbClr val="C9D6DE"/>
                </a:solidFill>
              </a:rPr>
              <a:t>Matching Brainpool's real weather and calendar assumptions  (Phases 9-17)</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9-11: Real 2009 Weather, and a Calendar Bug</a:t>
            </a:r>
          </a:p>
          <a:p>
            <a:r>
              <a:rPr sz="1300" i="1">
                <a:solidFill>
                  <a:srgbClr val="555B58"/>
                </a:solidFill>
                <a:latin typeface="Calibri"/>
              </a:rPr>
              <a:t>Testing Brainpool's own weather-year assumption, then finding a real weekday/weekend misalignment (Phase 10's diagnosis)</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ce_duration_curve.png"/>
          <p:cNvPicPr>
            <a:picLocks noChangeAspect="1"/>
          </p:cNvPicPr>
          <p:nvPr/>
        </p:nvPicPr>
        <p:blipFill>
          <a:blip r:embed="rId2"/>
          <a:stretch>
            <a:fillRect/>
          </a:stretch>
        </p:blipFill>
        <p:spPr>
          <a:xfrm>
            <a:off x="365760" y="1861820"/>
            <a:ext cx="5577840" cy="3408680"/>
          </a:xfrm>
          <a:prstGeom prst="rect">
            <a:avLst/>
          </a:prstGeom>
        </p:spPr>
      </p:pic>
      <p:pic>
        <p:nvPicPr>
          <p:cNvPr id="6" name="Picture 5" descr="price_duration_curve.png"/>
          <p:cNvPicPr>
            <a:picLocks noChangeAspect="1"/>
          </p:cNvPicPr>
          <p:nvPr/>
        </p:nvPicPr>
        <p:blipFill>
          <a:blip r:embed="rId3"/>
          <a:stretch>
            <a:fillRect/>
          </a:stretch>
        </p:blipFill>
        <p:spPr>
          <a:xfrm>
            <a:off x="6172200" y="1861820"/>
            <a:ext cx="5577840" cy="3408680"/>
          </a:xfrm>
          <a:prstGeom prst="rect">
            <a:avLst/>
          </a:prstGeom>
        </p:spPr>
      </p:pic>
      <p:sp>
        <p:nvSpPr>
          <p:cNvPr id="7" name="TextBox 6"/>
          <p:cNvSpPr txBox="1"/>
          <p:nvPr/>
        </p:nvSpPr>
        <p:spPr>
          <a:xfrm>
            <a:off x="365760" y="5806440"/>
            <a:ext cx="5577840" cy="548640"/>
          </a:xfrm>
          <a:prstGeom prst="rect">
            <a:avLst/>
          </a:prstGeom>
          <a:noFill/>
        </p:spPr>
        <p:txBody>
          <a:bodyPr wrap="none">
            <a:spAutoFit/>
          </a:bodyPr>
          <a:lstStyle/>
          <a:p>
            <a:pPr algn="ctr"/>
            <a:r>
              <a:rPr sz="1100" i="1">
                <a:solidFill>
                  <a:srgbClr val="555B58"/>
                </a:solidFill>
              </a:rPr>
              <a:t>Phase 9: real 2009 wind/solar weather swapped in</a:t>
            </a:r>
          </a:p>
        </p:txBody>
      </p:sp>
      <p:sp>
        <p:nvSpPr>
          <p:cNvPr id="8" name="TextBox 7"/>
          <p:cNvSpPr txBox="1"/>
          <p:nvPr/>
        </p:nvSpPr>
        <p:spPr>
          <a:xfrm>
            <a:off x="6172200" y="5806440"/>
            <a:ext cx="5577840" cy="548640"/>
          </a:xfrm>
          <a:prstGeom prst="rect">
            <a:avLst/>
          </a:prstGeom>
          <a:noFill/>
        </p:spPr>
        <p:txBody>
          <a:bodyPr wrap="none">
            <a:spAutoFit/>
          </a:bodyPr>
          <a:lstStyle/>
          <a:p>
            <a:pPr algn="ctr"/>
            <a:r>
              <a:rPr sz="1100" i="1">
                <a:solidFill>
                  <a:srgbClr val="555B58"/>
                </a:solidFill>
              </a:rPr>
              <a:t>Phase 11: weekday/weekend calendar bug fixed</a:t>
            </a:r>
          </a:p>
        </p:txBody>
      </p:sp>
      <p:sp>
        <p:nvSpPr>
          <p:cNvPr id="9" name="TextBox 8"/>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9-11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12 &amp; 15: A Null Result, and a Small Real Improvement</a:t>
            </a:r>
          </a:p>
          <a:p>
            <a:r>
              <a:rPr sz="1300" i="1">
                <a:solidFill>
                  <a:srgbClr val="555B58"/>
                </a:solidFill>
                <a:latin typeface="Calibri"/>
              </a:rPr>
              <a:t>Not every real, well-justified experiment moves the needle - and that is still useful to know</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ce_duration_curve.png"/>
          <p:cNvPicPr>
            <a:picLocks noChangeAspect="1"/>
          </p:cNvPicPr>
          <p:nvPr/>
        </p:nvPicPr>
        <p:blipFill>
          <a:blip r:embed="rId2"/>
          <a:stretch>
            <a:fillRect/>
          </a:stretch>
        </p:blipFill>
        <p:spPr>
          <a:xfrm>
            <a:off x="365760" y="1861820"/>
            <a:ext cx="5577840" cy="3408680"/>
          </a:xfrm>
          <a:prstGeom prst="rect">
            <a:avLst/>
          </a:prstGeom>
        </p:spPr>
      </p:pic>
      <p:pic>
        <p:nvPicPr>
          <p:cNvPr id="6" name="Picture 5" descr="price_duration_curve.png"/>
          <p:cNvPicPr>
            <a:picLocks noChangeAspect="1"/>
          </p:cNvPicPr>
          <p:nvPr/>
        </p:nvPicPr>
        <p:blipFill>
          <a:blip r:embed="rId3"/>
          <a:stretch>
            <a:fillRect/>
          </a:stretch>
        </p:blipFill>
        <p:spPr>
          <a:xfrm>
            <a:off x="6172200" y="1861820"/>
            <a:ext cx="5577840" cy="3408680"/>
          </a:xfrm>
          <a:prstGeom prst="rect">
            <a:avLst/>
          </a:prstGeom>
        </p:spPr>
      </p:pic>
      <p:sp>
        <p:nvSpPr>
          <p:cNvPr id="7" name="TextBox 6"/>
          <p:cNvSpPr txBox="1"/>
          <p:nvPr/>
        </p:nvSpPr>
        <p:spPr>
          <a:xfrm>
            <a:off x="365760" y="5806440"/>
            <a:ext cx="5577840" cy="548640"/>
          </a:xfrm>
          <a:prstGeom prst="rect">
            <a:avLst/>
          </a:prstGeom>
          <a:noFill/>
        </p:spPr>
        <p:txBody>
          <a:bodyPr wrap="none">
            <a:spAutoFit/>
          </a:bodyPr>
          <a:lstStyle/>
          <a:p>
            <a:pPr algn="ctr"/>
            <a:r>
              <a:rPr sz="1100" i="1">
                <a:solidFill>
                  <a:srgbClr val="555B58"/>
                </a:solidFill>
              </a:rPr>
              <a:t>Phase 12: real 2009 heat-pump temperature (no effect)</a:t>
            </a:r>
          </a:p>
        </p:txBody>
      </p:sp>
      <p:sp>
        <p:nvSpPr>
          <p:cNvPr id="8" name="TextBox 7"/>
          <p:cNvSpPr txBox="1"/>
          <p:nvPr/>
        </p:nvSpPr>
        <p:spPr>
          <a:xfrm>
            <a:off x="6172200" y="5806440"/>
            <a:ext cx="5577840" cy="548640"/>
          </a:xfrm>
          <a:prstGeom prst="rect">
            <a:avLst/>
          </a:prstGeom>
          <a:noFill/>
        </p:spPr>
        <p:txBody>
          <a:bodyPr wrap="none">
            <a:spAutoFit/>
          </a:bodyPr>
          <a:lstStyle/>
          <a:p>
            <a:pPr algn="ctr"/>
            <a:r>
              <a:rPr sz="1100" i="1">
                <a:solidFill>
                  <a:srgbClr val="555B58"/>
                </a:solidFill>
              </a:rPr>
              <a:t>Phase 15: import price blended across 11 real neighbours</a:t>
            </a:r>
          </a:p>
        </p:txBody>
      </p:sp>
      <p:sp>
        <p:nvSpPr>
          <p:cNvPr id="9" name="TextBox 8"/>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12-15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17: Rebuilding Demand on a Closer Weather-Matched Year</a:t>
            </a:r>
          </a:p>
          <a:p>
            <a:r>
              <a:rPr sz="1300" i="1">
                <a:solidFill>
                  <a:srgbClr val="555B58"/>
                </a:solidFill>
                <a:latin typeface="Calibri"/>
              </a:rPr>
              <a:t>2016 was found to be the real closest weather match to Brainpool's 2009 basis of any year with usable demand data</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ce_duration_curve.png"/>
          <p:cNvPicPr>
            <a:picLocks noChangeAspect="1"/>
          </p:cNvPicPr>
          <p:nvPr/>
        </p:nvPicPr>
        <p:blipFill>
          <a:blip r:embed="rId2"/>
          <a:stretch>
            <a:fillRect/>
          </a:stretch>
        </p:blipFill>
        <p:spPr>
          <a:xfrm>
            <a:off x="2714105" y="1371600"/>
            <a:ext cx="6733309" cy="4114800"/>
          </a:xfrm>
          <a:prstGeom prst="rect">
            <a:avLst/>
          </a:prstGeom>
        </p:spPr>
      </p:pic>
      <p:sp>
        <p:nvSpPr>
          <p:cNvPr id="6" name="Rounded Rectangle 5"/>
          <p:cNvSpPr/>
          <p:nvPr/>
        </p:nvSpPr>
        <p:spPr>
          <a:xfrm>
            <a:off x="548640" y="5532120"/>
            <a:ext cx="11064240" cy="914400"/>
          </a:xfrm>
          <a:prstGeom prst="roundRect">
            <a:avLst/>
          </a:prstGeom>
          <a:solidFill>
            <a:srgbClr val="F2F3EF"/>
          </a:solidFill>
          <a:ln w="15875">
            <a:solidFill>
              <a:srgbClr val="3A6B4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3A6B47"/>
                </a:solidFill>
              </a:rPr>
              <a:t>A real, modest improvement - not a breakthrough, but a defensible one.</a:t>
            </a:r>
          </a:p>
          <a:p>
            <a:r>
              <a:rPr sz="1200" i="1">
                <a:solidFill>
                  <a:srgbClr val="555B58"/>
                </a:solidFill>
              </a:rPr>
              <a:t>Shortage hours fell further and correlation improved, kept as the new demand foundation going forward.</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Part 3</a:t>
            </a:r>
          </a:p>
          <a:p>
            <a:pPr>
              <a:spcBef>
                <a:spcPts val="1000"/>
              </a:spcBef>
            </a:pPr>
            <a:r>
              <a:rPr sz="1800">
                <a:solidFill>
                  <a:srgbClr val="C9D6DE"/>
                </a:solidFill>
              </a:rPr>
              <a:t>Making demand smarter: flexible storage and consumers  (Phases 18-23)</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18-19: Where Does 3,000 EUR/MWh Come From?</a:t>
            </a:r>
          </a:p>
          <a:p>
            <a:r>
              <a:rPr sz="1300" i="1">
                <a:solidFill>
                  <a:srgbClr val="555B58"/>
                </a:solidFill>
                <a:latin typeface="Calibri"/>
              </a:rPr>
              <a:t>Researching AMIRIS's own default shortage price before touching it</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206240"/>
          </a:xfrm>
          <a:prstGeom prst="rect">
            <a:avLst/>
          </a:prstGeom>
          <a:noFill/>
        </p:spPr>
        <p:txBody>
          <a:bodyPr wrap="square">
            <a:spAutoFit/>
          </a:bodyPr>
          <a:lstStyle/>
          <a:p>
            <a:pPr>
              <a:spcAft>
                <a:spcPts val="1000"/>
              </a:spcAft>
            </a:pPr>
            <a:r>
              <a:rPr sz="1650">
                <a:solidFill>
                  <a:srgbClr val="141816"/>
                </a:solidFill>
                <a:latin typeface="Calibri"/>
              </a:rPr>
              <a:t>•  Confirmed via EPEX Spot, ACER and Montel: 3,000 EUR/MWh was the REAL, legally-binding EU-wide day-ahead price cap from Nov 2017 to May 2022</a:t>
            </a:r>
          </a:p>
          <a:p>
            <a:pPr>
              <a:spcAft>
                <a:spcPts val="1000"/>
              </a:spcAft>
            </a:pPr>
            <a:r>
              <a:rPr sz="1650">
                <a:solidFill>
                  <a:srgbClr val="141816"/>
                </a:solidFill>
                <a:latin typeface="Calibri"/>
              </a:rPr>
              <a:t>•  That period covers AMIRIS's own 2019 reference year - so the default is not arbitrary, it is historically grounded</a:t>
            </a:r>
          </a:p>
          <a:p>
            <a:pPr>
              <a:spcAft>
                <a:spcPts val="1000"/>
              </a:spcAft>
            </a:pPr>
            <a:r>
              <a:rPr sz="1650">
                <a:solidFill>
                  <a:srgbClr val="141816"/>
                </a:solidFill>
                <a:latin typeface="Calibri"/>
              </a:rPr>
              <a:t>•  The real cap has since risen twice (4,000, then 5,000 EUR/MWh) - tested directly whether updating to 5,000 would help</a:t>
            </a:r>
          </a:p>
          <a:p>
            <a:pPr>
              <a:spcAft>
                <a:spcPts val="1000"/>
              </a:spcAft>
            </a:pPr>
            <a:r>
              <a:rPr sz="1650">
                <a:solidFill>
                  <a:srgbClr val="141816"/>
                </a:solidFill>
                <a:latin typeface="Calibri"/>
              </a:rPr>
              <a:t>•  Result: a genuine trade-off, not a clean win - bias improves slightly, but all-hours correlation gets WORSE, because Brainpool's own price during those hours was nowhere near scarcity level either way</a:t>
            </a:r>
          </a:p>
        </p:txBody>
      </p:sp>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18-19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20-21: Price-Responsive Storage and Consumers</a:t>
            </a:r>
          </a:p>
          <a:p>
            <a:r>
              <a:rPr sz="1300" i="1">
                <a:solidFill>
                  <a:srgbClr val="555B58"/>
                </a:solidFill>
                <a:latin typeface="Calibri"/>
              </a:rPr>
              <a:t>Two flexible-demand agents rebuilt to actually respond to price, instead of drawing power on a fixed schedule</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ce_duration_curve.png"/>
          <p:cNvPicPr>
            <a:picLocks noChangeAspect="1"/>
          </p:cNvPicPr>
          <p:nvPr/>
        </p:nvPicPr>
        <p:blipFill>
          <a:blip r:embed="rId2"/>
          <a:stretch>
            <a:fillRect/>
          </a:stretch>
        </p:blipFill>
        <p:spPr>
          <a:xfrm>
            <a:off x="365760" y="1861820"/>
            <a:ext cx="5577840" cy="3408680"/>
          </a:xfrm>
          <a:prstGeom prst="rect">
            <a:avLst/>
          </a:prstGeom>
        </p:spPr>
      </p:pic>
      <p:pic>
        <p:nvPicPr>
          <p:cNvPr id="6" name="Picture 5" descr="price_duration_curve.png"/>
          <p:cNvPicPr>
            <a:picLocks noChangeAspect="1"/>
          </p:cNvPicPr>
          <p:nvPr/>
        </p:nvPicPr>
        <p:blipFill>
          <a:blip r:embed="rId3"/>
          <a:stretch>
            <a:fillRect/>
          </a:stretch>
        </p:blipFill>
        <p:spPr>
          <a:xfrm>
            <a:off x="6172200" y="1861820"/>
            <a:ext cx="5577840" cy="3408680"/>
          </a:xfrm>
          <a:prstGeom prst="rect">
            <a:avLst/>
          </a:prstGeom>
        </p:spPr>
      </p:pic>
      <p:sp>
        <p:nvSpPr>
          <p:cNvPr id="7" name="TextBox 6"/>
          <p:cNvSpPr txBox="1"/>
          <p:nvPr/>
        </p:nvSpPr>
        <p:spPr>
          <a:xfrm>
            <a:off x="365760" y="5806440"/>
            <a:ext cx="5577840" cy="548640"/>
          </a:xfrm>
          <a:prstGeom prst="rect">
            <a:avLst/>
          </a:prstGeom>
          <a:noFill/>
        </p:spPr>
        <p:txBody>
          <a:bodyPr wrap="none">
            <a:spAutoFit/>
          </a:bodyPr>
          <a:lstStyle/>
          <a:p>
            <a:pPr algn="ctr"/>
            <a:r>
              <a:rPr sz="1100" i="1">
                <a:solidFill>
                  <a:srgbClr val="555B58"/>
                </a:solidFill>
              </a:rPr>
              <a:t>Phase 20: flexible electrolysis (14.97 TWh/year)</a:t>
            </a:r>
          </a:p>
        </p:txBody>
      </p:sp>
      <p:sp>
        <p:nvSpPr>
          <p:cNvPr id="8" name="TextBox 7"/>
          <p:cNvSpPr txBox="1"/>
          <p:nvPr/>
        </p:nvSpPr>
        <p:spPr>
          <a:xfrm>
            <a:off x="6172200" y="5806440"/>
            <a:ext cx="5577840" cy="548640"/>
          </a:xfrm>
          <a:prstGeom prst="rect">
            <a:avLst/>
          </a:prstGeom>
          <a:noFill/>
        </p:spPr>
        <p:txBody>
          <a:bodyPr wrap="none">
            <a:spAutoFit/>
          </a:bodyPr>
          <a:lstStyle/>
          <a:p>
            <a:pPr algn="ctr"/>
            <a:r>
              <a:rPr sz="1100" i="1">
                <a:solidFill>
                  <a:srgbClr val="555B58"/>
                </a:solidFill>
              </a:rPr>
              <a:t>Phase 21: flexible e-mobility - shortage hours hit ZERO</a:t>
            </a:r>
          </a:p>
        </p:txBody>
      </p:sp>
      <p:sp>
        <p:nvSpPr>
          <p:cNvPr id="9" name="TextBox 8"/>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20-21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21: The Strongest Small Result of This Whole Line of Work</a:t>
            </a:r>
          </a:p>
          <a:p>
            <a:r>
              <a:rPr sz="1300" i="1">
                <a:solidFill>
                  <a:srgbClr val="555B58"/>
                </a:solidFill>
                <a:latin typeface="Calibri"/>
              </a:rPr>
              <a:t>Smart charging reached zero shortage hours for the first time in the project</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691640"/>
          <a:ext cx="9601200" cy="1828800"/>
        </p:xfrm>
        <a:graphic>
          <a:graphicData uri="http://schemas.openxmlformats.org/drawingml/2006/table">
            <a:tbl>
              <a:tblPr firstRow="1" bandRow="1">
                <a:tableStyleId>{5C22544A-7EE6-4342-B048-85BDC9FD1C3A}</a:tableStyleId>
              </a:tblPr>
              <a:tblGrid>
                <a:gridCol w="3840480"/>
                <a:gridCol w="2880360"/>
                <a:gridCol w="2880360"/>
              </a:tblGrid>
              <a:tr h="457200">
                <a:tc>
                  <a:txBody>
                    <a:bodyPr/>
                    <a:lstStyle/>
                    <a:p>
                      <a:pPr>
                        <a:defRPr b="1" sz="1150">
                          <a:solidFill>
                            <a:srgbClr val="FFFFFF"/>
                          </a:solidFill>
                        </a:defRPr>
                      </a:pPr>
                      <a:r>
                        <a:t>Metric</a:t>
                      </a:r>
                    </a:p>
                  </a:txBody>
                  <a:tcPr>
                    <a:solidFill>
                      <a:srgbClr val="1F3A4D"/>
                    </a:solidFill>
                  </a:tcPr>
                </a:tc>
                <a:tc>
                  <a:txBody>
                    <a:bodyPr/>
                    <a:lstStyle/>
                    <a:p>
                      <a:pPr>
                        <a:defRPr b="1" sz="1150">
                          <a:solidFill>
                            <a:srgbClr val="FFFFFF"/>
                          </a:solidFill>
                        </a:defRPr>
                      </a:pPr>
                      <a:r>
                        <a:t>Before flexibility</a:t>
                      </a:r>
                    </a:p>
                  </a:txBody>
                  <a:tcPr>
                    <a:solidFill>
                      <a:srgbClr val="1F3A4D"/>
                    </a:solidFill>
                  </a:tcPr>
                </a:tc>
                <a:tc>
                  <a:txBody>
                    <a:bodyPr/>
                    <a:lstStyle/>
                    <a:p>
                      <a:pPr>
                        <a:defRPr b="1" sz="1150">
                          <a:solidFill>
                            <a:srgbClr val="FFFFFF"/>
                          </a:solidFill>
                        </a:defRPr>
                      </a:pPr>
                      <a:r>
                        <a:t>After flexible electrolysis + e-mobility</a:t>
                      </a:r>
                    </a:p>
                  </a:txBody>
                  <a:tcPr>
                    <a:solidFill>
                      <a:srgbClr val="1F3A4D"/>
                    </a:solidFill>
                  </a:tcPr>
                </a:tc>
              </a:tr>
              <a:tr h="457200">
                <a:tc>
                  <a:txBody>
                    <a:bodyPr/>
                    <a:lstStyle/>
                    <a:p>
                      <a:pPr>
                        <a:defRPr b="0" sz="1150">
                          <a:solidFill>
                            <a:srgbClr val="141816"/>
                          </a:solidFill>
                        </a:defRPr>
                      </a:pPr>
                      <a:r>
                        <a:t>Shortage hours</a:t>
                      </a:r>
                    </a:p>
                  </a:txBody>
                  <a:tcPr>
                    <a:solidFill>
                      <a:srgbClr val="FFFFFF"/>
                    </a:solidFill>
                  </a:tcPr>
                </a:tc>
                <a:tc>
                  <a:txBody>
                    <a:bodyPr/>
                    <a:lstStyle/>
                    <a:p>
                      <a:pPr>
                        <a:defRPr b="0" sz="1150">
                          <a:solidFill>
                            <a:srgbClr val="141816"/>
                          </a:solidFill>
                        </a:defRPr>
                      </a:pPr>
                      <a:r>
                        <a:t>4 (0.046%)</a:t>
                      </a:r>
                    </a:p>
                  </a:txBody>
                  <a:tcPr>
                    <a:solidFill>
                      <a:srgbClr val="FFFFFF"/>
                    </a:solidFill>
                  </a:tcPr>
                </a:tc>
                <a:tc>
                  <a:txBody>
                    <a:bodyPr/>
                    <a:lstStyle/>
                    <a:p>
                      <a:pPr>
                        <a:defRPr b="0" sz="1150">
                          <a:solidFill>
                            <a:srgbClr val="141816"/>
                          </a:solidFill>
                        </a:defRPr>
                      </a:pPr>
                      <a:r>
                        <a:t>0 (0.000%)</a:t>
                      </a:r>
                    </a:p>
                  </a:txBody>
                  <a:tcPr>
                    <a:solidFill>
                      <a:srgbClr val="FFFFFF"/>
                    </a:solidFill>
                  </a:tcPr>
                </a:tc>
              </a:tr>
              <a:tr h="457200">
                <a:tc>
                  <a:txBody>
                    <a:bodyPr/>
                    <a:lstStyle/>
                    <a:p>
                      <a:pPr>
                        <a:defRPr b="0" sz="1150">
                          <a:solidFill>
                            <a:srgbClr val="141816"/>
                          </a:solidFill>
                        </a:defRPr>
                      </a:pPr>
                      <a:r>
                        <a:t>Correlation with Brainpool (ordinary hours)</a:t>
                      </a:r>
                    </a:p>
                  </a:txBody>
                  <a:tcPr>
                    <a:solidFill>
                      <a:srgbClr val="F2F3EF"/>
                    </a:solidFill>
                  </a:tcPr>
                </a:tc>
                <a:tc>
                  <a:txBody>
                    <a:bodyPr/>
                    <a:lstStyle/>
                    <a:p>
                      <a:pPr>
                        <a:defRPr b="0" sz="1150">
                          <a:solidFill>
                            <a:srgbClr val="141816"/>
                          </a:solidFill>
                        </a:defRPr>
                      </a:pPr>
                      <a:r>
                        <a:t>0.645</a:t>
                      </a:r>
                    </a:p>
                  </a:txBody>
                  <a:tcPr>
                    <a:solidFill>
                      <a:srgbClr val="F2F3EF"/>
                    </a:solidFill>
                  </a:tcPr>
                </a:tc>
                <a:tc>
                  <a:txBody>
                    <a:bodyPr/>
                    <a:lstStyle/>
                    <a:p>
                      <a:pPr>
                        <a:defRPr b="0" sz="1150">
                          <a:solidFill>
                            <a:srgbClr val="141816"/>
                          </a:solidFill>
                        </a:defRPr>
                      </a:pPr>
                      <a:r>
                        <a:t>0.647</a:t>
                      </a:r>
                    </a:p>
                  </a:txBody>
                  <a:tcPr>
                    <a:solidFill>
                      <a:srgbClr val="F2F3EF"/>
                    </a:solidFill>
                  </a:tcPr>
                </a:tc>
              </a:tr>
              <a:tr h="457200">
                <a:tc>
                  <a:txBody>
                    <a:bodyPr/>
                    <a:lstStyle/>
                    <a:p>
                      <a:pPr>
                        <a:defRPr b="0" sz="1150">
                          <a:solidFill>
                            <a:srgbClr val="141816"/>
                          </a:solidFill>
                        </a:defRPr>
                      </a:pPr>
                      <a:r>
                        <a:t>Charging pattern</a:t>
                      </a:r>
                    </a:p>
                  </a:txBody>
                  <a:tcPr>
                    <a:solidFill>
                      <a:srgbClr val="FFFFFF"/>
                    </a:solidFill>
                  </a:tcPr>
                </a:tc>
                <a:tc>
                  <a:txBody>
                    <a:bodyPr/>
                    <a:lstStyle/>
                    <a:p>
                      <a:pPr>
                        <a:defRPr b="0" sz="1150">
                          <a:solidFill>
                            <a:srgbClr val="141816"/>
                          </a:solidFill>
                        </a:defRPr>
                      </a:pPr>
                      <a:r>
                        <a:t>Fixed evening-peak shape</a:t>
                      </a:r>
                    </a:p>
                  </a:txBody>
                  <a:tcPr>
                    <a:solidFill>
                      <a:srgbClr val="FFFFFF"/>
                    </a:solidFill>
                  </a:tcPr>
                </a:tc>
                <a:tc>
                  <a:txBody>
                    <a:bodyPr/>
                    <a:lstStyle/>
                    <a:p>
                      <a:pPr>
                        <a:defRPr b="0" sz="1150">
                          <a:solidFill>
                            <a:srgbClr val="141816"/>
                          </a:solidFill>
                        </a:defRPr>
                      </a:pPr>
                      <a:r>
                        <a:t>Shifted to midday-peak, evening-trough</a:t>
                      </a:r>
                    </a:p>
                  </a:txBody>
                  <a:tcPr>
                    <a:solidFill>
                      <a:srgbClr val="FFFFFF"/>
                    </a:solidFill>
                  </a:tcPr>
                </a:tc>
              </a:tr>
            </a:tbl>
          </a:graphicData>
        </a:graphic>
      </p:graphicFrame>
      <p:sp>
        <p:nvSpPr>
          <p:cNvPr id="6" name="TextBox 5"/>
          <p:cNvSpPr txBox="1"/>
          <p:nvPr/>
        </p:nvSpPr>
        <p:spPr>
          <a:xfrm>
            <a:off x="822960" y="3840480"/>
            <a:ext cx="9966960" cy="914400"/>
          </a:xfrm>
          <a:prstGeom prst="rect">
            <a:avLst/>
          </a:prstGeom>
          <a:noFill/>
        </p:spPr>
        <p:txBody>
          <a:bodyPr wrap="square">
            <a:spAutoFit/>
          </a:bodyPr>
          <a:lstStyle/>
          <a:p>
            <a:pPr>
              <a:spcAft>
                <a:spcPts val="1000"/>
              </a:spcAft>
            </a:pPr>
            <a:r>
              <a:rPr sz="1500">
                <a:solidFill>
                  <a:srgbClr val="141816"/>
                </a:solidFill>
                <a:latin typeface="Calibri"/>
              </a:rPr>
              <a:t>•  With zero shortage hours, the “all-hours” and “excl-shortage” numbers became identical - a genuinely clean, verified result, not an artefact of removing outliers</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22-23: A Real Headroom Test, and a Structural Clue</a:t>
            </a:r>
          </a:p>
          <a:p>
            <a:r>
              <a:rPr sz="1300" i="1">
                <a:solidFill>
                  <a:srgbClr val="555B58"/>
                </a:solidFill>
                <a:latin typeface="Calibri"/>
              </a:rPr>
              <a:t>Reservoir hydro's power rating, and where the remaining gap actually lives</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114800"/>
          </a:xfrm>
          <a:prstGeom prst="rect">
            <a:avLst/>
          </a:prstGeom>
          <a:noFill/>
        </p:spPr>
        <p:txBody>
          <a:bodyPr wrap="square">
            <a:spAutoFit/>
          </a:bodyPr>
          <a:lstStyle/>
          <a:p>
            <a:pPr>
              <a:spcAft>
                <a:spcPts val="1000"/>
              </a:spcAft>
            </a:pPr>
            <a:r>
              <a:rPr sz="1600">
                <a:solidFill>
                  <a:srgbClr val="141816"/>
                </a:solidFill>
                <a:latin typeface="Calibri"/>
              </a:rPr>
              <a:t>•  Reservoir Hydro was found hitting its power cap 35% of the year - doubling/tripling it (a documented sensitivity test) gave real but modest gains, never fully clearing even at 3x</a:t>
            </a:r>
          </a:p>
          <a:p>
            <a:pPr>
              <a:spcAft>
                <a:spcPts val="1000"/>
              </a:spcAft>
            </a:pPr>
            <a:r>
              <a:rPr sz="1600">
                <a:solidFill>
                  <a:srgbClr val="141816"/>
                </a:solidFill>
                <a:latin typeface="Calibri"/>
              </a:rPr>
              <a:t>•  Not adopted: Brainpool's own real 2027 figure (1.54 GW) is the more defensible number to keep using</a:t>
            </a:r>
          </a:p>
          <a:p>
            <a:pPr>
              <a:spcAft>
                <a:spcPts val="1000"/>
              </a:spcAft>
            </a:pPr>
            <a:r>
              <a:rPr sz="1600">
                <a:solidFill>
                  <a:srgbClr val="141816"/>
                </a:solidFill>
                <a:latin typeface="Calibri"/>
              </a:rPr>
              <a:t>•  Re-running the month/hour/weekday breakdown found the midday price gap is still dominant, and barely moved despite ~33 TWh/year of new demand flexibility</a:t>
            </a:r>
          </a:p>
          <a:p>
            <a:pPr>
              <a:spcAft>
                <a:spcPts val="1000"/>
              </a:spcAft>
            </a:pPr>
            <a:r>
              <a:rPr sz="1600">
                <a:solidFill>
                  <a:srgbClr val="141816"/>
                </a:solidFill>
                <a:latin typeface="Calibri"/>
              </a:rPr>
              <a:t>•  Clear evidence pointing forward: the remaining gap needs EXPORT capability (letting Germany send power out, not just receive it in) - not more demand-side fixes</a:t>
            </a:r>
          </a:p>
        </p:txBody>
      </p:sp>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22-23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Part 4</a:t>
            </a:r>
          </a:p>
          <a:p>
            <a:pPr>
              <a:spcBef>
                <a:spcPts val="1000"/>
              </a:spcBef>
            </a:pPr>
            <a:r>
              <a:rPr sz="1800">
                <a:solidFill>
                  <a:srgbClr val="C9D6DE"/>
                </a:solidFill>
              </a:rPr>
              <a:t>Testing on new years, and closing dead ends  (Phases 24-31)</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24: Out-of-Sample Validation on 2028 and 2029</a:t>
            </a:r>
          </a:p>
          <a:p>
            <a:r>
              <a:rPr sz="1300" i="1">
                <a:solidFill>
                  <a:srgbClr val="555B58"/>
                </a:solidFill>
                <a:latin typeface="Calibri"/>
              </a:rPr>
              <a:t>Built the same way as 2027, with no re-tuning - a genuine test of whether the model generalises</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_outofsample_validation.png"/>
          <p:cNvPicPr>
            <a:picLocks noChangeAspect="1"/>
          </p:cNvPicPr>
          <p:nvPr/>
        </p:nvPicPr>
        <p:blipFill>
          <a:blip r:embed="rId2"/>
          <a:stretch>
            <a:fillRect/>
          </a:stretch>
        </p:blipFill>
        <p:spPr>
          <a:xfrm>
            <a:off x="1965960" y="1371600"/>
            <a:ext cx="8229600" cy="4114800"/>
          </a:xfrm>
          <a:prstGeom prst="rect">
            <a:avLst/>
          </a:prstGeom>
        </p:spPr>
      </p:pic>
      <p:sp>
        <p:nvSpPr>
          <p:cNvPr id="6" name="Rounded Rectangle 5"/>
          <p:cNvSpPr/>
          <p:nvPr/>
        </p:nvSpPr>
        <p:spPr>
          <a:xfrm>
            <a:off x="548640" y="5532120"/>
            <a:ext cx="11064240" cy="914400"/>
          </a:xfrm>
          <a:prstGeom prst="roundRect">
            <a:avLst/>
          </a:prstGeom>
          <a:solidFill>
            <a:srgbClr val="F2F3EF"/>
          </a:solidFill>
          <a:ln w="15875">
            <a:solidFill>
              <a:srgbClr val="A5691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A5691F"/>
                </a:solidFill>
              </a:rPr>
              <a:t>Price level holds up; hour-to-hour correlation weakens with distance from the calibration year.</a:t>
            </a:r>
          </a:p>
          <a:p>
            <a:r>
              <a:rPr sz="1200" i="1">
                <a:solidFill>
                  <a:srgbClr val="555B58"/>
                </a:solidFill>
              </a:rPr>
              <a:t>Correlation: 0.647 (2027) → 0.446 (2028) → 0.349 (2029) - an honest, informative limit of this kind of calibration.</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28: A Real Bug Found and Fixed</a:t>
            </a:r>
          </a:p>
          <a:p>
            <a:r>
              <a:rPr sz="1300" i="1">
                <a:solidFill>
                  <a:srgbClr val="555B58"/>
                </a:solidFill>
                <a:latin typeface="Calibri"/>
              </a:rPr>
              <a:t>Dropping Feb 29 from a leap-year data source silently misaligned every day from March onward - 84% of the year</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ce_duration_curve.png"/>
          <p:cNvPicPr>
            <a:picLocks noChangeAspect="1"/>
          </p:cNvPicPr>
          <p:nvPr/>
        </p:nvPicPr>
        <p:blipFill>
          <a:blip r:embed="rId2"/>
          <a:stretch>
            <a:fillRect/>
          </a:stretch>
        </p:blipFill>
        <p:spPr>
          <a:xfrm>
            <a:off x="2714105" y="1371600"/>
            <a:ext cx="6733309" cy="4114800"/>
          </a:xfrm>
          <a:prstGeom prst="rect">
            <a:avLst/>
          </a:prstGeom>
        </p:spPr>
      </p:pic>
      <p:sp>
        <p:nvSpPr>
          <p:cNvPr id="6" name="Rounded Rectangle 5"/>
          <p:cNvSpPr/>
          <p:nvPr/>
        </p:nvSpPr>
        <p:spPr>
          <a:xfrm>
            <a:off x="548640" y="5532120"/>
            <a:ext cx="11064240" cy="914400"/>
          </a:xfrm>
          <a:prstGeom prst="roundRect">
            <a:avLst/>
          </a:prstGeom>
          <a:solidFill>
            <a:srgbClr val="F2F3EF"/>
          </a:solidFill>
          <a:ln w="15875">
            <a:solidFill>
              <a:srgbClr val="3A6B4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3A6B47"/>
                </a:solidFill>
              </a:rPr>
              <a:t>Fixed by dropping Dec 31 instead - a clean improvement, no trade-off.</a:t>
            </a:r>
          </a:p>
          <a:p>
            <a:r>
              <a:rPr sz="1200" i="1">
                <a:solidFill>
                  <a:srgbClr val="555B58"/>
                </a:solidFill>
              </a:rPr>
              <a:t>Both 2027 (r 0.647→0.675) and 2029 (r 0.349→0.446) improved with no downside anywhere.</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29-31: Three Real Dead Ends, Reported Honestly</a:t>
            </a:r>
          </a:p>
          <a:p>
            <a:r>
              <a:rPr sz="1300" i="1">
                <a:solidFill>
                  <a:srgbClr val="555B58"/>
                </a:solidFill>
                <a:latin typeface="Calibri"/>
              </a:rPr>
              <a:t>Not every plausible idea works - and confirming that has real value</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508760"/>
          <a:ext cx="11064240" cy="2468880"/>
        </p:xfrm>
        <a:graphic>
          <a:graphicData uri="http://schemas.openxmlformats.org/drawingml/2006/table">
            <a:tbl>
              <a:tblPr firstRow="1" bandRow="1">
                <a:tableStyleId>{5C22544A-7EE6-4342-B048-85BDC9FD1C3A}</a:tableStyleId>
              </a:tblPr>
              <a:tblGrid>
                <a:gridCol w="3319272"/>
                <a:gridCol w="3872484"/>
                <a:gridCol w="3872484"/>
              </a:tblGrid>
              <a:tr h="617220">
                <a:tc>
                  <a:txBody>
                    <a:bodyPr/>
                    <a:lstStyle/>
                    <a:p>
                      <a:pPr>
                        <a:defRPr b="1" sz="1200">
                          <a:solidFill>
                            <a:srgbClr val="FFFFFF"/>
                          </a:solidFill>
                        </a:defRPr>
                      </a:pPr>
                      <a:r>
                        <a:t>Idea tested</a:t>
                      </a:r>
                    </a:p>
                  </a:txBody>
                  <a:tcPr>
                    <a:solidFill>
                      <a:srgbClr val="1F3A4D"/>
                    </a:solidFill>
                  </a:tcPr>
                </a:tc>
                <a:tc>
                  <a:txBody>
                    <a:bodyPr/>
                    <a:lstStyle/>
                    <a:p>
                      <a:pPr>
                        <a:defRPr b="1" sz="1200">
                          <a:solidFill>
                            <a:srgbClr val="FFFFFF"/>
                          </a:solidFill>
                        </a:defRPr>
                      </a:pPr>
                      <a:r>
                        <a:t>Real basis</a:t>
                      </a:r>
                    </a:p>
                  </a:txBody>
                  <a:tcPr>
                    <a:solidFill>
                      <a:srgbClr val="1F3A4D"/>
                    </a:solidFill>
                  </a:tcPr>
                </a:tc>
                <a:tc>
                  <a:txBody>
                    <a:bodyPr/>
                    <a:lstStyle/>
                    <a:p>
                      <a:pPr>
                        <a:defRPr b="1" sz="1200">
                          <a:solidFill>
                            <a:srgbClr val="FFFFFF"/>
                          </a:solidFill>
                        </a:defRPr>
                      </a:pPr>
                      <a:r>
                        <a:t>Result</a:t>
                      </a:r>
                    </a:p>
                  </a:txBody>
                  <a:tcPr>
                    <a:solidFill>
                      <a:srgbClr val="1F3A4D"/>
                    </a:solidFill>
                  </a:tcPr>
                </a:tc>
              </a:tr>
              <a:tr h="617220">
                <a:tc>
                  <a:txBody>
                    <a:bodyPr/>
                    <a:lstStyle/>
                    <a:p>
                      <a:pPr>
                        <a:defRPr b="0" sz="1200">
                          <a:solidFill>
                            <a:srgbClr val="141816"/>
                          </a:solidFill>
                        </a:defRPr>
                      </a:pPr>
                      <a:r>
                        <a:t>Phase 29: negative price floor</a:t>
                      </a:r>
                    </a:p>
                  </a:txBody>
                  <a:tcPr>
                    <a:solidFill>
                      <a:srgbClr val="FFFFFF"/>
                    </a:solidFill>
                  </a:tcPr>
                </a:tc>
                <a:tc>
                  <a:txBody>
                    <a:bodyPr/>
                    <a:lstStyle/>
                    <a:p>
                      <a:pPr>
                        <a:defRPr b="0" sz="1200">
                          <a:solidFill>
                            <a:srgbClr val="141816"/>
                          </a:solidFill>
                        </a:defRPr>
                      </a:pPr>
                      <a:r>
                        <a:t>Supervisor's own suggestion; AMIRIS's real -500 EUR/MWh floor decompiled from source</a:t>
                      </a:r>
                    </a:p>
                  </a:txBody>
                  <a:tcPr>
                    <a:solidFill>
                      <a:srgbClr val="FFFFFF"/>
                    </a:solidFill>
                  </a:tcPr>
                </a:tc>
                <a:tc>
                  <a:txBody>
                    <a:bodyPr/>
                    <a:lstStyle/>
                    <a:p>
                      <a:pPr>
                        <a:defRPr b="0" sz="1200">
                          <a:solidFill>
                            <a:srgbClr val="141816"/>
                          </a:solidFill>
                        </a:defRPr>
                      </a:pPr>
                      <a:r>
                        <a:t>Confirmed dead end - no floor value improves correlation</a:t>
                      </a:r>
                    </a:p>
                  </a:txBody>
                  <a:tcPr>
                    <a:solidFill>
                      <a:srgbClr val="FFFFFF"/>
                    </a:solidFill>
                  </a:tcPr>
                </a:tc>
              </a:tr>
              <a:tr h="617220">
                <a:tc>
                  <a:txBody>
                    <a:bodyPr/>
                    <a:lstStyle/>
                    <a:p>
                      <a:pPr>
                        <a:defRPr b="0" sz="1200">
                          <a:solidFill>
                            <a:srgbClr val="141816"/>
                          </a:solidFill>
                        </a:defRPr>
                      </a:pPr>
                      <a:r>
                        <a:t>Phase 30: real plant start-up cost</a:t>
                      </a:r>
                    </a:p>
                  </a:txBody>
                  <a:tcPr>
                    <a:solidFill>
                      <a:srgbClr val="F2F3EF"/>
                    </a:solidFill>
                  </a:tcPr>
                </a:tc>
                <a:tc>
                  <a:txBody>
                    <a:bodyPr/>
                    <a:lstStyle/>
                    <a:p>
                      <a:pPr>
                        <a:defRPr b="0" sz="1200">
                          <a:solidFill>
                            <a:srgbClr val="141816"/>
                          </a:solidFill>
                        </a:defRPr>
                      </a:pPr>
                      <a:r>
                        <a:t>Peer-reviewed real figures (Roques/Hach et al. 2017)</a:t>
                      </a:r>
                    </a:p>
                  </a:txBody>
                  <a:tcPr>
                    <a:solidFill>
                      <a:srgbClr val="F2F3EF"/>
                    </a:solidFill>
                  </a:tcPr>
                </a:tc>
                <a:tc>
                  <a:txBody>
                    <a:bodyPr/>
                    <a:lstStyle/>
                    <a:p>
                      <a:pPr>
                        <a:defRPr b="0" sz="1200">
                          <a:solidFill>
                            <a:srgbClr val="141816"/>
                          </a:solidFill>
                        </a:defRPr>
                      </a:pPr>
                      <a:r>
                        <a:t>Byte-identical to baseline - the parameter isn't even wired into this dispatch mode</a:t>
                      </a:r>
                    </a:p>
                  </a:txBody>
                  <a:tcPr>
                    <a:solidFill>
                      <a:srgbClr val="F2F3EF"/>
                    </a:solidFill>
                  </a:tcPr>
                </a:tc>
              </a:tr>
              <a:tr h="617220">
                <a:tc>
                  <a:txBody>
                    <a:bodyPr/>
                    <a:lstStyle/>
                    <a:p>
                      <a:pPr>
                        <a:defRPr b="0" sz="1200">
                          <a:solidFill>
                            <a:srgbClr val="141816"/>
                          </a:solidFill>
                        </a:defRPr>
                      </a:pPr>
                      <a:r>
                        <a:t>Phase 31: widen lignite's bidding markup</a:t>
                      </a:r>
                    </a:p>
                  </a:txBody>
                  <a:tcPr>
                    <a:solidFill>
                      <a:srgbClr val="FFFFFF"/>
                    </a:solidFill>
                  </a:tcPr>
                </a:tc>
                <a:tc>
                  <a:txBody>
                    <a:bodyPr/>
                    <a:lstStyle/>
                    <a:p>
                      <a:pPr>
                        <a:defRPr b="0" sz="1200">
                          <a:solidFill>
                            <a:srgbClr val="141816"/>
                          </a:solidFill>
                        </a:defRPr>
                      </a:pPr>
                      <a:r>
                        <a:t>AMIRIS's own real, documented parameter</a:t>
                      </a:r>
                    </a:p>
                  </a:txBody>
                  <a:tcPr>
                    <a:solidFill>
                      <a:srgbClr val="FFFFFF"/>
                    </a:solidFill>
                  </a:tcPr>
                </a:tc>
                <a:tc>
                  <a:txBody>
                    <a:bodyPr/>
                    <a:lstStyle/>
                    <a:p>
                      <a:pPr>
                        <a:defRPr b="0" sz="1200">
                          <a:solidFill>
                            <a:srgbClr val="141816"/>
                          </a:solidFill>
                        </a:defRPr>
                      </a:pPr>
                      <a:r>
                        <a:t>Bias/MAE improve slightly, but correlation stays flat - a real lever that doesn't move the metric that matters</a:t>
                      </a:r>
                    </a:p>
                  </a:txBody>
                  <a:tcPr>
                    <a:solidFill>
                      <a:srgbClr val="FFFFFF"/>
                    </a:solidFill>
                  </a:tcPr>
                </a:tc>
              </a:tr>
            </a:tbl>
          </a:graphicData>
        </a:graphic>
      </p:graphicFrame>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29-31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Part 5</a:t>
            </a:r>
          </a:p>
          <a:p>
            <a:pPr>
              <a:spcBef>
                <a:spcPts val="1000"/>
              </a:spcBef>
            </a:pPr>
            <a:r>
              <a:rPr sz="1800">
                <a:solidFill>
                  <a:srgbClr val="C9D6DE"/>
                </a:solidFill>
              </a:rPr>
              <a:t>The big lever: connecting Germany to the rest of Europe  (Phases 32-38)</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32-33: Scoping and Sourcing Real Cross-Border Data</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2926080"/>
          </a:xfrm>
          <a:prstGeom prst="rect">
            <a:avLst/>
          </a:prstGeom>
          <a:noFill/>
        </p:spPr>
        <p:txBody>
          <a:bodyPr wrap="square">
            <a:spAutoFit/>
          </a:bodyPr>
          <a:lstStyle/>
          <a:p>
            <a:pPr>
              <a:spcAft>
                <a:spcPts val="1000"/>
              </a:spcAft>
            </a:pPr>
            <a:r>
              <a:rPr sz="1650">
                <a:solidFill>
                  <a:srgbClr val="141816"/>
                </a:solidFill>
                <a:latin typeface="Calibri"/>
              </a:rPr>
              <a:t>•  Found and studied AMIRIS's own real, working two-zone market-coupling template - confirmed genuine, not experimental</a:t>
            </a:r>
          </a:p>
          <a:p>
            <a:pPr>
              <a:spcAft>
                <a:spcPts val="1000"/>
              </a:spcAft>
            </a:pPr>
            <a:r>
              <a:rPr sz="1650">
                <a:solidFill>
                  <a:srgbClr val="141816"/>
                </a:solidFill>
                <a:latin typeface="Calibri"/>
              </a:rPr>
              <a:t>•  Sourced real Rest-of-Europe demand and capacity data (Eurostat) after a genuine multi-day ENTSO-E platform outage</a:t>
            </a:r>
          </a:p>
          <a:p>
            <a:pPr>
              <a:spcAft>
                <a:spcPts val="1000"/>
              </a:spcAft>
            </a:pPr>
            <a:r>
              <a:rPr sz="1650">
                <a:solidFill>
                  <a:srgbClr val="141816"/>
                </a:solidFill>
                <a:latin typeface="Calibri"/>
              </a:rPr>
              <a:t>•  9 of 10 real neighbouring countries covered; Switzerland flagged as a confirmed, honestly-reported data gap</a:t>
            </a:r>
          </a:p>
        </p:txBody>
      </p:sp>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32-33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34 &amp; 36: First Coupling, Then Real Transmission Data</a:t>
            </a:r>
          </a:p>
          <a:p>
            <a:r>
              <a:rPr sz="1300" i="1">
                <a:solidFill>
                  <a:srgbClr val="555B58"/>
                </a:solidFill>
                <a:latin typeface="Calibri"/>
              </a:rPr>
              <a:t>A placeholder version first, then rebuilt on real ENTSO-E flow-derived transmission capacity</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ce_duration_curve.png"/>
          <p:cNvPicPr>
            <a:picLocks noChangeAspect="1"/>
          </p:cNvPicPr>
          <p:nvPr/>
        </p:nvPicPr>
        <p:blipFill>
          <a:blip r:embed="rId2"/>
          <a:stretch>
            <a:fillRect/>
          </a:stretch>
        </p:blipFill>
        <p:spPr>
          <a:xfrm>
            <a:off x="365760" y="1861820"/>
            <a:ext cx="5577840" cy="3408680"/>
          </a:xfrm>
          <a:prstGeom prst="rect">
            <a:avLst/>
          </a:prstGeom>
        </p:spPr>
      </p:pic>
      <p:pic>
        <p:nvPicPr>
          <p:cNvPr id="6" name="Picture 5" descr="price_duration_curve.png"/>
          <p:cNvPicPr>
            <a:picLocks noChangeAspect="1"/>
          </p:cNvPicPr>
          <p:nvPr/>
        </p:nvPicPr>
        <p:blipFill>
          <a:blip r:embed="rId3"/>
          <a:stretch>
            <a:fillRect/>
          </a:stretch>
        </p:blipFill>
        <p:spPr>
          <a:xfrm>
            <a:off x="6172200" y="1861820"/>
            <a:ext cx="5577840" cy="3408680"/>
          </a:xfrm>
          <a:prstGeom prst="rect">
            <a:avLst/>
          </a:prstGeom>
        </p:spPr>
      </p:pic>
      <p:sp>
        <p:nvSpPr>
          <p:cNvPr id="7" name="TextBox 6"/>
          <p:cNvSpPr txBox="1"/>
          <p:nvPr/>
        </p:nvSpPr>
        <p:spPr>
          <a:xfrm>
            <a:off x="365760" y="5806440"/>
            <a:ext cx="5577840" cy="548640"/>
          </a:xfrm>
          <a:prstGeom prst="rect">
            <a:avLst/>
          </a:prstGeom>
          <a:noFill/>
        </p:spPr>
        <p:txBody>
          <a:bodyPr wrap="none">
            <a:spAutoFit/>
          </a:bodyPr>
          <a:lstStyle/>
          <a:p>
            <a:pPr algn="ctr"/>
            <a:r>
              <a:rPr sz="1100" i="1">
                <a:solidFill>
                  <a:srgbClr val="555B58"/>
                </a:solidFill>
              </a:rPr>
              <a:t>Phase 34: placeholder transmission capacity</a:t>
            </a:r>
          </a:p>
        </p:txBody>
      </p:sp>
      <p:sp>
        <p:nvSpPr>
          <p:cNvPr id="8" name="TextBox 7"/>
          <p:cNvSpPr txBox="1"/>
          <p:nvPr/>
        </p:nvSpPr>
        <p:spPr>
          <a:xfrm>
            <a:off x="6172200" y="5806440"/>
            <a:ext cx="5577840" cy="548640"/>
          </a:xfrm>
          <a:prstGeom prst="rect">
            <a:avLst/>
          </a:prstGeom>
          <a:noFill/>
        </p:spPr>
        <p:txBody>
          <a:bodyPr wrap="none">
            <a:spAutoFit/>
          </a:bodyPr>
          <a:lstStyle/>
          <a:p>
            <a:pPr algn="ctr"/>
            <a:r>
              <a:rPr sz="1100" i="1">
                <a:solidFill>
                  <a:srgbClr val="555B58"/>
                </a:solidFill>
              </a:rPr>
              <a:t>Phase 36: real 2023 flow-derived capacity</a:t>
            </a:r>
          </a:p>
        </p:txBody>
      </p:sp>
      <p:sp>
        <p:nvSpPr>
          <p:cNvPr id="9" name="TextBox 8"/>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34-36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37: The Best Result of the Entire Project</a:t>
            </a:r>
          </a:p>
          <a:p>
            <a:r>
              <a:rPr sz="1300" i="1">
                <a:solidFill>
                  <a:srgbClr val="555B58"/>
                </a:solidFill>
                <a:latin typeface="Calibri"/>
              </a:rPr>
              <a:t>Real Rest-of-Europe storage and subsidy realism, added to the real-flow transmission build</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ce_duration_curve.png"/>
          <p:cNvPicPr>
            <a:picLocks noChangeAspect="1"/>
          </p:cNvPicPr>
          <p:nvPr/>
        </p:nvPicPr>
        <p:blipFill>
          <a:blip r:embed="rId2"/>
          <a:stretch>
            <a:fillRect/>
          </a:stretch>
        </p:blipFill>
        <p:spPr>
          <a:xfrm>
            <a:off x="457200" y="1844040"/>
            <a:ext cx="5486400" cy="3352800"/>
          </a:xfrm>
          <a:prstGeom prst="rect">
            <a:avLst/>
          </a:prstGeom>
        </p:spPr>
      </p:pic>
      <p:pic>
        <p:nvPicPr>
          <p:cNvPr id="6" name="Picture 5" descr="correlation_scatter.png"/>
          <p:cNvPicPr>
            <a:picLocks noChangeAspect="1"/>
          </p:cNvPicPr>
          <p:nvPr/>
        </p:nvPicPr>
        <p:blipFill>
          <a:blip r:embed="rId3"/>
          <a:stretch>
            <a:fillRect/>
          </a:stretch>
        </p:blipFill>
        <p:spPr>
          <a:xfrm>
            <a:off x="6766560" y="1417320"/>
            <a:ext cx="4206240" cy="4206240"/>
          </a:xfrm>
          <a:prstGeom prst="rect">
            <a:avLst/>
          </a:prstGeom>
        </p:spPr>
      </p:pic>
      <p:sp>
        <p:nvSpPr>
          <p:cNvPr id="7" name="Rounded Rectangle 6"/>
          <p:cNvSpPr/>
          <p:nvPr/>
        </p:nvSpPr>
        <p:spPr>
          <a:xfrm>
            <a:off x="457200" y="5760720"/>
            <a:ext cx="11155680" cy="777240"/>
          </a:xfrm>
          <a:prstGeom prst="roundRect">
            <a:avLst/>
          </a:prstGeom>
          <a:solidFill>
            <a:srgbClr val="F2F3EF"/>
          </a:solidFill>
          <a:ln w="15875">
            <a:solidFill>
              <a:srgbClr val="3A6B4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3A6B47"/>
                </a:solidFill>
              </a:rPr>
              <a:t>Phase 37 (BEST RESULT OVERALL, per this project's own tracked milestones)</a:t>
            </a:r>
          </a:p>
          <a:p>
            <a:r>
              <a:rPr sz="1200" i="1">
                <a:solidFill>
                  <a:srgbClr val="555B58"/>
                </a:solidFill>
              </a:rPr>
              <a:t>Mean price 67.45 vs. Brainpool's real 68.04 EUR/MWh. Bias -0.59, MAE 18.99 (all-hours). Excl-shortage correlation 0.72. Every mechanism reused Germany's own real, calibrated data - nothing arbitrary.</a:t>
            </a:r>
          </a:p>
        </p:txBody>
      </p:sp>
      <p:sp>
        <p:nvSpPr>
          <p:cNvPr id="8" name="TextBox 7"/>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38: Extending Phase 37 to 2028 and 2029, Unchanged</a:t>
            </a:r>
          </a:p>
          <a:p>
            <a:r>
              <a:rPr sz="1300" i="1">
                <a:solidFill>
                  <a:srgbClr val="555B58"/>
                </a:solidFill>
                <a:latin typeface="Calibri"/>
              </a:rPr>
              <a:t>Every calibrated mechanism reused with no re-tuning</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691640"/>
          <a:ext cx="9601200" cy="1828800"/>
        </p:xfrm>
        <a:graphic>
          <a:graphicData uri="http://schemas.openxmlformats.org/drawingml/2006/table">
            <a:tbl>
              <a:tblPr firstRow="1" bandRow="1">
                <a:tableStyleId>{5C22544A-7EE6-4342-B048-85BDC9FD1C3A}</a:tableStyleId>
              </a:tblPr>
              <a:tblGrid>
                <a:gridCol w="2112264"/>
                <a:gridCol w="1920240"/>
                <a:gridCol w="1920240"/>
                <a:gridCol w="2112264"/>
                <a:gridCol w="1536192"/>
              </a:tblGrid>
              <a:tr h="457200">
                <a:tc>
                  <a:txBody>
                    <a:bodyPr/>
                    <a:lstStyle/>
                    <a:p>
                      <a:pPr>
                        <a:defRPr b="1" sz="1150">
                          <a:solidFill>
                            <a:srgbClr val="FFFFFF"/>
                          </a:solidFill>
                        </a:defRPr>
                      </a:pPr>
                      <a:r>
                        <a:t>Year</a:t>
                      </a:r>
                    </a:p>
                  </a:txBody>
                  <a:tcPr>
                    <a:solidFill>
                      <a:srgbClr val="1F3A4D"/>
                    </a:solidFill>
                  </a:tcPr>
                </a:tc>
                <a:tc>
                  <a:txBody>
                    <a:bodyPr/>
                    <a:lstStyle/>
                    <a:p>
                      <a:pPr>
                        <a:defRPr b="1" sz="1150">
                          <a:solidFill>
                            <a:srgbClr val="FFFFFF"/>
                          </a:solidFill>
                        </a:defRPr>
                      </a:pPr>
                      <a:r>
                        <a:t>Excl-shortage bias</a:t>
                      </a:r>
                    </a:p>
                  </a:txBody>
                  <a:tcPr>
                    <a:solidFill>
                      <a:srgbClr val="1F3A4D"/>
                    </a:solidFill>
                  </a:tcPr>
                </a:tc>
                <a:tc>
                  <a:txBody>
                    <a:bodyPr/>
                    <a:lstStyle/>
                    <a:p>
                      <a:pPr>
                        <a:defRPr b="1" sz="1150">
                          <a:solidFill>
                            <a:srgbClr val="FFFFFF"/>
                          </a:solidFill>
                        </a:defRPr>
                      </a:pPr>
                      <a:r>
                        <a:t>Excl-shortage MAE</a:t>
                      </a:r>
                    </a:p>
                  </a:txBody>
                  <a:tcPr>
                    <a:solidFill>
                      <a:srgbClr val="1F3A4D"/>
                    </a:solidFill>
                  </a:tcPr>
                </a:tc>
                <a:tc>
                  <a:txBody>
                    <a:bodyPr/>
                    <a:lstStyle/>
                    <a:p>
                      <a:pPr>
                        <a:defRPr b="1" sz="1150">
                          <a:solidFill>
                            <a:srgbClr val="FFFFFF"/>
                          </a:solidFill>
                        </a:defRPr>
                      </a:pPr>
                      <a:r>
                        <a:t>Excl-shortage correlation</a:t>
                      </a:r>
                    </a:p>
                  </a:txBody>
                  <a:tcPr>
                    <a:solidFill>
                      <a:srgbClr val="1F3A4D"/>
                    </a:solidFill>
                  </a:tcPr>
                </a:tc>
                <a:tc>
                  <a:txBody>
                    <a:bodyPr/>
                    <a:lstStyle/>
                    <a:p>
                      <a:pPr>
                        <a:defRPr b="1" sz="1150">
                          <a:solidFill>
                            <a:srgbClr val="FFFFFF"/>
                          </a:solidFill>
                        </a:defRPr>
                      </a:pPr>
                      <a:r>
                        <a:t>Shortage hours</a:t>
                      </a:r>
                    </a:p>
                  </a:txBody>
                  <a:tcPr>
                    <a:solidFill>
                      <a:srgbClr val="1F3A4D"/>
                    </a:solidFill>
                  </a:tcPr>
                </a:tc>
              </a:tr>
              <a:tr h="457200">
                <a:tc>
                  <a:txBody>
                    <a:bodyPr/>
                    <a:lstStyle/>
                    <a:p>
                      <a:pPr>
                        <a:defRPr b="0" sz="1150">
                          <a:solidFill>
                            <a:srgbClr val="141816"/>
                          </a:solidFill>
                        </a:defRPr>
                      </a:pPr>
                      <a:r>
                        <a:t>2027 (Phase 37)</a:t>
                      </a:r>
                    </a:p>
                  </a:txBody>
                  <a:tcPr>
                    <a:solidFill>
                      <a:srgbClr val="FFFFFF"/>
                    </a:solidFill>
                  </a:tcPr>
                </a:tc>
                <a:tc>
                  <a:txBody>
                    <a:bodyPr/>
                    <a:lstStyle/>
                    <a:p>
                      <a:pPr>
                        <a:defRPr b="0" sz="1150">
                          <a:solidFill>
                            <a:srgbClr val="141816"/>
                          </a:solidFill>
                        </a:defRPr>
                      </a:pPr>
                      <a:r>
                        <a:t>-2.90</a:t>
                      </a:r>
                    </a:p>
                  </a:txBody>
                  <a:tcPr>
                    <a:solidFill>
                      <a:srgbClr val="FFFFFF"/>
                    </a:solidFill>
                  </a:tcPr>
                </a:tc>
                <a:tc>
                  <a:txBody>
                    <a:bodyPr/>
                    <a:lstStyle/>
                    <a:p>
                      <a:pPr>
                        <a:defRPr b="0" sz="1150">
                          <a:solidFill>
                            <a:srgbClr val="141816"/>
                          </a:solidFill>
                        </a:defRPr>
                      </a:pPr>
                      <a:r>
                        <a:t>16.69</a:t>
                      </a:r>
                    </a:p>
                  </a:txBody>
                  <a:tcPr>
                    <a:solidFill>
                      <a:srgbClr val="FFFFFF"/>
                    </a:solidFill>
                  </a:tcPr>
                </a:tc>
                <a:tc>
                  <a:txBody>
                    <a:bodyPr/>
                    <a:lstStyle/>
                    <a:p>
                      <a:pPr>
                        <a:defRPr b="0" sz="1150">
                          <a:solidFill>
                            <a:srgbClr val="141816"/>
                          </a:solidFill>
                        </a:defRPr>
                      </a:pPr>
                      <a:r>
                        <a:t>0.7168</a:t>
                      </a:r>
                    </a:p>
                  </a:txBody>
                  <a:tcPr>
                    <a:solidFill>
                      <a:srgbClr val="FFFFFF"/>
                    </a:solidFill>
                  </a:tcPr>
                </a:tc>
                <a:tc>
                  <a:txBody>
                    <a:bodyPr/>
                    <a:lstStyle/>
                    <a:p>
                      <a:pPr>
                        <a:defRPr b="0" sz="1150">
                          <a:solidFill>
                            <a:srgbClr val="141816"/>
                          </a:solidFill>
                        </a:defRPr>
                      </a:pPr>
                      <a:r>
                        <a:t>7</a:t>
                      </a:r>
                    </a:p>
                  </a:txBody>
                  <a:tcPr>
                    <a:solidFill>
                      <a:srgbClr val="FFFFFF"/>
                    </a:solidFill>
                  </a:tcPr>
                </a:tc>
              </a:tr>
              <a:tr h="457200">
                <a:tc>
                  <a:txBody>
                    <a:bodyPr/>
                    <a:lstStyle/>
                    <a:p>
                      <a:pPr>
                        <a:defRPr b="0" sz="1150">
                          <a:solidFill>
                            <a:srgbClr val="141816"/>
                          </a:solidFill>
                        </a:defRPr>
                      </a:pPr>
                      <a:r>
                        <a:t>2028</a:t>
                      </a:r>
                    </a:p>
                  </a:txBody>
                  <a:tcPr>
                    <a:solidFill>
                      <a:srgbClr val="F2F3EF"/>
                    </a:solidFill>
                  </a:tcPr>
                </a:tc>
                <a:tc>
                  <a:txBody>
                    <a:bodyPr/>
                    <a:lstStyle/>
                    <a:p>
                      <a:pPr>
                        <a:defRPr b="0" sz="1150">
                          <a:solidFill>
                            <a:srgbClr val="141816"/>
                          </a:solidFill>
                        </a:defRPr>
                      </a:pPr>
                      <a:r>
                        <a:t>+1.08</a:t>
                      </a:r>
                    </a:p>
                  </a:txBody>
                  <a:tcPr>
                    <a:solidFill>
                      <a:srgbClr val="F2F3EF"/>
                    </a:solidFill>
                  </a:tcPr>
                </a:tc>
                <a:tc>
                  <a:txBody>
                    <a:bodyPr/>
                    <a:lstStyle/>
                    <a:p>
                      <a:pPr>
                        <a:defRPr b="0" sz="1150">
                          <a:solidFill>
                            <a:srgbClr val="141816"/>
                          </a:solidFill>
                        </a:defRPr>
                      </a:pPr>
                      <a:r>
                        <a:t>17.05</a:t>
                      </a:r>
                    </a:p>
                  </a:txBody>
                  <a:tcPr>
                    <a:solidFill>
                      <a:srgbClr val="F2F3EF"/>
                    </a:solidFill>
                  </a:tcPr>
                </a:tc>
                <a:tc>
                  <a:txBody>
                    <a:bodyPr/>
                    <a:lstStyle/>
                    <a:p>
                      <a:pPr>
                        <a:defRPr b="0" sz="1150">
                          <a:solidFill>
                            <a:srgbClr val="141816"/>
                          </a:solidFill>
                        </a:defRPr>
                      </a:pPr>
                      <a:r>
                        <a:t>0.7181</a:t>
                      </a:r>
                    </a:p>
                  </a:txBody>
                  <a:tcPr>
                    <a:solidFill>
                      <a:srgbClr val="F2F3EF"/>
                    </a:solidFill>
                  </a:tcPr>
                </a:tc>
                <a:tc>
                  <a:txBody>
                    <a:bodyPr/>
                    <a:lstStyle/>
                    <a:p>
                      <a:pPr>
                        <a:defRPr b="0" sz="1150">
                          <a:solidFill>
                            <a:srgbClr val="141816"/>
                          </a:solidFill>
                        </a:defRPr>
                      </a:pPr>
                      <a:r>
                        <a:t>17</a:t>
                      </a:r>
                    </a:p>
                  </a:txBody>
                  <a:tcPr>
                    <a:solidFill>
                      <a:srgbClr val="F2F3EF"/>
                    </a:solidFill>
                  </a:tcPr>
                </a:tc>
              </a:tr>
              <a:tr h="457200">
                <a:tc>
                  <a:txBody>
                    <a:bodyPr/>
                    <a:lstStyle/>
                    <a:p>
                      <a:pPr>
                        <a:defRPr b="0" sz="1150">
                          <a:solidFill>
                            <a:srgbClr val="141816"/>
                          </a:solidFill>
                        </a:defRPr>
                      </a:pPr>
                      <a:r>
                        <a:t>2029</a:t>
                      </a:r>
                    </a:p>
                  </a:txBody>
                  <a:tcPr>
                    <a:solidFill>
                      <a:srgbClr val="FFFFFF"/>
                    </a:solidFill>
                  </a:tcPr>
                </a:tc>
                <a:tc>
                  <a:txBody>
                    <a:bodyPr/>
                    <a:lstStyle/>
                    <a:p>
                      <a:pPr>
                        <a:defRPr b="0" sz="1150">
                          <a:solidFill>
                            <a:srgbClr val="141816"/>
                          </a:solidFill>
                        </a:defRPr>
                      </a:pPr>
                      <a:r>
                        <a:t>+3.21</a:t>
                      </a:r>
                    </a:p>
                  </a:txBody>
                  <a:tcPr>
                    <a:solidFill>
                      <a:srgbClr val="FFFFFF"/>
                    </a:solidFill>
                  </a:tcPr>
                </a:tc>
                <a:tc>
                  <a:txBody>
                    <a:bodyPr/>
                    <a:lstStyle/>
                    <a:p>
                      <a:pPr>
                        <a:defRPr b="0" sz="1150">
                          <a:solidFill>
                            <a:srgbClr val="141816"/>
                          </a:solidFill>
                        </a:defRPr>
                      </a:pPr>
                      <a:r>
                        <a:t>17.45</a:t>
                      </a:r>
                    </a:p>
                  </a:txBody>
                  <a:tcPr>
                    <a:solidFill>
                      <a:srgbClr val="FFFFFF"/>
                    </a:solidFill>
                  </a:tcPr>
                </a:tc>
                <a:tc>
                  <a:txBody>
                    <a:bodyPr/>
                    <a:lstStyle/>
                    <a:p>
                      <a:pPr>
                        <a:defRPr b="0" sz="1150">
                          <a:solidFill>
                            <a:srgbClr val="141816"/>
                          </a:solidFill>
                        </a:defRPr>
                      </a:pPr>
                      <a:r>
                        <a:t>0.7518</a:t>
                      </a:r>
                    </a:p>
                  </a:txBody>
                  <a:tcPr>
                    <a:solidFill>
                      <a:srgbClr val="FFFFFF"/>
                    </a:solidFill>
                  </a:tcPr>
                </a:tc>
                <a:tc>
                  <a:txBody>
                    <a:bodyPr/>
                    <a:lstStyle/>
                    <a:p>
                      <a:pPr>
                        <a:defRPr b="0" sz="1150">
                          <a:solidFill>
                            <a:srgbClr val="141816"/>
                          </a:solidFill>
                        </a:defRPr>
                      </a:pPr>
                      <a:r>
                        <a:t>76</a:t>
                      </a:r>
                    </a:p>
                  </a:txBody>
                  <a:tcPr>
                    <a:solidFill>
                      <a:srgbClr val="FFFFFF"/>
                    </a:solidFill>
                  </a:tcPr>
                </a:tc>
              </a:tr>
            </a:tbl>
          </a:graphicData>
        </a:graphic>
      </p:graphicFrame>
      <p:sp>
        <p:nvSpPr>
          <p:cNvPr id="6" name="TextBox 5"/>
          <p:cNvSpPr txBox="1"/>
          <p:nvPr/>
        </p:nvSpPr>
        <p:spPr>
          <a:xfrm>
            <a:off x="822960" y="3840480"/>
            <a:ext cx="9966960" cy="1463040"/>
          </a:xfrm>
          <a:prstGeom prst="rect">
            <a:avLst/>
          </a:prstGeom>
          <a:noFill/>
        </p:spPr>
        <p:txBody>
          <a:bodyPr wrap="square">
            <a:spAutoFit/>
          </a:bodyPr>
          <a:lstStyle/>
          <a:p>
            <a:pPr>
              <a:spcAft>
                <a:spcPts val="1000"/>
              </a:spcAft>
            </a:pPr>
            <a:r>
              <a:rPr sz="1500">
                <a:solidFill>
                  <a:srgbClr val="141816"/>
                </a:solidFill>
                <a:latin typeface="Calibri"/>
              </a:rPr>
              <a:t>•  Price level and pattern-matching both hold up well across both new years - a durable result, not a 2027-only fluke</a:t>
            </a:r>
          </a:p>
          <a:p>
            <a:pPr>
              <a:spcAft>
                <a:spcPts val="1000"/>
              </a:spcAft>
            </a:pPr>
            <a:r>
              <a:rPr sz="1500">
                <a:solidFill>
                  <a:srgbClr val="141816"/>
                </a:solidFill>
                <a:latin typeface="Calibri"/>
              </a:rPr>
              <a:t>•  Shortage-hour count DOES grow with distance from 2027, a real limitation investigated in depth in Part 6</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Part 6</a:t>
            </a:r>
          </a:p>
          <a:p>
            <a:pPr>
              <a:spcBef>
                <a:spcPts val="1000"/>
              </a:spcBef>
            </a:pPr>
            <a:r>
              <a:rPr sz="1800">
                <a:solidFill>
                  <a:srgbClr val="C9D6DE"/>
                </a:solidFill>
              </a:rPr>
              <a:t>Stress-testing the result from every angle  (Phases 39-48)</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39-41: Chasing the Out-of-Sample Shortage-Hour Growth</a:t>
            </a:r>
          </a:p>
          <a:p>
            <a:r>
              <a:rPr sz="1300" i="1">
                <a:solidFill>
                  <a:srgbClr val="555B58"/>
                </a:solidFill>
                <a:latin typeface="Calibri"/>
              </a:rPr>
              <a:t>Three real, plausible causes tested directly - all honestly ruled out</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4023360"/>
          </a:xfrm>
          <a:prstGeom prst="rect">
            <a:avLst/>
          </a:prstGeom>
          <a:noFill/>
        </p:spPr>
        <p:txBody>
          <a:bodyPr wrap="square">
            <a:spAutoFit/>
          </a:bodyPr>
          <a:lstStyle/>
          <a:p>
            <a:pPr>
              <a:spcAft>
                <a:spcPts val="1000"/>
              </a:spcAft>
            </a:pPr>
            <a:r>
              <a:rPr sz="1600">
                <a:solidFill>
                  <a:srgbClr val="141816"/>
                </a:solidFill>
                <a:latin typeface="Calibri"/>
              </a:rPr>
              <a:t>•  Phase 39: scaling transmission capacity to demand growth — made 2028 WORSE, ruled out</a:t>
            </a:r>
          </a:p>
          <a:p>
            <a:pPr>
              <a:spcAft>
                <a:spcPts val="1000"/>
              </a:spcAft>
            </a:pPr>
            <a:r>
              <a:rPr sz="1600">
                <a:solidFill>
                  <a:srgbClr val="141816"/>
                </a:solidFill>
                <a:latin typeface="Calibri"/>
              </a:rPr>
              <a:t>•  Phase 40: MarketCoupling's own configurable limits — both already effectively unlimited by default, ruled out</a:t>
            </a:r>
          </a:p>
          <a:p>
            <a:pPr>
              <a:spcAft>
                <a:spcPts val="1000"/>
              </a:spcAft>
            </a:pPr>
            <a:r>
              <a:rPr sz="1600">
                <a:solidFill>
                  <a:srgbClr val="141816"/>
                </a:solidFill>
                <a:latin typeface="Calibri"/>
              </a:rPr>
              <a:t>•  Phase 41: ROE storage running physically dry — never exceeds 25% of its discharge power during shortage hours, ruled out</a:t>
            </a:r>
          </a:p>
          <a:p>
            <a:pPr>
              <a:spcAft>
                <a:spcPts val="1000"/>
              </a:spcAft>
            </a:pPr>
            <a:r>
              <a:rPr sz="1600">
                <a:solidFill>
                  <a:srgbClr val="141816"/>
                </a:solidFill>
                <a:latin typeface="Calibri"/>
              </a:rPr>
              <a:t>•  Real clue found instead: DE's import volume stays suspiciously flat regardless of the transmission ceiling - pointing at AMIRIS's own internal price logic, investigated next</a:t>
            </a:r>
          </a:p>
        </p:txBody>
      </p:sp>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39-41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42-43: Does Splitting Rest-of-Europe Into Real Countries Help?</a:t>
            </a:r>
          </a:p>
          <a:p>
            <a:r>
              <a:rPr sz="1300" i="1">
                <a:solidFill>
                  <a:srgbClr val="555B58"/>
                </a:solidFill>
                <a:latin typeface="Calibri"/>
              </a:rPr>
              <a:t>A real, informative negative result, then a more nuanced follow-up</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ice_duration_curve.png"/>
          <p:cNvPicPr>
            <a:picLocks noChangeAspect="1"/>
          </p:cNvPicPr>
          <p:nvPr/>
        </p:nvPicPr>
        <p:blipFill>
          <a:blip r:embed="rId2"/>
          <a:stretch>
            <a:fillRect/>
          </a:stretch>
        </p:blipFill>
        <p:spPr>
          <a:xfrm>
            <a:off x="365760" y="1861820"/>
            <a:ext cx="5577840" cy="3408680"/>
          </a:xfrm>
          <a:prstGeom prst="rect">
            <a:avLst/>
          </a:prstGeom>
        </p:spPr>
      </p:pic>
      <p:pic>
        <p:nvPicPr>
          <p:cNvPr id="6" name="Picture 5" descr="price_duration_curve.png"/>
          <p:cNvPicPr>
            <a:picLocks noChangeAspect="1"/>
          </p:cNvPicPr>
          <p:nvPr/>
        </p:nvPicPr>
        <p:blipFill>
          <a:blip r:embed="rId3"/>
          <a:stretch>
            <a:fillRect/>
          </a:stretch>
        </p:blipFill>
        <p:spPr>
          <a:xfrm>
            <a:off x="6172200" y="1861820"/>
            <a:ext cx="5577840" cy="3408680"/>
          </a:xfrm>
          <a:prstGeom prst="rect">
            <a:avLst/>
          </a:prstGeom>
        </p:spPr>
      </p:pic>
      <p:sp>
        <p:nvSpPr>
          <p:cNvPr id="7" name="TextBox 6"/>
          <p:cNvSpPr txBox="1"/>
          <p:nvPr/>
        </p:nvSpPr>
        <p:spPr>
          <a:xfrm>
            <a:off x="365760" y="5806440"/>
            <a:ext cx="5577840" cy="548640"/>
          </a:xfrm>
          <a:prstGeom prst="rect">
            <a:avLst/>
          </a:prstGeom>
          <a:noFill/>
        </p:spPr>
        <p:txBody>
          <a:bodyPr wrap="none">
            <a:spAutoFit/>
          </a:bodyPr>
          <a:lstStyle/>
          <a:p>
            <a:pPr algn="ctr"/>
            <a:r>
              <a:rPr sz="1100" i="1">
                <a:solidFill>
                  <a:srgbClr val="555B58"/>
                </a:solidFill>
              </a:rPr>
              <a:t>Phase 42: France alone - shortage hours 7→167 (worse)</a:t>
            </a:r>
          </a:p>
        </p:txBody>
      </p:sp>
      <p:sp>
        <p:nvSpPr>
          <p:cNvPr id="8" name="TextBox 7"/>
          <p:cNvSpPr txBox="1"/>
          <p:nvPr/>
        </p:nvSpPr>
        <p:spPr>
          <a:xfrm>
            <a:off x="6172200" y="5806440"/>
            <a:ext cx="5577840" cy="548640"/>
          </a:xfrm>
          <a:prstGeom prst="rect">
            <a:avLst/>
          </a:prstGeom>
          <a:noFill/>
        </p:spPr>
        <p:txBody>
          <a:bodyPr wrap="none">
            <a:spAutoFit/>
          </a:bodyPr>
          <a:lstStyle/>
          <a:p>
            <a:pPr algn="ctr"/>
            <a:r>
              <a:rPr sz="1100" i="1">
                <a:solidFill>
                  <a:srgbClr val="555B58"/>
                </a:solidFill>
              </a:rPr>
              <a:t>Phase 43: all 10 real countries - better than France-alone, still short of Phase 37</a:t>
            </a:r>
          </a:p>
        </p:txBody>
      </p:sp>
      <p:sp>
        <p:nvSpPr>
          <p:cNvPr id="9" name="TextBox 8"/>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42-43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44-48: Five More Real Robustness Checks</a:t>
            </a:r>
          </a:p>
          <a:p>
            <a:r>
              <a:rPr sz="1300" i="1">
                <a:solidFill>
                  <a:srgbClr val="555B58"/>
                </a:solidFill>
                <a:latin typeface="Calibri"/>
              </a:rPr>
              <a:t>Every one either confirms Phase 37 is stable, or is honestly reported as not adopted</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463040"/>
          <a:ext cx="11247119" cy="3566160"/>
        </p:xfrm>
        <a:graphic>
          <a:graphicData uri="http://schemas.openxmlformats.org/drawingml/2006/table">
            <a:tbl>
              <a:tblPr firstRow="1" bandRow="1">
                <a:tableStyleId>{5C22544A-7EE6-4342-B048-85BDC9FD1C3A}</a:tableStyleId>
              </a:tblPr>
              <a:tblGrid>
                <a:gridCol w="1349654"/>
                <a:gridCol w="5173675"/>
                <a:gridCol w="4723790"/>
              </a:tblGrid>
              <a:tr h="594360">
                <a:tc>
                  <a:txBody>
                    <a:bodyPr/>
                    <a:lstStyle/>
                    <a:p>
                      <a:pPr>
                        <a:defRPr b="1" sz="1100">
                          <a:solidFill>
                            <a:srgbClr val="FFFFFF"/>
                          </a:solidFill>
                        </a:defRPr>
                      </a:pPr>
                      <a:r>
                        <a:t>Check</a:t>
                      </a:r>
                    </a:p>
                  </a:txBody>
                  <a:tcPr>
                    <a:solidFill>
                      <a:srgbClr val="1F3A4D"/>
                    </a:solidFill>
                  </a:tcPr>
                </a:tc>
                <a:tc>
                  <a:txBody>
                    <a:bodyPr/>
                    <a:lstStyle/>
                    <a:p>
                      <a:pPr>
                        <a:defRPr b="1" sz="1100">
                          <a:solidFill>
                            <a:srgbClr val="FFFFFF"/>
                          </a:solidFill>
                        </a:defRPr>
                      </a:pPr>
                      <a:r>
                        <a:t>What was tested</a:t>
                      </a:r>
                    </a:p>
                  </a:txBody>
                  <a:tcPr>
                    <a:solidFill>
                      <a:srgbClr val="1F3A4D"/>
                    </a:solidFill>
                  </a:tcPr>
                </a:tc>
                <a:tc>
                  <a:txBody>
                    <a:bodyPr/>
                    <a:lstStyle/>
                    <a:p>
                      <a:pPr>
                        <a:defRPr b="1" sz="1100">
                          <a:solidFill>
                            <a:srgbClr val="FFFFFF"/>
                          </a:solidFill>
                        </a:defRPr>
                      </a:pPr>
                      <a:r>
                        <a:t>Outcome</a:t>
                      </a:r>
                    </a:p>
                  </a:txBody>
                  <a:tcPr>
                    <a:solidFill>
                      <a:srgbClr val="1F3A4D"/>
                    </a:solidFill>
                  </a:tcPr>
                </a:tc>
              </a:tr>
              <a:tr h="594360">
                <a:tc>
                  <a:txBody>
                    <a:bodyPr/>
                    <a:lstStyle/>
                    <a:p>
                      <a:pPr>
                        <a:defRPr b="0" sz="1100">
                          <a:solidFill>
                            <a:srgbClr val="141816"/>
                          </a:solidFill>
                        </a:defRPr>
                      </a:pPr>
                      <a:r>
                        <a:t>Phase 44</a:t>
                      </a:r>
                    </a:p>
                  </a:txBody>
                  <a:tcPr>
                    <a:solidFill>
                      <a:srgbClr val="FFFFFF"/>
                    </a:solidFill>
                  </a:tcPr>
                </a:tc>
                <a:tc>
                  <a:txBody>
                    <a:bodyPr/>
                    <a:lstStyle/>
                    <a:p>
                      <a:pPr>
                        <a:defRPr b="0" sz="1100">
                          <a:solidFill>
                            <a:srgbClr val="141816"/>
                          </a:solidFill>
                        </a:defRPr>
                      </a:pPr>
                      <a:r>
                        <a:t>Rebuild ROE zone on 2024 data instead of 2023</a:t>
                      </a:r>
                    </a:p>
                  </a:txBody>
                  <a:tcPr>
                    <a:solidFill>
                      <a:srgbClr val="FFFFFF"/>
                    </a:solidFill>
                  </a:tcPr>
                </a:tc>
                <a:tc>
                  <a:txBody>
                    <a:bodyPr/>
                    <a:lstStyle/>
                    <a:p>
                      <a:pPr>
                        <a:defRPr b="0" sz="1100">
                          <a:solidFill>
                            <a:srgbClr val="141816"/>
                          </a:solidFill>
                        </a:defRPr>
                      </a:pPr>
                      <a:r>
                        <a:t>Close to, not better than, Phase 37 - confirms stability</a:t>
                      </a:r>
                    </a:p>
                  </a:txBody>
                  <a:tcPr>
                    <a:solidFill>
                      <a:srgbClr val="FFFFFF"/>
                    </a:solidFill>
                  </a:tcPr>
                </a:tc>
              </a:tr>
              <a:tr h="594360">
                <a:tc>
                  <a:txBody>
                    <a:bodyPr/>
                    <a:lstStyle/>
                    <a:p>
                      <a:pPr>
                        <a:defRPr b="0" sz="1100">
                          <a:solidFill>
                            <a:srgbClr val="141816"/>
                          </a:solidFill>
                        </a:defRPr>
                      </a:pPr>
                      <a:r>
                        <a:t>Phase 45</a:t>
                      </a:r>
                    </a:p>
                  </a:txBody>
                  <a:tcPr>
                    <a:solidFill>
                      <a:srgbClr val="F2F3EF"/>
                    </a:solidFill>
                  </a:tcPr>
                </a:tc>
                <a:tc>
                  <a:txBody>
                    <a:bodyPr/>
                    <a:lstStyle/>
                    <a:p>
                      <a:pPr>
                        <a:defRPr b="0" sz="1100">
                          <a:solidFill>
                            <a:srgbClr val="141816"/>
                          </a:solidFill>
                        </a:defRPr>
                      </a:pPr>
                      <a:r>
                        <a:t>Source-level check: is there an engine bug behind the shortage growth?</a:t>
                      </a:r>
                    </a:p>
                  </a:txBody>
                  <a:tcPr>
                    <a:solidFill>
                      <a:srgbClr val="F2F3EF"/>
                    </a:solidFill>
                  </a:tcPr>
                </a:tc>
                <a:tc>
                  <a:txBody>
                    <a:bodyPr/>
                    <a:lstStyle/>
                    <a:p>
                      <a:pPr>
                        <a:defRPr b="0" sz="1100">
                          <a:solidFill>
                            <a:srgbClr val="141816"/>
                          </a:solidFill>
                        </a:defRPr>
                      </a:pPr>
                      <a:r>
                        <a:t>REFUTED - every stop was for a legitimate reason, not a bug</a:t>
                      </a:r>
                    </a:p>
                  </a:txBody>
                  <a:tcPr>
                    <a:solidFill>
                      <a:srgbClr val="F2F3EF"/>
                    </a:solidFill>
                  </a:tcPr>
                </a:tc>
              </a:tr>
              <a:tr h="594360">
                <a:tc>
                  <a:txBody>
                    <a:bodyPr/>
                    <a:lstStyle/>
                    <a:p>
                      <a:pPr>
                        <a:defRPr b="0" sz="1100">
                          <a:solidFill>
                            <a:srgbClr val="141816"/>
                          </a:solidFill>
                        </a:defRPr>
                      </a:pPr>
                      <a:r>
                        <a:t>Phase 46</a:t>
                      </a:r>
                    </a:p>
                  </a:txBody>
                  <a:tcPr>
                    <a:solidFill>
                      <a:srgbClr val="FFFFFF"/>
                    </a:solidFill>
                  </a:tcPr>
                </a:tc>
                <a:tc>
                  <a:txBody>
                    <a:bodyPr/>
                    <a:lstStyle/>
                    <a:p>
                      <a:pPr>
                        <a:defRPr b="0" sz="1100">
                          <a:solidFill>
                            <a:srgbClr val="141816"/>
                          </a:solidFill>
                        </a:defRPr>
                      </a:pPr>
                      <a:r>
                        <a:t>Real ERAA growth trajectory for Rest-of-Europe</a:t>
                      </a:r>
                    </a:p>
                  </a:txBody>
                  <a:tcPr>
                    <a:solidFill>
                      <a:srgbClr val="FFFFFF"/>
                    </a:solidFill>
                  </a:tcPr>
                </a:tc>
                <a:tc>
                  <a:txBody>
                    <a:bodyPr/>
                    <a:lstStyle/>
                    <a:p>
                      <a:pPr>
                        <a:defRPr b="0" sz="1100">
                          <a:solidFill>
                            <a:srgbClr val="141816"/>
                          </a:solidFill>
                        </a:defRPr>
                      </a:pPr>
                      <a:r>
                        <a:t>Mixed - a real energy-transition pattern, not a fixable error</a:t>
                      </a:r>
                    </a:p>
                  </a:txBody>
                  <a:tcPr>
                    <a:solidFill>
                      <a:srgbClr val="FFFFFF"/>
                    </a:solidFill>
                  </a:tcPr>
                </a:tc>
              </a:tr>
              <a:tr h="594360">
                <a:tc>
                  <a:txBody>
                    <a:bodyPr/>
                    <a:lstStyle/>
                    <a:p>
                      <a:pPr>
                        <a:defRPr b="0" sz="1100">
                          <a:solidFill>
                            <a:srgbClr val="141816"/>
                          </a:solidFill>
                        </a:defRPr>
                      </a:pPr>
                      <a:r>
                        <a:t>Phase 47</a:t>
                      </a:r>
                    </a:p>
                  </a:txBody>
                  <a:tcPr>
                    <a:solidFill>
                      <a:srgbClr val="F2F3EF"/>
                    </a:solidFill>
                  </a:tcPr>
                </a:tc>
                <a:tc>
                  <a:txBody>
                    <a:bodyPr/>
                    <a:lstStyle/>
                    <a:p>
                      <a:pPr>
                        <a:defRPr b="0" sz="1100">
                          <a:solidFill>
                            <a:srgbClr val="141816"/>
                          </a:solidFill>
                        </a:defRPr>
                      </a:pPr>
                      <a:r>
                        <a:t>A real alternative shortage-price convention (LastSupplyPrice)</a:t>
                      </a:r>
                    </a:p>
                  </a:txBody>
                  <a:tcPr>
                    <a:solidFill>
                      <a:srgbClr val="F2F3EF"/>
                    </a:solidFill>
                  </a:tcPr>
                </a:tc>
                <a:tc>
                  <a:txBody>
                    <a:bodyPr/>
                    <a:lstStyle/>
                    <a:p>
                      <a:pPr>
                        <a:defRPr b="0" sz="1100">
                          <a:solidFill>
                            <a:srgbClr val="141816"/>
                          </a:solidFill>
                        </a:defRPr>
                      </a:pPr>
                      <a:r>
                        <a:t>Genuine improvement to how shortage price is DISPLAYED - kept separate, not silently adopted</a:t>
                      </a:r>
                    </a:p>
                  </a:txBody>
                  <a:tcPr>
                    <a:solidFill>
                      <a:srgbClr val="F2F3EF"/>
                    </a:solidFill>
                  </a:tcPr>
                </a:tc>
              </a:tr>
              <a:tr h="594360">
                <a:tc>
                  <a:txBody>
                    <a:bodyPr/>
                    <a:lstStyle/>
                    <a:p>
                      <a:pPr>
                        <a:defRPr b="0" sz="1100">
                          <a:solidFill>
                            <a:srgbClr val="141816"/>
                          </a:solidFill>
                        </a:defRPr>
                      </a:pPr>
                      <a:r>
                        <a:t>Phase 48</a:t>
                      </a:r>
                    </a:p>
                  </a:txBody>
                  <a:tcPr>
                    <a:solidFill>
                      <a:srgbClr val="FFFFFF"/>
                    </a:solidFill>
                  </a:tcPr>
                </a:tc>
                <a:tc>
                  <a:txBody>
                    <a:bodyPr/>
                    <a:lstStyle/>
                    <a:p>
                      <a:pPr>
                        <a:defRPr b="0" sz="1100">
                          <a:solidFill>
                            <a:srgbClr val="141816"/>
                          </a:solidFill>
                        </a:defRPr>
                      </a:pPr>
                      <a:r>
                        <a:t>Real bilateral transmission mesh (not just hub-and-spoke)</a:t>
                      </a:r>
                    </a:p>
                  </a:txBody>
                  <a:tcPr>
                    <a:solidFill>
                      <a:srgbClr val="FFFFFF"/>
                    </a:solidFill>
                  </a:tcPr>
                </a:tc>
                <a:tc>
                  <a:txBody>
                    <a:bodyPr/>
                    <a:lstStyle/>
                    <a:p>
                      <a:pPr>
                        <a:defRPr b="0" sz="1100">
                          <a:solidFill>
                            <a:srgbClr val="141816"/>
                          </a:solidFill>
                        </a:defRPr>
                      </a:pPr>
                      <a:r>
                        <a:t>Mesh beats the simple star topology, but still short of Phase 37's simpler approach</a:t>
                      </a:r>
                    </a:p>
                  </a:txBody>
                  <a:tcPr>
                    <a:solidFill>
                      <a:srgbClr val="FFFFFF"/>
                    </a:solidFill>
                  </a:tcPr>
                </a:tc>
              </a:tr>
            </a:tbl>
          </a:graphicData>
        </a:graphic>
      </p:graphicFrame>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44-48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Part 7</a:t>
            </a:r>
          </a:p>
          <a:p>
            <a:pPr>
              <a:spcBef>
                <a:spcPts val="1000"/>
              </a:spcBef>
            </a:pPr>
            <a:r>
              <a:rPr sz="1800">
                <a:solidFill>
                  <a:srgbClr val="C9D6DE"/>
                </a:solidFill>
              </a:rPr>
              <a:t>Final robustness checks: alternative weather/demand years  (Phases 49-51)</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Phases 49-51: Three More Real Years Tested, None Better</a:t>
            </a:r>
          </a:p>
          <a:p>
            <a:r>
              <a:rPr sz="1300" i="1">
                <a:solidFill>
                  <a:srgbClr val="555B58"/>
                </a:solidFill>
                <a:latin typeface="Calibri"/>
              </a:rPr>
              <a:t>Demand-shape year, wind-offshore weather year, and run-of-river weather year - each swapped in on its own</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weatheryear_sweep.png"/>
          <p:cNvPicPr>
            <a:picLocks noChangeAspect="1"/>
          </p:cNvPicPr>
          <p:nvPr/>
        </p:nvPicPr>
        <p:blipFill>
          <a:blip r:embed="rId2"/>
          <a:stretch>
            <a:fillRect/>
          </a:stretch>
        </p:blipFill>
        <p:spPr>
          <a:xfrm>
            <a:off x="843742" y="1371600"/>
            <a:ext cx="10474036" cy="4114800"/>
          </a:xfrm>
          <a:prstGeom prst="rect">
            <a:avLst/>
          </a:prstGeom>
        </p:spPr>
      </p:pic>
      <p:sp>
        <p:nvSpPr>
          <p:cNvPr id="6" name="Rounded Rectangle 5"/>
          <p:cNvSpPr/>
          <p:nvPr/>
        </p:nvSpPr>
        <p:spPr>
          <a:xfrm>
            <a:off x="548640" y="5532120"/>
            <a:ext cx="11064240" cy="914400"/>
          </a:xfrm>
          <a:prstGeom prst="roundRect">
            <a:avLst/>
          </a:prstGeom>
          <a:solidFill>
            <a:srgbClr val="F2F3EF"/>
          </a:solidFill>
          <a:ln w="15875">
            <a:solidFill>
              <a:srgbClr val="3A6B4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3A6B47"/>
                </a:solidFill>
              </a:rPr>
              <a:t>A complete, honest three-for-three negative result.</a:t>
            </a:r>
          </a:p>
          <a:p>
            <a:r>
              <a:rPr sz="1200" i="1">
                <a:solidFill>
                  <a:srgbClr val="555B58"/>
                </a:solidFill>
              </a:rPr>
              <a:t>Every trusted metric moves the wrong way, in every test - the strongest possible confirmation that Phase 37's own choices were not lucky.</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49-51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Part 8</a:t>
            </a:r>
          </a:p>
          <a:p>
            <a:pPr>
              <a:spcBef>
                <a:spcPts val="1000"/>
              </a:spcBef>
            </a:pPr>
            <a:r>
              <a:rPr sz="1800">
                <a:solidFill>
                  <a:srgbClr val="C9D6DE"/>
                </a:solidFill>
              </a:rPr>
              <a:t>One investigative side-experiment: patching AMIRIS's own code  (Phase 52)</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52: Why Patch the Code At All?</a:t>
            </a:r>
          </a:p>
          <a:p>
            <a:r>
              <a:rPr sz="1300" i="1">
                <a:solidFill>
                  <a:srgbClr val="555B58"/>
                </a:solidFill>
                <a:latin typeface="Calibri"/>
              </a:rPr>
              <a:t>A direct request to see if a small, real code change could close the last 3 unresolved hours</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3840480"/>
          </a:xfrm>
          <a:prstGeom prst="rect">
            <a:avLst/>
          </a:prstGeom>
          <a:noFill/>
        </p:spPr>
        <p:txBody>
          <a:bodyPr wrap="square">
            <a:spAutoFit/>
          </a:bodyPr>
          <a:lstStyle/>
          <a:p>
            <a:pPr>
              <a:spcAft>
                <a:spcPts val="1000"/>
              </a:spcAft>
            </a:pPr>
            <a:r>
              <a:rPr sz="1600">
                <a:solidFill>
                  <a:srgbClr val="141816"/>
                </a:solidFill>
                <a:latin typeface="Calibri"/>
              </a:rPr>
              <a:t>•  Diagnosis (Phase 47): Rest-of-Europe's own price forecaster never sees Germany's price when deciding whether to discharge storage - a real architectural blind spot, not a bug</a:t>
            </a:r>
          </a:p>
          <a:p>
            <a:pPr>
              <a:spcAft>
                <a:spcPts val="1000"/>
              </a:spcAft>
            </a:pPr>
            <a:r>
              <a:rPr sz="1600">
                <a:solidFill>
                  <a:srgbClr val="141816"/>
                </a:solidFill>
                <a:latin typeface="Calibri"/>
              </a:rPr>
              <a:t>•  Two structurally different fixes were tried and abandoned first: wiring up AMIRIS's own unused full coupling pathway (hung indefinitely at this scale), and a lighter messaging patch (blocked by an unresolved framework issue)</a:t>
            </a:r>
          </a:p>
          <a:p>
            <a:pPr>
              <a:spcAft>
                <a:spcPts val="1000"/>
              </a:spcAft>
            </a:pPr>
            <a:r>
              <a:rPr sz="1600">
                <a:solidFill>
                  <a:srgbClr val="141816"/>
                </a:solidFill>
                <a:latin typeface="Calibri"/>
              </a:rPr>
              <a:t>•  A third, direct patch to the forecaster's own source code worked - after diagnosing two silent failures along the way</a:t>
            </a:r>
          </a:p>
        </p:txBody>
      </p:sp>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52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Phase 52: Every Variant Tested Trades One Metric for Another</a:t>
            </a:r>
          </a:p>
          <a:p>
            <a:r>
              <a:rPr sz="1300" i="1">
                <a:solidFill>
                  <a:srgbClr val="555B58"/>
                </a:solidFill>
                <a:latin typeface="Calibri"/>
              </a:rPr>
              <a:t>The best version found - not a clean win, and explicitly not adopted into the thesis</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phase52_variants.png"/>
          <p:cNvPicPr>
            <a:picLocks noChangeAspect="1"/>
          </p:cNvPicPr>
          <p:nvPr/>
        </p:nvPicPr>
        <p:blipFill>
          <a:blip r:embed="rId2"/>
          <a:stretch>
            <a:fillRect/>
          </a:stretch>
        </p:blipFill>
        <p:spPr>
          <a:xfrm>
            <a:off x="759898" y="1371600"/>
            <a:ext cx="10641724" cy="4114800"/>
          </a:xfrm>
          <a:prstGeom prst="rect">
            <a:avLst/>
          </a:prstGeom>
        </p:spPr>
      </p:pic>
      <p:sp>
        <p:nvSpPr>
          <p:cNvPr id="6" name="Rounded Rectangle 5"/>
          <p:cNvSpPr/>
          <p:nvPr/>
        </p:nvSpPr>
        <p:spPr>
          <a:xfrm>
            <a:off x="548640" y="5532120"/>
            <a:ext cx="11064240" cy="914400"/>
          </a:xfrm>
          <a:prstGeom prst="roundRect">
            <a:avLst/>
          </a:prstGeom>
          <a:solidFill>
            <a:srgbClr val="F2F3EF"/>
          </a:solidFill>
          <a:ln w="15875">
            <a:solidFill>
              <a:srgbClr val="A5691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A5691F"/>
                </a:solidFill>
              </a:rPr>
              <a:t>Best result: scope the fix to one storage agent only. Shortage hours 7→6, bias -2.90→-0.95.</a:t>
            </a:r>
          </a:p>
          <a:p>
            <a:r>
              <a:rPr sz="1200" i="1">
                <a:solidFill>
                  <a:srgbClr val="555B58"/>
                </a:solidFill>
              </a:rPr>
              <a:t>Correlation and error stayed slightly worse than the headline in every variant - a real, physical trade-off (Rest-of-Europe's storage has a finite daily energy budget), not a tuning failure. Reported to the department as a technical finding, kept fully separate from the thesis's standing result.</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Phase 52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15600" cy="2011680"/>
          </a:xfrm>
          <a:prstGeom prst="rect">
            <a:avLst/>
          </a:prstGeom>
          <a:noFill/>
        </p:spPr>
        <p:txBody>
          <a:bodyPr wrap="square">
            <a:spAutoFit/>
          </a:bodyPr>
          <a:lstStyle/>
          <a:p>
            <a:r>
              <a:rPr sz="3600" b="1">
                <a:solidFill>
                  <a:srgbClr val="FFFFFF"/>
                </a:solidFill>
              </a:rPr>
              <a:t>Conclusion</a:t>
            </a:r>
          </a:p>
          <a:p>
            <a:pPr>
              <a:spcBef>
                <a:spcPts val="1000"/>
              </a:spcBef>
            </a:pPr>
            <a:r>
              <a:rPr sz="1800">
                <a:solidFill>
                  <a:srgbClr val="C9D6DE"/>
                </a:solidFill>
              </a:rPr>
              <a:t>Why Phase 37 is the final result</a:t>
            </a:r>
          </a:p>
        </p:txBody>
      </p:sp>
      <p:sp>
        <p:nvSpPr>
          <p:cNvPr id="4" name="TextBox 3"/>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Part 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The Whole Journey in One Chart</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pt_chart_journey_to_brainpool.png"/>
          <p:cNvPicPr>
            <a:picLocks noChangeAspect="1"/>
          </p:cNvPicPr>
          <p:nvPr/>
        </p:nvPicPr>
        <p:blipFill>
          <a:blip r:embed="rId2"/>
          <a:stretch>
            <a:fillRect/>
          </a:stretch>
        </p:blipFill>
        <p:spPr>
          <a:xfrm>
            <a:off x="1398401" y="1371600"/>
            <a:ext cx="9364717" cy="4937760"/>
          </a:xfrm>
          <a:prstGeom prst="rect">
            <a:avLst/>
          </a:prstGeom>
        </p:spPr>
      </p:pic>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Conclusion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The Case for Adopting Phase 37 as the Final Result</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389120"/>
          </a:xfrm>
          <a:prstGeom prst="rect">
            <a:avLst/>
          </a:prstGeom>
          <a:noFill/>
        </p:spPr>
        <p:txBody>
          <a:bodyPr wrap="square">
            <a:spAutoFit/>
          </a:bodyPr>
          <a:lstStyle/>
          <a:p>
            <a:pPr>
              <a:spcAft>
                <a:spcPts val="1000"/>
              </a:spcAft>
            </a:pPr>
            <a:r>
              <a:rPr sz="1600">
                <a:solidFill>
                  <a:srgbClr val="141816"/>
                </a:solidFill>
                <a:latin typeface="Calibri"/>
              </a:rPr>
              <a:t>•  52 documented phases of real, data-grounded experiments - every lever AMIRIS actually exposes has now been tested</a:t>
            </a:r>
          </a:p>
          <a:p>
            <a:pPr>
              <a:spcAft>
                <a:spcPts val="1000"/>
              </a:spcAft>
            </a:pPr>
            <a:r>
              <a:rPr sz="1600">
                <a:solidFill>
                  <a:srgbClr val="141816"/>
                </a:solidFill>
                <a:latin typeface="Calibri"/>
              </a:rPr>
              <a:t>•  The remaining 7-hour gap has two different, well-understood structural causes: a real physical transmission limit, and a genuine architectural limit in how each zone's forecaster works</a:t>
            </a:r>
          </a:p>
          <a:p>
            <a:pPr>
              <a:spcAft>
                <a:spcPts val="1000"/>
              </a:spcAft>
            </a:pPr>
            <a:r>
              <a:rPr sz="1600">
                <a:solidFill>
                  <a:srgbClr val="141816"/>
                </a:solidFill>
                <a:latin typeface="Calibri"/>
              </a:rPr>
              <a:t>•  Every later attempt to beat it failed or traded off: 3 more real weather/demand years (Part 7), a direct code patch (Part 8), fuel-markup sweeps, disaggregation, mesh topology, ceiling recalibration</a:t>
            </a:r>
          </a:p>
          <a:p>
            <a:pPr>
              <a:spcAft>
                <a:spcPts val="1000"/>
              </a:spcAft>
            </a:pPr>
            <a:r>
              <a:rPr sz="1600">
                <a:solidFill>
                  <a:srgbClr val="141816"/>
                </a:solidFill>
                <a:latin typeface="Calibri"/>
              </a:rPr>
              <a:t>•  Even the one attempt that DID move the needle (Phase 52) only trades one problem for another - a real physical limit on Rest-of-Europe's storage, not something more tuning can remove</a:t>
            </a:r>
          </a:p>
          <a:p>
            <a:pPr>
              <a:spcAft>
                <a:spcPts val="1000"/>
              </a:spcAft>
            </a:pPr>
            <a:r>
              <a:rPr sz="1600">
                <a:solidFill>
                  <a:srgbClr val="141816"/>
                </a:solidFill>
                <a:latin typeface="Calibri"/>
              </a:rPr>
              <a:t>•  Brainpool's own real forecast never exceeds 330 EUR/MWh all year - their model never represents this kind of extreme event either, so the two models are not really answering the exact same question at the extreme tail</a:t>
            </a:r>
          </a:p>
        </p:txBody>
      </p:sp>
      <p:sp>
        <p:nvSpPr>
          <p:cNvPr id="6" name="TextBox 5"/>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Conclusion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960120"/>
          </a:xfrm>
          <a:prstGeom prst="rect">
            <a:avLst/>
          </a:prstGeom>
          <a:noFill/>
        </p:spPr>
        <p:txBody>
          <a:bodyPr wrap="square">
            <a:spAutoFit/>
          </a:bodyPr>
          <a:lstStyle/>
          <a:p>
            <a:r>
              <a:rPr sz="2500" b="1">
                <a:solidFill>
                  <a:srgbClr val="1F3A4D"/>
                </a:solidFill>
                <a:latin typeface="Calibri"/>
              </a:rPr>
              <a:t>Recommendation</a:t>
            </a:r>
          </a:p>
        </p:txBody>
      </p:sp>
      <p:sp>
        <p:nvSpPr>
          <p:cNvPr id="4" name="Rectangle 3"/>
          <p:cNvSpPr/>
          <p:nvPr/>
        </p:nvSpPr>
        <p:spPr>
          <a:xfrm>
            <a:off x="502920" y="1115568"/>
            <a:ext cx="11155680" cy="3175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103120"/>
            <a:ext cx="10332720" cy="2011680"/>
          </a:xfrm>
          <a:prstGeom prst="roundRect">
            <a:avLst/>
          </a:prstGeom>
          <a:solidFill>
            <a:srgbClr val="F2F3EF"/>
          </a:solidFill>
          <a:ln w="15875">
            <a:solidFill>
              <a:srgbClr val="3A6B4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ctr"/>
            <a:r>
              <a:rPr b="1" sz="1300">
                <a:solidFill>
                  <a:srgbClr val="3A6B47"/>
                </a:solidFill>
              </a:rPr>
              <a:t>Adopt Phase 37 as the project's standing, final result.</a:t>
            </a:r>
          </a:p>
          <a:p>
            <a:r>
              <a:rPr sz="1200" i="1">
                <a:solidFill>
                  <a:srgbClr val="555B58"/>
                </a:solidFill>
              </a:rPr>
              <a:t>Further tuning is very unlikely to beat it by any meaningful margin, given how broadly and honestly this has already been tested. The sensible next step is to finalise the thesis write-up around this result, and report the remaining 7-hour gap as a well-understood, structural limitation - not an unresolved bug.</a:t>
            </a:r>
          </a:p>
        </p:txBody>
      </p:sp>
      <p:sp>
        <p:nvSpPr>
          <p:cNvPr id="6" name="TextBox 5"/>
          <p:cNvSpPr txBox="1"/>
          <p:nvPr/>
        </p:nvSpPr>
        <p:spPr>
          <a:xfrm>
            <a:off x="914400" y="4480560"/>
            <a:ext cx="10332720" cy="1463040"/>
          </a:xfrm>
          <a:prstGeom prst="rect">
            <a:avLst/>
          </a:prstGeom>
          <a:noFill/>
        </p:spPr>
        <p:txBody>
          <a:bodyPr wrap="square">
            <a:spAutoFit/>
          </a:bodyPr>
          <a:lstStyle/>
          <a:p>
            <a:pPr>
              <a:spcAft>
                <a:spcPts val="1000"/>
              </a:spcAft>
            </a:pPr>
            <a:r>
              <a:rPr sz="1450">
                <a:solidFill>
                  <a:srgbClr val="555B58"/>
                </a:solidFill>
                <a:latin typeface="Calibri"/>
              </a:rPr>
              <a:t>•  Phase 47's ShortagePriceMethod change remains a separate, optional decision (simplifies reporting to one correlation number)</a:t>
            </a:r>
          </a:p>
          <a:p>
            <a:pPr>
              <a:spcAft>
                <a:spcPts val="1000"/>
              </a:spcAft>
            </a:pPr>
            <a:r>
              <a:rPr sz="1450">
                <a:solidFill>
                  <a:srgbClr val="555B58"/>
                </a:solidFill>
                <a:latin typeface="Calibri"/>
              </a:rPr>
              <a:t>•  Phase 52's code patch remains a separate, investigative technical finding for the department - not part of the thesis's methodology</a:t>
            </a:r>
          </a:p>
        </p:txBody>
      </p:sp>
      <p:sp>
        <p:nvSpPr>
          <p:cNvPr id="7" name="TextBox 6"/>
          <p:cNvSpPr txBox="1"/>
          <p:nvPr/>
        </p:nvSpPr>
        <p:spPr>
          <a:xfrm>
            <a:off x="502920" y="6537960"/>
            <a:ext cx="11155680" cy="274320"/>
          </a:xfrm>
          <a:prstGeom prst="rect">
            <a:avLst/>
          </a:prstGeom>
          <a:noFill/>
        </p:spPr>
        <p:txBody>
          <a:bodyPr wrap="none">
            <a:spAutoFit/>
          </a:bodyPr>
          <a:lstStyle/>
          <a:p>
            <a:pPr algn="ctr"/>
            <a:r>
              <a:rPr sz="850" i="1">
                <a:solidFill>
                  <a:srgbClr val="555B58"/>
                </a:solidFill>
              </a:rPr>
              <a:t>AMIRIS Germany2027  |  Comprehensive Review  |  Recommendation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698480" cy="1463040"/>
          </a:xfrm>
          <a:prstGeom prst="rect">
            <a:avLst/>
          </a:prstGeom>
          <a:noFill/>
        </p:spPr>
        <p:txBody>
          <a:bodyPr wrap="square">
            <a:spAutoFit/>
          </a:bodyPr>
          <a:lstStyle/>
          <a:p>
            <a:pPr algn="ctr"/>
            <a:r>
              <a:rPr sz="3200" b="1">
                <a:solidFill>
                  <a:srgbClr val="FFFFFF"/>
                </a:solidFill>
              </a:rPr>
              <a:t>Thank you - 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